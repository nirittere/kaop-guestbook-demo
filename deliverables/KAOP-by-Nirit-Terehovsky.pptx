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24fe4cef50142d6" /><Relationship Type="http://schemas.openxmlformats.org/officeDocument/2006/relationships/extended-properties" Target="/docProps/app.xml" Id="R57a344e140c24a9b" /><Relationship Type="http://schemas.openxmlformats.org/officeDocument/2006/relationships/officeDocument" Target="/ppt/presentation.xml" Id="R4e84dddf331c43c9" /></Relationships>
</file>

<file path=ppt/presentation.xml><?xml version="1.0" encoding="utf-8"?>
<p:presentation xmlns:p="http://schemas.openxmlformats.org/presentationml/2006/main">
  <p:sldMasterIdLst>
    <p:sldMasterId xmlns:r="http://schemas.openxmlformats.org/officeDocument/2006/relationships" id="2147483648" r:id="R98d7dd78c126483e"/>
  </p:sldMasterIdLst>
  <p:notesMasterIdLst>
    <p:notesMasterId xmlns:r="http://schemas.openxmlformats.org/officeDocument/2006/relationships" r:id="R1bd14088fd54459e"/>
  </p:notesMasterIdLst>
  <p:sldIdLst>
    <p:sldId xmlns:r="http://schemas.openxmlformats.org/officeDocument/2006/relationships" id="256" r:id="R6a7389701a934320"/>
    <p:sldId xmlns:r="http://schemas.openxmlformats.org/officeDocument/2006/relationships" id="257" r:id="R2e7fbc82257149ce"/>
    <p:sldId xmlns:r="http://schemas.openxmlformats.org/officeDocument/2006/relationships" id="258" r:id="Rd85f412a64a84c75"/>
    <p:sldId xmlns:r="http://schemas.openxmlformats.org/officeDocument/2006/relationships" id="259" r:id="R8b251a65ac8d42a2"/>
    <p:sldId xmlns:r="http://schemas.openxmlformats.org/officeDocument/2006/relationships" id="260" r:id="R116a7dfa0a9e4f71"/>
    <p:sldId xmlns:r="http://schemas.openxmlformats.org/officeDocument/2006/relationships" id="261" r:id="R621387b22b584ca1"/>
    <p:sldId xmlns:r="http://schemas.openxmlformats.org/officeDocument/2006/relationships" id="262" r:id="Rff362e11bea84ea1"/>
    <p:sldId xmlns:r="http://schemas.openxmlformats.org/officeDocument/2006/relationships" id="263" r:id="Re3cc4c51881e4504"/>
    <p:sldId xmlns:r="http://schemas.openxmlformats.org/officeDocument/2006/relationships" id="264" r:id="R02823e284ae74849"/>
    <p:sldId xmlns:r="http://schemas.openxmlformats.org/officeDocument/2006/relationships" id="265" r:id="Re1384e68139649cc"/>
    <p:sldId xmlns:r="http://schemas.openxmlformats.org/officeDocument/2006/relationships" id="266" r:id="Rfd06a6ef06c4463c"/>
    <p:sldId xmlns:r="http://schemas.openxmlformats.org/officeDocument/2006/relationships" id="267" r:id="R90de88e4c5ca42e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fdd861b0d024f2b" /><Relationship Type="http://schemas.openxmlformats.org/officeDocument/2006/relationships/slideMaster" Target="/ppt/slideMasters/slideMaster1.xml" Id="R98d7dd78c126483e" /><Relationship Type="http://schemas.openxmlformats.org/officeDocument/2006/relationships/notesMaster" Target="/ppt/notesMasters/notesMaster1.xml" Id="R1bd14088fd54459e" /><Relationship Type="http://schemas.openxmlformats.org/officeDocument/2006/relationships/presProps" Target="/ppt/presProps.xml" Id="R65d5879abba24f85" /><Relationship Type="http://schemas.openxmlformats.org/officeDocument/2006/relationships/tableStyles" Target="/ppt/tableStyles.xml" Id="Rb9d90a6c5afc440d" /><Relationship Type="http://schemas.openxmlformats.org/officeDocument/2006/relationships/slide" Target="/ppt/slides/slide1.xml" Id="R6a7389701a934320" /><Relationship Type="http://schemas.openxmlformats.org/officeDocument/2006/relationships/slide" Target="/ppt/slides/slide2.xml" Id="R2e7fbc82257149ce" /><Relationship Type="http://schemas.openxmlformats.org/officeDocument/2006/relationships/slide" Target="/ppt/slides/slide3.xml" Id="Rd85f412a64a84c75" /><Relationship Type="http://schemas.openxmlformats.org/officeDocument/2006/relationships/slide" Target="/ppt/slides/slide4.xml" Id="R8b251a65ac8d42a2" /><Relationship Type="http://schemas.openxmlformats.org/officeDocument/2006/relationships/slide" Target="/ppt/slides/slide5.xml" Id="R116a7dfa0a9e4f71" /><Relationship Type="http://schemas.openxmlformats.org/officeDocument/2006/relationships/slide" Target="/ppt/slides/slide6.xml" Id="R621387b22b584ca1" /><Relationship Type="http://schemas.openxmlformats.org/officeDocument/2006/relationships/slide" Target="/ppt/slides/slide7.xml" Id="Rff362e11bea84ea1" /><Relationship Type="http://schemas.openxmlformats.org/officeDocument/2006/relationships/slide" Target="/ppt/slides/slide8.xml" Id="Re3cc4c51881e4504" /><Relationship Type="http://schemas.openxmlformats.org/officeDocument/2006/relationships/slide" Target="/ppt/slides/slide9.xml" Id="R02823e284ae74849" /><Relationship Type="http://schemas.openxmlformats.org/officeDocument/2006/relationships/slide" Target="/ppt/slides/slide10.xml" Id="Re1384e68139649cc" /><Relationship Type="http://schemas.openxmlformats.org/officeDocument/2006/relationships/slide" Target="/ppt/slides/slide11.xml" Id="Rfd06a6ef06c4463c" /><Relationship Type="http://schemas.openxmlformats.org/officeDocument/2006/relationships/slide" Target="/ppt/slides/slide12.xml" Id="R90de88e4c5ca42e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168de1c10df41d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e08160b98d64d67" /><Relationship Type="http://schemas.openxmlformats.org/officeDocument/2006/relationships/notesMaster" Target="/ppt/notesMasters/notesMaster1.xml" Id="R5624b59442c8479d" /></Relationships>
</file>

<file path=ppt/notesSlides/_rels/notesSlide2.xml.rels>&#65279;<?xml version="1.0" encoding="utf-8"?><Relationships xmlns="http://schemas.openxmlformats.org/package/2006/relationships"><Relationship Type="http://schemas.openxmlformats.org/officeDocument/2006/relationships/slide" Target="/ppt/slides/slide2.xml" Id="Raa6941cb9c8041a3" /><Relationship Type="http://schemas.openxmlformats.org/officeDocument/2006/relationships/notesMaster" Target="/ppt/notesMasters/notesMaster1.xml" Id="Rdd4ff2c6653f48d0" /></Relationships>
</file>

<file path=ppt/notesSlides/_rels/notesSlide3.xml.rels>&#65279;<?xml version="1.0" encoding="utf-8"?><Relationships xmlns="http://schemas.openxmlformats.org/package/2006/relationships"><Relationship Type="http://schemas.openxmlformats.org/officeDocument/2006/relationships/slide" Target="/ppt/slides/slide3.xml" Id="R9317aa0e6b554f2b" /><Relationship Type="http://schemas.openxmlformats.org/officeDocument/2006/relationships/notesMaster" Target="/ppt/notesMasters/notesMaster1.xml" Id="Rbbc5b18bb3ff46a5" /></Relationships>
</file>

<file path=ppt/notesSlides/_rels/notesSlide4.xml.rels>&#65279;<?xml version="1.0" encoding="utf-8"?><Relationships xmlns="http://schemas.openxmlformats.org/package/2006/relationships"><Relationship Type="http://schemas.openxmlformats.org/officeDocument/2006/relationships/slide" Target="/ppt/slides/slide4.xml" Id="Rc94501f123244f13" /><Relationship Type="http://schemas.openxmlformats.org/officeDocument/2006/relationships/notesMaster" Target="/ppt/notesMasters/notesMaster1.xml" Id="R3254a2fa3ff84716" /></Relationships>
</file>

<file path=ppt/notesSlides/_rels/notesSlide5.xml.rels>&#65279;<?xml version="1.0" encoding="utf-8"?><Relationships xmlns="http://schemas.openxmlformats.org/package/2006/relationships"><Relationship Type="http://schemas.openxmlformats.org/officeDocument/2006/relationships/slide" Target="/ppt/slides/slide5.xml" Id="Rb1bf8d10160e4388" /><Relationship Type="http://schemas.openxmlformats.org/officeDocument/2006/relationships/notesMaster" Target="/ppt/notesMasters/notesMaster1.xml" Id="R4acf7fbcc3394c25" /></Relationships>
</file>

<file path=ppt/notesSlides/_rels/notesSlide6.xml.rels>&#65279;<?xml version="1.0" encoding="utf-8"?><Relationships xmlns="http://schemas.openxmlformats.org/package/2006/relationships"><Relationship Type="http://schemas.openxmlformats.org/officeDocument/2006/relationships/slide" Target="/ppt/slides/slide6.xml" Id="R7944efda1dd145d7" /><Relationship Type="http://schemas.openxmlformats.org/officeDocument/2006/relationships/notesMaster" Target="/ppt/notesMasters/notesMaster1.xml" Id="Rc813e3bbcd8b4936" /></Relationships>
</file>

<file path=ppt/notesSlides/_rels/notesSlide7.xml.rels>&#65279;<?xml version="1.0" encoding="utf-8"?><Relationships xmlns="http://schemas.openxmlformats.org/package/2006/relationships"><Relationship Type="http://schemas.openxmlformats.org/officeDocument/2006/relationships/slide" Target="/ppt/slides/slide7.xml" Id="Rc0f455c154784f43" /><Relationship Type="http://schemas.openxmlformats.org/officeDocument/2006/relationships/notesMaster" Target="/ppt/notesMasters/notesMaster1.xml" Id="R3435a0ff2c8f4738" /></Relationships>
</file>

<file path=ppt/notesSlides/_rels/notesSlide8.xml.rels>&#65279;<?xml version="1.0" encoding="utf-8"?><Relationships xmlns="http://schemas.openxmlformats.org/package/2006/relationships"><Relationship Type="http://schemas.openxmlformats.org/officeDocument/2006/relationships/slide" Target="/ppt/slides/slide8.xml" Id="Rac3d34f222d743de" /><Relationship Type="http://schemas.openxmlformats.org/officeDocument/2006/relationships/notesMaster" Target="/ppt/notesMasters/notesMaster1.xml" Id="Rbb8f2d9f67ba4e3d" /></Relationships>
</file>

<file path=ppt/notesSlides/_rels/notesSlide9.xml.rels>&#65279;<?xml version="1.0" encoding="utf-8"?><Relationships xmlns="http://schemas.openxmlformats.org/package/2006/relationships"><Relationship Type="http://schemas.openxmlformats.org/officeDocument/2006/relationships/slide" Target="/ppt/slides/slide9.xml" Id="R5d014f905f924e92" /><Relationship Type="http://schemas.openxmlformats.org/officeDocument/2006/relationships/notesMaster" Target="/ppt/notesMasters/notesMaster1.xml" Id="R078af0d114f942a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6a4f4cb4155493d" /><Relationship Type="http://schemas.openxmlformats.org/officeDocument/2006/relationships/notesMaster" Target="/ppt/notesMasters/notesMaster1.xml" Id="R46454b7c4af4463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621a9744af14eb7" /><Relationship Type="http://schemas.openxmlformats.org/officeDocument/2006/relationships/notesMaster" Target="/ppt/notesMasters/notesMaster1.xml" Id="R9e889e644f4745e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508e096cb1443c8" /><Relationship Type="http://schemas.openxmlformats.org/officeDocument/2006/relationships/notesMaster" Target="/ppt/notesMasters/notesMaster1.xml" Id="Rd5a05f2e70364a6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customer problem. Platform teams already have agents. Their challenge is scaling adoption while keeping permissions, evidence, cost, and accountability visible.</a:t>
            </a:r>
          </a:p>
          <a:p xmlns:a="http://schemas.openxmlformats.org/drawingml/2006/main">
            <a:r>
              <a:t/>
            </a:r>
          </a:p>
          <a:p xmlns:a="http://schemas.openxmlformats.org/drawingml/2006/main">
            <a:r>
              <a:t>Sources:</a:t>
            </a:r>
          </a:p>
          <a:p xmlns:a="http://schemas.openxmlformats.org/drawingml/2006/main">
            <a:r>
              <a:t>- https://komodor.com/platform/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agents deliver value quickly, but each team tends to choose its own runtime, credentials, prompts, and review process. The platform team loses a reliable view of access, ownership, evidence, and cost.</a:t>
            </a:r>
          </a:p>
          <a:p xmlns:a="http://schemas.openxmlformats.org/drawingml/2006/main">
            <a:r>
              <a:t/>
            </a:r>
          </a:p>
          <a:p xmlns:a="http://schemas.openxmlformats.org/drawingml/2006/main">
            <a:r>
              <a:t>Sources:</a:t>
            </a:r>
          </a:p>
          <a:p xmlns:a="http://schemas.openxmlformats.org/drawingml/2006/main">
            <a:r>
              <a:t>- https://komodor.com/platform/run-agents/</a:t>
            </a:r>
          </a:p>
          <a:p xmlns:a="http://schemas.openxmlformats.org/drawingml/2006/main">
            <a:r>
              <a:t>- Product Architect Home Assignment.pdf, pages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core model may be capable, but production reliability comes from the infrastructure around it: permission scope, triggers, orchestration, evidence, approvals, and cost controls.</a:t>
            </a:r>
          </a:p>
          <a:p xmlns:a="http://schemas.openxmlformats.org/drawingml/2006/main">
            <a:r>
              <a:t/>
            </a:r>
          </a:p>
          <a:p xmlns:a="http://schemas.openxmlformats.org/drawingml/2006/main">
            <a:r>
              <a:t>Sources:</a:t>
            </a:r>
          </a:p>
          <a:p xmlns:a="http://schemas.openxmlformats.org/drawingml/2006/main">
            <a:r>
              <a:t>- https://komodor.com/platform/run-agents/</a:t>
            </a:r>
          </a:p>
          <a:p xmlns:a="http://schemas.openxmlformats.org/drawingml/2006/main">
            <a:r>
              <a:t>- https://komodor.com/platform/govern-agents/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KAOP provides shared infrastructure around agents: fleet management, workflow orchestration, shared context, evaluations, and governance. Teams can keep existing frameworks while the platform team applies one operating model.</a:t>
            </a:r>
          </a:p>
          <a:p xmlns:a="http://schemas.openxmlformats.org/drawingml/2006/main">
            <a:r>
              <a:t/>
            </a:r>
          </a:p>
          <a:p xmlns:a="http://schemas.openxmlformats.org/drawingml/2006/main">
            <a:r>
              <a:t>Sources:</a:t>
            </a:r>
          </a:p>
          <a:p xmlns:a="http://schemas.openxmlformats.org/drawingml/2006/main">
            <a:r>
              <a:t>- https://komodor.com/platform/</a:t>
            </a:r>
          </a:p>
          <a:p xmlns:a="http://schemas.openxmlformats.org/drawingml/2006/main">
            <a:r>
              <a:t>- https://komodor.com/platform/run-agents/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workflow matters more than one prompt. A trigger starts a bounded investigation. The agent returns a structured finding. A person reviews risky action, and KAOP keeps the run record.</a:t>
            </a:r>
          </a:p>
          <a:p xmlns:a="http://schemas.openxmlformats.org/drawingml/2006/main">
            <a:r>
              <a:t/>
            </a:r>
          </a:p>
          <a:p xmlns:a="http://schemas.openxmlformats.org/drawingml/2006/main">
            <a:r>
              <a:t>Sources:</a:t>
            </a:r>
          </a:p>
          <a:p xmlns:a="http://schemas.openxmlformats.org/drawingml/2006/main">
            <a:r>
              <a:t>- https://komodor.com/platform/run-agents/</a:t>
            </a:r>
          </a:p>
          <a:p xmlns:a="http://schemas.openxmlformats.org/drawingml/2006/main">
            <a:r>
              <a:t>- Product Architect Home Assignment.pdf, pages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Kubernetes ServiceAccount is namespace scoped and read only. Live kubectl authorization checks return yes for Pods and no for Secrets and patching Deployments. The GitHub integration is intentionally comment only.</a:t>
            </a:r>
          </a:p>
          <a:p xmlns:a="http://schemas.openxmlformats.org/drawingml/2006/main">
            <a:r>
              <a:t/>
            </a:r>
          </a:p>
          <a:p xmlns:a="http://schemas.openxmlformats.org/drawingml/2006/main">
            <a:r>
              <a:t>Sources:</a:t>
            </a:r>
          </a:p>
          <a:p xmlns:a="http://schemas.openxmlformats.org/drawingml/2006/main">
            <a:r>
              <a:t>- https://komodor.com/platform/govern-agents/</a:t>
            </a:r>
          </a:p>
          <a:p xmlns:a="http://schemas.openxmlformats.org/drawingml/2006/main">
            <a:r>
              <a:t>- deploy/base/rbac.yaml in the demo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central fleet view and run history let platform teams inspect ownership, permissions, tool calls, policy decisions, and cost without asking every team to reconstruct the run.</a:t>
            </a:r>
          </a:p>
          <a:p xmlns:a="http://schemas.openxmlformats.org/drawingml/2006/main">
            <a:r>
              <a:t/>
            </a:r>
          </a:p>
          <a:p xmlns:a="http://schemas.openxmlformats.org/drawingml/2006/main">
            <a:r>
              <a:t>Sources:</a:t>
            </a:r>
          </a:p>
          <a:p xmlns:a="http://schemas.openxmlformats.org/drawingml/2006/main">
            <a:r>
              <a:t>- https://komodor.com/platform/run-agents/</a:t>
            </a:r>
          </a:p>
          <a:p xmlns:a="http://schemas.openxmlformats.org/drawingml/2006/main">
            <a:r>
              <a:t>- https://komodor.com/platform/govern-agents/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the demo in KAOP. Show inventory, workflow structure, permission scope, and run history before triggering the fault. Then move to Grafana, the KAOP finding, and the open GitHub PR.</a:t>
            </a:r>
          </a:p>
          <a:p xmlns:a="http://schemas.openxmlformats.org/drawingml/2006/main">
            <a:r>
              <a:t/>
            </a:r>
          </a:p>
          <a:p xmlns:a="http://schemas.openxmlformats.org/drawingml/2006/main">
            <a:r>
              <a:t>Sources:</a:t>
            </a:r>
          </a:p>
          <a:p xmlns:a="http://schemas.openxmlformats.org/drawingml/2006/main">
            <a:r>
              <a:t>- Product Architect Home Assignment.pdf, page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practical adoption path starts with read only workflows and explicit outcomes. Add approvals before any write capability. Expand autonomy only when run evidence shows that the workflow behaves reliably.</a:t>
            </a:r>
          </a:p>
          <a:p xmlns:a="http://schemas.openxmlformats.org/drawingml/2006/main">
            <a:r>
              <a:t/>
            </a:r>
          </a:p>
          <a:p xmlns:a="http://schemas.openxmlformats.org/drawingml/2006/main">
            <a:r>
              <a:t>Sources:</a:t>
            </a:r>
          </a:p>
          <a:p xmlns:a="http://schemas.openxmlformats.org/drawingml/2006/main">
            <a:r>
              <a:t>- https://komodor.com/platform/govern-agents/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is intentionally small. Grafana Cloud watches the local cluster and sends an alert to KAOP. The RCA agent reads namespace evidence. GitHub hosts the open repair PR and KAOP reviewer comment.</a:t>
            </a:r>
          </a:p>
          <a:p xmlns:a="http://schemas.openxmlformats.org/drawingml/2006/main">
            <a:r>
              <a:t/>
            </a:r>
          </a:p>
          <a:p xmlns:a="http://schemas.openxmlformats.org/drawingml/2006/main">
            <a:r>
              <a:t>Sources:</a:t>
            </a:r>
          </a:p>
          <a:p xmlns:a="http://schemas.openxmlformats.org/drawingml/2006/main">
            <a:r>
              <a:t>- Product Architect Home Assignment.pdf, pages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when the customer asks what enforces the boundary. Kubernetes RBAC denies Secret access and writes. The GitHub application is configured for repository read and pull request comments only.</a:t>
            </a:r>
          </a:p>
          <a:p xmlns:a="http://schemas.openxmlformats.org/drawingml/2006/main">
            <a:r>
              <a:t/>
            </a:r>
          </a:p>
          <a:p xmlns:a="http://schemas.openxmlformats.org/drawingml/2006/main">
            <a:r>
              <a:t>Sources:</a:t>
            </a:r>
          </a:p>
          <a:p xmlns:a="http://schemas.openxmlformats.org/drawingml/2006/main">
            <a:r>
              <a:t>- deploy/base/rbac.yaml in the demo repository</a:t>
            </a:r>
          </a:p>
          <a:p xmlns:a="http://schemas.openxmlformats.org/drawingml/2006/main">
            <a:r>
              <a:t>- https://komodor.com/platform/govern-agents/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smoke test produced a real Redis Service with no endpoints, failed readiness and liveness probes, BackOff events, and three restarts on the new frontend Pod. Recovery restored the healthy overlay and endpoint.</a:t>
            </a:r>
          </a:p>
          <a:p xmlns:a="http://schemas.openxmlformats.org/drawingml/2006/main">
            <a:r>
              <a:t/>
            </a:r>
          </a:p>
          <a:p xmlns:a="http://schemas.openxmlformats.org/drawingml/2006/main">
            <a:r>
              <a:t>Sources:</a:t>
            </a:r>
          </a:p>
          <a:p xmlns:a="http://schemas.openxmlformats.org/drawingml/2006/main">
            <a:r>
              <a:t>- Live verification from the kaop-demo cluster on 2026-10-07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162995cfd75412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054361f5212425c" /><Relationship Type="http://schemas.openxmlformats.org/officeDocument/2006/relationships/slideLayout" Target="/ppt/slideLayouts/slideLayout1.xml" Id="R23e228da6237499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3e228da6237499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60c6d8e94334e74" /><Relationship Type="http://schemas.openxmlformats.org/officeDocument/2006/relationships/image" Target="/ppt/media/image.png" Id="R60fb5db32b4a420c" /><Relationship Type="http://schemas.openxmlformats.org/officeDocument/2006/relationships/notesSlide" Target="/ppt/notesSlides/notesSlide1.xml" Id="R803b5d4612674b8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224e1ccaeaf4b69" /><Relationship Type="http://schemas.openxmlformats.org/officeDocument/2006/relationships/notesSlide" Target="/ppt/notesSlides/notesSlide2.xml" Id="R3e4b86827add4b3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ae36a61bb1b4aa7" /><Relationship Type="http://schemas.openxmlformats.org/officeDocument/2006/relationships/notesSlide" Target="/ppt/notesSlides/notesSlide3.xml" Id="R65b65aa8444f4c4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5fc9234f24c4ffd" /><Relationship Type="http://schemas.openxmlformats.org/officeDocument/2006/relationships/notesSlide" Target="/ppt/notesSlides/notesSlide4.xml" Id="Re2f58d44aeea403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fedc68c9e6d4dc2" /><Relationship Type="http://schemas.openxmlformats.org/officeDocument/2006/relationships/notesSlide" Target="/ppt/notesSlides/notesSlide5.xml" Id="R382390cf3d70461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c2eeec783bd464a" /><Relationship Type="http://schemas.openxmlformats.org/officeDocument/2006/relationships/notesSlide" Target="/ppt/notesSlides/notesSlide6.xml" Id="Rf17a5ed436ce4b1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be273731a2f4b7a" /><Relationship Type="http://schemas.openxmlformats.org/officeDocument/2006/relationships/notesSlide" Target="/ppt/notesSlides/notesSlide7.xml" Id="Rf0e7b2fc33794d1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e0d1cbc15e94b41" /><Relationship Type="http://schemas.openxmlformats.org/officeDocument/2006/relationships/notesSlide" Target="/ppt/notesSlides/notesSlide8.xml" Id="R4c6fb15973924b6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63f5043622444e5" /><Relationship Type="http://schemas.openxmlformats.org/officeDocument/2006/relationships/notesSlide" Target="/ppt/notesSlides/notesSlide9.xml" Id="R1659cf536d28403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a8c836722b541da" /><Relationship Type="http://schemas.openxmlformats.org/officeDocument/2006/relationships/notesSlide" Target="/ppt/notesSlides/notesSlide10.xml" Id="R083948fd51c342d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37e397c824948ec" /><Relationship Type="http://schemas.openxmlformats.org/officeDocument/2006/relationships/notesSlide" Target="/ppt/notesSlides/notesSlide11.xml" Id="R2a082ee03b6d4c0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52d36834c8f4e96" /><Relationship Type="http://schemas.openxmlformats.org/officeDocument/2006/relationships/notesSlide" Target="/ppt/notesSlides/notesSlide12.xml" Id="R00fb451919f34b0d" /></Relationships>
</file>

<file path=ppt/slides/slide1.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0fb5db32b4a420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AAA054F-732B-432C-94DB-FD4AFEC2530E}"/>
              </a:ext>
            </a:extLst>
          </p:cNvPr>
          <p:cNvSpPr>
            <a:spLocks xmlns:a="http://schemas.openxmlformats.org/drawingml/2006/main" noGrp="1"/>
          </p:cNvSpPr>
          <p:nvPr/>
        </p:nvSpPr>
        <p:spPr>
          <a:xfrm xmlns:a="http://schemas.openxmlformats.org/drawingml/2006/main">
            <a:off x="723900" y="87630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54D6FF"/>
                </a:solidFill>
                <a:latin typeface="Liberation Sans"/>
                <a:ea typeface="Liberation Sans"/>
                <a:cs typeface="Liberation Sans"/>
              </a:defRPr>
            </a:pPr>
            <a:r>
              <a:rPr sz="900" b="1">
                <a:solidFill>
                  <a:srgbClr val="54D6FF"/>
                </a:solidFill>
                <a:latin typeface="Liberation Sans"/>
                <a:ea typeface="Liberation Sans"/>
                <a:cs typeface="Liberation Sans"/>
              </a:rPr>
              <a:t>PLATFORM ENGINEERING CUSTOMER PITCH</a:t>
            </a:r>
          </a:p>
        </p:txBody>
      </p:sp>
      <p:sp>
        <p:nvSpPr>
          <p:cNvPr id="3" name="">
            <a:extLst xmlns:a="http://schemas.openxmlformats.org/drawingml/2006/main">
              <a:ext uri="{FF2B5EF4-FFF2-40B4-BE49-F238E27FC236}">
                <a16:creationId xmlns:a16="http://schemas.microsoft.com/office/drawing/2014/main" id="{7F2AC62A-A9A4-4B9B-83AC-FAA9E1E18E01}"/>
              </a:ext>
            </a:extLst>
          </p:cNvPr>
          <p:cNvSpPr>
            <a:spLocks xmlns:a="http://schemas.openxmlformats.org/drawingml/2006/main" noGrp="1"/>
          </p:cNvSpPr>
          <p:nvPr/>
        </p:nvSpPr>
        <p:spPr>
          <a:xfrm xmlns:a="http://schemas.openxmlformats.org/drawingml/2006/main">
            <a:off x="685800" y="1371600"/>
            <a:ext cx="4953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5400" b="1">
                <a:solidFill>
                  <a:srgbClr val="F4F8FC"/>
                </a:solidFill>
                <a:latin typeface="Liberation Sans"/>
                <a:ea typeface="Liberation Sans"/>
                <a:cs typeface="Liberation Sans"/>
              </a:defRPr>
            </a:pPr>
            <a:r>
              <a:rPr sz="5400" b="1">
                <a:solidFill>
                  <a:srgbClr val="F4F8FC"/>
                </a:solidFill>
                <a:latin typeface="Liberation Sans"/>
                <a:ea typeface="Liberation Sans"/>
                <a:cs typeface="Liberation Sans"/>
              </a:rPr>
              <a:t>KAOP</a:t>
            </a:r>
          </a:p>
        </p:txBody>
      </p:sp>
      <p:sp>
        <p:nvSpPr>
          <p:cNvPr id="4" name="">
            <a:extLst xmlns:a="http://schemas.openxmlformats.org/drawingml/2006/main">
              <a:ext uri="{FF2B5EF4-FFF2-40B4-BE49-F238E27FC236}">
                <a16:creationId xmlns:a16="http://schemas.microsoft.com/office/drawing/2014/main" id="{5F090BA3-8866-4E8B-BA0B-4A04A59D4260}"/>
              </a:ext>
            </a:extLst>
          </p:cNvPr>
          <p:cNvSpPr>
            <a:spLocks xmlns:a="http://schemas.openxmlformats.org/drawingml/2006/main" noGrp="1"/>
          </p:cNvSpPr>
          <p:nvPr/>
        </p:nvSpPr>
        <p:spPr>
          <a:xfrm xmlns:a="http://schemas.openxmlformats.org/drawingml/2006/main">
            <a:off x="723900" y="2266950"/>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250" b="0">
                <a:solidFill>
                  <a:srgbClr val="F4F8FC"/>
                </a:solidFill>
                <a:latin typeface="Liberation Sans"/>
                <a:ea typeface="Liberation Sans"/>
                <a:cs typeface="Liberation Sans"/>
              </a:defRPr>
            </a:pPr>
            <a:r>
              <a:rPr sz="2250" b="0">
                <a:solidFill>
                  <a:srgbClr val="F4F8FC"/>
                </a:solidFill>
                <a:latin typeface="Liberation Sans"/>
                <a:ea typeface="Liberation Sans"/>
                <a:cs typeface="Liberation Sans"/>
              </a:rPr>
              <a:t>by Nirit Terehovsky</a:t>
            </a:r>
          </a:p>
        </p:txBody>
      </p:sp>
      <p:sp>
        <p:nvSpPr>
          <p:cNvPr id="5" name="">
            <a:extLst xmlns:a="http://schemas.openxmlformats.org/drawingml/2006/main">
              <a:ext uri="{FF2B5EF4-FFF2-40B4-BE49-F238E27FC236}">
                <a16:creationId xmlns:a16="http://schemas.microsoft.com/office/drawing/2014/main" id="{4A520280-7EF7-45B1-B592-E6CBBF60345E}"/>
              </a:ext>
            </a:extLst>
          </p:cNvPr>
          <p:cNvSpPr>
            <a:spLocks xmlns:a="http://schemas.openxmlformats.org/drawingml/2006/main" noGrp="1"/>
          </p:cNvSpPr>
          <p:nvPr/>
        </p:nvSpPr>
        <p:spPr>
          <a:xfrm xmlns:a="http://schemas.openxmlformats.org/drawingml/2006/main">
            <a:off x="723900" y="3143250"/>
            <a:ext cx="4953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A6B7C8"/>
                </a:solidFill>
                <a:latin typeface="Liberation Sans"/>
                <a:ea typeface="Liberation Sans"/>
                <a:cs typeface="Liberation Sans"/>
              </a:defRPr>
            </a:pPr>
            <a:r>
              <a:rPr sz="1800" b="0">
                <a:solidFill>
                  <a:srgbClr val="A6B7C8"/>
                </a:solidFill>
                <a:latin typeface="Liberation Sans"/>
                <a:ea typeface="Liberation Sans"/>
                <a:cs typeface="Liberation Sans"/>
              </a:rPr>
              <a:t>A governed operating layer for production agents</a:t>
            </a:r>
          </a:p>
        </p:txBody>
      </p:sp>
      <p:sp>
        <p:nvSpPr>
          <p:cNvPr id="6" name="">
            <a:extLst xmlns:a="http://schemas.openxmlformats.org/drawingml/2006/main">
              <a:ext uri="{FF2B5EF4-FFF2-40B4-BE49-F238E27FC236}">
                <a16:creationId xmlns:a16="http://schemas.microsoft.com/office/drawing/2014/main" id="{DF1AA810-0641-4167-B01F-99C05F9B7A44}"/>
              </a:ext>
            </a:extLst>
          </p:cNvPr>
          <p:cNvSpPr>
            <a:spLocks xmlns:a="http://schemas.openxmlformats.org/drawingml/2006/main" noGrp="1"/>
          </p:cNvSpPr>
          <p:nvPr/>
        </p:nvSpPr>
        <p:spPr>
          <a:xfrm xmlns:a="http://schemas.openxmlformats.org/drawingml/2006/main">
            <a:off x="723900" y="5829300"/>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A6B7C8"/>
                </a:solidFill>
                <a:latin typeface="Liberation Sans"/>
                <a:ea typeface="Liberation Sans"/>
                <a:cs typeface="Liberation Sans"/>
              </a:defRPr>
            </a:pPr>
            <a:r>
              <a:rPr sz="1125" b="0">
                <a:solidFill>
                  <a:srgbClr val="A6B7C8"/>
                </a:solidFill>
                <a:latin typeface="Liberation Sans"/>
                <a:ea typeface="Liberation Sans"/>
                <a:cs typeface="Liberation Sans"/>
              </a:rPr>
              <a:t>Customer presentation and live platform tour</a:t>
            </a:r>
          </a:p>
        </p:txBody>
      </p:sp>
    </p:spTree>
    <p:extLst>
      <p:ext uri="{BB962C8B-B14F-4D97-AF65-F5344CB8AC3E}">
        <p14:creationId xmlns:p14="http://schemas.microsoft.com/office/powerpoint/2010/main" val="82209191"/>
      </p:ext>
    </p:extLst>
  </p:cSld>
</p:sld>
</file>

<file path=ppt/slides/slide2.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D8A21064-28C6-4BD6-850C-1C7ABA53198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54D6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4E995FA-4C31-4E48-9C74-0D30F26A0D5B}"/>
              </a:ext>
            </a:extLst>
          </p:cNvPr>
          <p:cNvSpPr>
            <a:spLocks xmlns:a="http://schemas.openxmlformats.org/drawingml/2006/main" noGrp="1"/>
          </p:cNvSpPr>
          <p:nvPr/>
        </p:nvSpPr>
        <p:spPr>
          <a:xfrm xmlns:a="http://schemas.openxmlformats.org/drawingml/2006/main">
            <a:off x="590550" y="400050"/>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F4F8FC"/>
                </a:solidFill>
                <a:latin typeface="Liberation Sans"/>
                <a:ea typeface="Liberation Sans"/>
                <a:cs typeface="Liberation Sans"/>
              </a:defRPr>
            </a:pPr>
            <a:r>
              <a:rPr sz="2550" b="1">
                <a:solidFill>
                  <a:srgbClr val="F4F8FC"/>
                </a:solidFill>
                <a:latin typeface="Liberation Sans"/>
                <a:ea typeface="Liberation Sans"/>
                <a:cs typeface="Liberation Sans"/>
              </a:rPr>
              <a:t>The agent sprawl problem</a:t>
            </a:r>
          </a:p>
        </p:txBody>
      </p:sp>
      <p:sp>
        <p:nvSpPr>
          <p:cNvPr id="3" name="">
            <a:extLst xmlns:a="http://schemas.openxmlformats.org/drawingml/2006/main">
              <a:ext uri="{FF2B5EF4-FFF2-40B4-BE49-F238E27FC236}">
                <a16:creationId xmlns:a16="http://schemas.microsoft.com/office/drawing/2014/main" id="{E3D71541-8BD1-45E9-A3D8-EB5CD6017F6A}"/>
              </a:ext>
            </a:extLst>
          </p:cNvPr>
          <p:cNvSpPr>
            <a:spLocks xmlns:a="http://schemas.openxmlformats.org/drawingml/2006/main" noGrp="1"/>
          </p:cNvSpPr>
          <p:nvPr/>
        </p:nvSpPr>
        <p:spPr>
          <a:xfrm xmlns:a="http://schemas.openxmlformats.org/drawingml/2006/main">
            <a:off x="60960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A6B7C8"/>
                </a:solidFill>
                <a:latin typeface="Liberation Sans"/>
                <a:ea typeface="Liberation Sans"/>
                <a:cs typeface="Liberation Sans"/>
              </a:defRPr>
            </a:pPr>
            <a:r>
              <a:rPr sz="1275" b="0">
                <a:solidFill>
                  <a:srgbClr val="A6B7C8"/>
                </a:solidFill>
                <a:latin typeface="Liberation Sans"/>
                <a:ea typeface="Liberation Sans"/>
                <a:cs typeface="Liberation Sans"/>
              </a:rPr>
              <a:t>Independent adoption creates an operating problem for the platform team</a:t>
            </a:r>
          </a:p>
        </p:txBody>
      </p:sp>
      <p:sp>
        <p:nvSpPr>
          <p:cNvPr id="4" name="">
            <a:extLst xmlns:a="http://schemas.openxmlformats.org/drawingml/2006/main">
              <a:ext uri="{FF2B5EF4-FFF2-40B4-BE49-F238E27FC236}">
                <a16:creationId xmlns:a16="http://schemas.microsoft.com/office/drawing/2014/main" id="{FAB434A3-D1AB-40CE-B722-40BACBD990E3}"/>
              </a:ext>
            </a:extLst>
          </p:cNvPr>
          <p:cNvSpPr>
            <a:spLocks xmlns:a="http://schemas.openxmlformats.org/drawingml/2006/main" noGrp="1"/>
          </p:cNvSpPr>
          <p:nvPr/>
        </p:nvSpPr>
        <p:spPr>
          <a:xfrm xmlns:a="http://schemas.openxmlformats.org/drawingml/2006/main">
            <a:off x="11258550" y="62293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A6B7C8"/>
                </a:solidFill>
                <a:latin typeface="Liberation Sans"/>
                <a:ea typeface="Liberation Sans"/>
                <a:cs typeface="Liberation Sans"/>
              </a:defRPr>
            </a:pPr>
            <a:r>
              <a:rPr sz="900" b="0">
                <a:solidFill>
                  <a:srgbClr val="A6B7C8"/>
                </a:solidFill>
                <a:latin typeface="Liberation Sans"/>
                <a:ea typeface="Liberation Sans"/>
                <a:cs typeface="Liberation Sans"/>
              </a:rPr>
              <a:t>02</a:t>
            </a:r>
          </a:p>
        </p:txBody>
      </p:sp>
      <p:sp>
        <p:nvSpPr>
          <p:cNvPr id="5" name="">
            <a:extLst xmlns:a="http://schemas.openxmlformats.org/drawingml/2006/main">
              <a:ext uri="{FF2B5EF4-FFF2-40B4-BE49-F238E27FC236}">
                <a16:creationId xmlns:a16="http://schemas.microsoft.com/office/drawing/2014/main" id="{2361B5D3-C94D-4B90-8AD6-CEC11F3E1420}"/>
              </a:ext>
            </a:extLst>
          </p:cNvPr>
          <p:cNvSpPr>
            <a:spLocks xmlns:a="http://schemas.openxmlformats.org/drawingml/2006/main" noGrp="1"/>
          </p:cNvSpPr>
          <p:nvPr/>
        </p:nvSpPr>
        <p:spPr>
          <a:xfrm xmlns:a="http://schemas.openxmlformats.org/drawingml/2006/main">
            <a:off x="590550" y="62293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A6B7C8"/>
                </a:solidFill>
                <a:latin typeface="Liberation Sans"/>
                <a:ea typeface="Liberation Sans"/>
                <a:cs typeface="Liberation Sans"/>
              </a:defRPr>
            </a:pPr>
            <a:r>
              <a:rPr sz="900" b="0">
                <a:solidFill>
                  <a:srgbClr val="A6B7C8"/>
                </a:solidFill>
                <a:latin typeface="Liberation Sans"/>
                <a:ea typeface="Liberation Sans"/>
                <a:cs typeface="Liberation Sans"/>
              </a:rPr>
              <a:t>KAOP by Nirit Terehovsky</a:t>
            </a:r>
          </a:p>
        </p:txBody>
      </p:sp>
      <p:sp>
        <p:nvSpPr>
          <p:cNvPr id="6" name="">
            <a:extLst xmlns:a="http://schemas.openxmlformats.org/drawingml/2006/main">
              <a:ext uri="{FF2B5EF4-FFF2-40B4-BE49-F238E27FC236}">
                <a16:creationId xmlns:a16="http://schemas.microsoft.com/office/drawing/2014/main" id="{5CF965D7-C78F-4361-BC0B-C5293B133805}"/>
              </a:ext>
            </a:extLst>
          </p:cNvPr>
          <p:cNvSpPr>
            <a:spLocks xmlns:a="http://schemas.openxmlformats.org/drawingml/2006/main" noGrp="1"/>
          </p:cNvSpPr>
          <p:nvPr/>
        </p:nvSpPr>
        <p:spPr>
          <a:xfrm xmlns:a="http://schemas.openxmlformats.org/drawingml/2006/main">
            <a:off x="781050" y="1562100"/>
            <a:ext cx="514350" cy="514350"/>
          </a:xfrm>
          <a:prstGeom xmlns:a="http://schemas.openxmlformats.org/drawingml/2006/main" prst="ellipse">
            <a:avLst/>
          </a:prstGeom>
          <a:solidFill xmlns:a="http://schemas.openxmlformats.org/drawingml/2006/main">
            <a:srgbClr val="54D6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F4EC70F-B982-4EED-ADE9-691EF46A648C}"/>
              </a:ext>
            </a:extLst>
          </p:cNvPr>
          <p:cNvSpPr>
            <a:spLocks xmlns:a="http://schemas.openxmlformats.org/drawingml/2006/main" noGrp="1"/>
          </p:cNvSpPr>
          <p:nvPr/>
        </p:nvSpPr>
        <p:spPr>
          <a:xfrm xmlns:a="http://schemas.openxmlformats.org/drawingml/2006/main">
            <a:off x="1504950" y="154305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defRPr sz="1425" b="1">
                <a:solidFill>
                  <a:srgbClr val="F4F8FC"/>
                </a:solidFill>
                <a:latin typeface="Liberation Sans"/>
                <a:ea typeface="Liberation Sans"/>
                <a:cs typeface="Liberation Sans"/>
              </a:defRPr>
            </a:pPr>
            <a:r>
              <a:rPr sz="1425" b="1">
                <a:solidFill>
                  <a:srgbClr val="F4F8FC"/>
                </a:solidFill>
                <a:latin typeface="Liberation Sans"/>
                <a:ea typeface="Liberation Sans"/>
                <a:cs typeface="Liberation Sans"/>
              </a:rPr>
              <a:t>App team</a:t>
            </a:r>
          </a:p>
        </p:txBody>
      </p:sp>
      <p:sp>
        <p:nvSpPr>
          <p:cNvPr id="8" name="">
            <a:extLst xmlns:a="http://schemas.openxmlformats.org/drawingml/2006/main">
              <a:ext uri="{FF2B5EF4-FFF2-40B4-BE49-F238E27FC236}">
                <a16:creationId xmlns:a16="http://schemas.microsoft.com/office/drawing/2014/main" id="{60FFA988-2AE4-47F2-8F9D-74F02F1532AD}"/>
              </a:ext>
            </a:extLst>
          </p:cNvPr>
          <p:cNvSpPr>
            <a:spLocks xmlns:a="http://schemas.openxmlformats.org/drawingml/2006/main" noGrp="1"/>
          </p:cNvSpPr>
          <p:nvPr/>
        </p:nvSpPr>
        <p:spPr>
          <a:xfrm xmlns:a="http://schemas.openxmlformats.org/drawingml/2006/main">
            <a:off x="1504950" y="182880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defRPr sz="1125" b="0">
                <a:solidFill>
                  <a:srgbClr val="A6B7C8"/>
                </a:solidFill>
                <a:latin typeface="Liberation Sans"/>
                <a:ea typeface="Liberation Sans"/>
                <a:cs typeface="Liberation Sans"/>
              </a:defRPr>
            </a:pPr>
            <a:r>
              <a:rPr sz="1125" b="0">
                <a:solidFill>
                  <a:srgbClr val="A6B7C8"/>
                </a:solidFill>
                <a:latin typeface="Liberation Sans"/>
                <a:ea typeface="Liberation Sans"/>
                <a:cs typeface="Liberation Sans"/>
              </a:rPr>
              <a:t>Coding agent</a:t>
            </a:r>
          </a:p>
        </p:txBody>
      </p:sp>
      <p:sp>
        <p:nvSpPr>
          <p:cNvPr id="9" name="">
            <a:extLst xmlns:a="http://schemas.openxmlformats.org/drawingml/2006/main">
              <a:ext uri="{FF2B5EF4-FFF2-40B4-BE49-F238E27FC236}">
                <a16:creationId xmlns:a16="http://schemas.microsoft.com/office/drawing/2014/main" id="{2D0E2F75-37A1-4150-B581-8A6138FA99EF}"/>
              </a:ext>
            </a:extLst>
          </p:cNvPr>
          <p:cNvSpPr>
            <a:spLocks xmlns:a="http://schemas.openxmlformats.org/drawingml/2006/main" noGrp="1"/>
          </p:cNvSpPr>
          <p:nvPr/>
        </p:nvSpPr>
        <p:spPr>
          <a:xfrm xmlns:a="http://schemas.openxmlformats.org/drawingml/2006/main">
            <a:off x="3333750" y="1819275"/>
            <a:ext cx="1581150" cy="0"/>
          </a:xfrm>
          <a:prstGeom xmlns:a="http://schemas.openxmlformats.org/drawingml/2006/main" prst="line">
            <a:avLst/>
          </a:prstGeom>
          <a:noFill xmlns:a="http://schemas.openxmlformats.org/drawingml/2006/main"/>
          <a:ln xmlns:a="http://schemas.openxmlformats.org/drawingml/2006/main" w="14288">
            <a:solidFill>
              <a:srgbClr val="54D6FF"/>
            </a:solidFill>
            <a:prstDash val="solid"/>
          </a:ln>
        </p:spPr>
      </p:sp>
      <p:sp>
        <p:nvSpPr>
          <p:cNvPr id="10" name="">
            <a:extLst xmlns:a="http://schemas.openxmlformats.org/drawingml/2006/main">
              <a:ext uri="{FF2B5EF4-FFF2-40B4-BE49-F238E27FC236}">
                <a16:creationId xmlns:a16="http://schemas.microsoft.com/office/drawing/2014/main" id="{277203A0-A508-4EFC-B6B6-92538F0A732C}"/>
              </a:ext>
            </a:extLst>
          </p:cNvPr>
          <p:cNvSpPr>
            <a:spLocks xmlns:a="http://schemas.openxmlformats.org/drawingml/2006/main" noGrp="1"/>
          </p:cNvSpPr>
          <p:nvPr/>
        </p:nvSpPr>
        <p:spPr>
          <a:xfrm xmlns:a="http://schemas.openxmlformats.org/drawingml/2006/main">
            <a:off x="781050" y="2590800"/>
            <a:ext cx="514350" cy="514350"/>
          </a:xfrm>
          <a:prstGeom xmlns:a="http://schemas.openxmlformats.org/drawingml/2006/main" prst="ellipse">
            <a:avLst/>
          </a:prstGeom>
          <a:solidFill xmlns:a="http://schemas.openxmlformats.org/drawingml/2006/main">
            <a:srgbClr val="9A7B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8818BF2-D51F-4710-B7C6-29BC050BF204}"/>
              </a:ext>
            </a:extLst>
          </p:cNvPr>
          <p:cNvSpPr>
            <a:spLocks xmlns:a="http://schemas.openxmlformats.org/drawingml/2006/main" noGrp="1"/>
          </p:cNvSpPr>
          <p:nvPr/>
        </p:nvSpPr>
        <p:spPr>
          <a:xfrm xmlns:a="http://schemas.openxmlformats.org/drawingml/2006/main">
            <a:off x="1504950" y="257175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defRPr sz="1425" b="1">
                <a:solidFill>
                  <a:srgbClr val="F4F8FC"/>
                </a:solidFill>
                <a:latin typeface="Liberation Sans"/>
                <a:ea typeface="Liberation Sans"/>
                <a:cs typeface="Liberation Sans"/>
              </a:defRPr>
            </a:pPr>
            <a:r>
              <a:rPr sz="1425" b="1">
                <a:solidFill>
                  <a:srgbClr val="F4F8FC"/>
                </a:solidFill>
                <a:latin typeface="Liberation Sans"/>
                <a:ea typeface="Liberation Sans"/>
                <a:cs typeface="Liberation Sans"/>
              </a:rPr>
              <a:t>SRE</a:t>
            </a:r>
          </a:p>
        </p:txBody>
      </p:sp>
      <p:sp>
        <p:nvSpPr>
          <p:cNvPr id="12" name="">
            <a:extLst xmlns:a="http://schemas.openxmlformats.org/drawingml/2006/main">
              <a:ext uri="{FF2B5EF4-FFF2-40B4-BE49-F238E27FC236}">
                <a16:creationId xmlns:a16="http://schemas.microsoft.com/office/drawing/2014/main" id="{CC2E1FFA-234C-45D3-A275-406B25B54DE8}"/>
              </a:ext>
            </a:extLst>
          </p:cNvPr>
          <p:cNvSpPr>
            <a:spLocks xmlns:a="http://schemas.openxmlformats.org/drawingml/2006/main" noGrp="1"/>
          </p:cNvSpPr>
          <p:nvPr/>
        </p:nvSpPr>
        <p:spPr>
          <a:xfrm xmlns:a="http://schemas.openxmlformats.org/drawingml/2006/main">
            <a:off x="1504950" y="285750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defRPr sz="1125" b="0">
                <a:solidFill>
                  <a:srgbClr val="A6B7C8"/>
                </a:solidFill>
                <a:latin typeface="Liberation Sans"/>
                <a:ea typeface="Liberation Sans"/>
                <a:cs typeface="Liberation Sans"/>
              </a:defRPr>
            </a:pPr>
            <a:r>
              <a:rPr sz="1125" b="0">
                <a:solidFill>
                  <a:srgbClr val="A6B7C8"/>
                </a:solidFill>
                <a:latin typeface="Liberation Sans"/>
                <a:ea typeface="Liberation Sans"/>
                <a:cs typeface="Liberation Sans"/>
              </a:rPr>
              <a:t>Incident agent</a:t>
            </a:r>
          </a:p>
        </p:txBody>
      </p:sp>
      <p:sp>
        <p:nvSpPr>
          <p:cNvPr id="13" name="">
            <a:extLst xmlns:a="http://schemas.openxmlformats.org/drawingml/2006/main">
              <a:ext uri="{FF2B5EF4-FFF2-40B4-BE49-F238E27FC236}">
                <a16:creationId xmlns:a16="http://schemas.microsoft.com/office/drawing/2014/main" id="{4D1A65DC-36B8-4F48-9A9C-10E6874ABB56}"/>
              </a:ext>
            </a:extLst>
          </p:cNvPr>
          <p:cNvSpPr>
            <a:spLocks xmlns:a="http://schemas.openxmlformats.org/drawingml/2006/main" noGrp="1"/>
          </p:cNvSpPr>
          <p:nvPr/>
        </p:nvSpPr>
        <p:spPr>
          <a:xfrm xmlns:a="http://schemas.openxmlformats.org/drawingml/2006/main">
            <a:off x="3333750" y="2847975"/>
            <a:ext cx="1581150" cy="0"/>
          </a:xfrm>
          <a:prstGeom xmlns:a="http://schemas.openxmlformats.org/drawingml/2006/main" prst="line">
            <a:avLst/>
          </a:prstGeom>
          <a:noFill xmlns:a="http://schemas.openxmlformats.org/drawingml/2006/main"/>
          <a:ln xmlns:a="http://schemas.openxmlformats.org/drawingml/2006/main" w="14288">
            <a:solidFill>
              <a:srgbClr val="9A7BFF"/>
            </a:solidFill>
            <a:prstDash val="solid"/>
          </a:ln>
        </p:spPr>
      </p:sp>
      <p:sp>
        <p:nvSpPr>
          <p:cNvPr id="14" name="">
            <a:extLst xmlns:a="http://schemas.openxmlformats.org/drawingml/2006/main">
              <a:ext uri="{FF2B5EF4-FFF2-40B4-BE49-F238E27FC236}">
                <a16:creationId xmlns:a16="http://schemas.microsoft.com/office/drawing/2014/main" id="{7BF8B8D1-28F4-4BCD-9630-54F57EC221FE}"/>
              </a:ext>
            </a:extLst>
          </p:cNvPr>
          <p:cNvSpPr>
            <a:spLocks xmlns:a="http://schemas.openxmlformats.org/drawingml/2006/main" noGrp="1"/>
          </p:cNvSpPr>
          <p:nvPr/>
        </p:nvSpPr>
        <p:spPr>
          <a:xfrm xmlns:a="http://schemas.openxmlformats.org/drawingml/2006/main">
            <a:off x="781050" y="3619500"/>
            <a:ext cx="514350" cy="514350"/>
          </a:xfrm>
          <a:prstGeom xmlns:a="http://schemas.openxmlformats.org/drawingml/2006/main" prst="ellipse">
            <a:avLst/>
          </a:prstGeom>
          <a:solidFill xmlns:a="http://schemas.openxmlformats.org/drawingml/2006/main">
            <a:srgbClr val="68E1C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6908C48-71E5-442B-8FF7-E9DCDB8AF638}"/>
              </a:ext>
            </a:extLst>
          </p:cNvPr>
          <p:cNvSpPr>
            <a:spLocks xmlns:a="http://schemas.openxmlformats.org/drawingml/2006/main" noGrp="1"/>
          </p:cNvSpPr>
          <p:nvPr/>
        </p:nvSpPr>
        <p:spPr>
          <a:xfrm xmlns:a="http://schemas.openxmlformats.org/drawingml/2006/main">
            <a:off x="1504950" y="360045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defRPr sz="1425" b="1">
                <a:solidFill>
                  <a:srgbClr val="F4F8FC"/>
                </a:solidFill>
                <a:latin typeface="Liberation Sans"/>
                <a:ea typeface="Liberation Sans"/>
                <a:cs typeface="Liberation Sans"/>
              </a:defRPr>
            </a:pPr>
            <a:r>
              <a:rPr sz="1425" b="1">
                <a:solidFill>
                  <a:srgbClr val="F4F8FC"/>
                </a:solidFill>
                <a:latin typeface="Liberation Sans"/>
                <a:ea typeface="Liberation Sans"/>
                <a:cs typeface="Liberation Sans"/>
              </a:rPr>
              <a:t>FinOps</a:t>
            </a:r>
          </a:p>
        </p:txBody>
      </p:sp>
      <p:sp>
        <p:nvSpPr>
          <p:cNvPr id="16" name="">
            <a:extLst xmlns:a="http://schemas.openxmlformats.org/drawingml/2006/main">
              <a:ext uri="{FF2B5EF4-FFF2-40B4-BE49-F238E27FC236}">
                <a16:creationId xmlns:a16="http://schemas.microsoft.com/office/drawing/2014/main" id="{1C6B7D67-5771-4015-BC66-28E31C744075}"/>
              </a:ext>
            </a:extLst>
          </p:cNvPr>
          <p:cNvSpPr>
            <a:spLocks xmlns:a="http://schemas.openxmlformats.org/drawingml/2006/main" noGrp="1"/>
          </p:cNvSpPr>
          <p:nvPr/>
        </p:nvSpPr>
        <p:spPr>
          <a:xfrm xmlns:a="http://schemas.openxmlformats.org/drawingml/2006/main">
            <a:off x="1504950" y="388620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defRPr sz="1125" b="0">
                <a:solidFill>
                  <a:srgbClr val="A6B7C8"/>
                </a:solidFill>
                <a:latin typeface="Liberation Sans"/>
                <a:ea typeface="Liberation Sans"/>
                <a:cs typeface="Liberation Sans"/>
              </a:defRPr>
            </a:pPr>
            <a:r>
              <a:rPr sz="1125" b="0">
                <a:solidFill>
                  <a:srgbClr val="A6B7C8"/>
                </a:solidFill>
                <a:latin typeface="Liberation Sans"/>
                <a:ea typeface="Liberation Sans"/>
                <a:cs typeface="Liberation Sans"/>
              </a:rPr>
              <a:t>Cost agent</a:t>
            </a:r>
          </a:p>
        </p:txBody>
      </p:sp>
      <p:sp>
        <p:nvSpPr>
          <p:cNvPr id="17" name="">
            <a:extLst xmlns:a="http://schemas.openxmlformats.org/drawingml/2006/main">
              <a:ext uri="{FF2B5EF4-FFF2-40B4-BE49-F238E27FC236}">
                <a16:creationId xmlns:a16="http://schemas.microsoft.com/office/drawing/2014/main" id="{FD61472D-BF85-4AEB-A2B6-58CA6760CCEB}"/>
              </a:ext>
            </a:extLst>
          </p:cNvPr>
          <p:cNvSpPr>
            <a:spLocks xmlns:a="http://schemas.openxmlformats.org/drawingml/2006/main" noGrp="1"/>
          </p:cNvSpPr>
          <p:nvPr/>
        </p:nvSpPr>
        <p:spPr>
          <a:xfrm xmlns:a="http://schemas.openxmlformats.org/drawingml/2006/main">
            <a:off x="3333750" y="3876675"/>
            <a:ext cx="1581150" cy="0"/>
          </a:xfrm>
          <a:prstGeom xmlns:a="http://schemas.openxmlformats.org/drawingml/2006/main" prst="line">
            <a:avLst/>
          </a:prstGeom>
          <a:noFill xmlns:a="http://schemas.openxmlformats.org/drawingml/2006/main"/>
          <a:ln xmlns:a="http://schemas.openxmlformats.org/drawingml/2006/main" w="14288">
            <a:solidFill>
              <a:srgbClr val="68E1C4"/>
            </a:solidFill>
            <a:prstDash val="solid"/>
          </a:ln>
        </p:spPr>
      </p:sp>
      <p:sp>
        <p:nvSpPr>
          <p:cNvPr id="18" name="">
            <a:extLst xmlns:a="http://schemas.openxmlformats.org/drawingml/2006/main">
              <a:ext uri="{FF2B5EF4-FFF2-40B4-BE49-F238E27FC236}">
                <a16:creationId xmlns:a16="http://schemas.microsoft.com/office/drawing/2014/main" id="{F1FD180A-083E-4CB6-9DB1-429CF58E1F03}"/>
              </a:ext>
            </a:extLst>
          </p:cNvPr>
          <p:cNvSpPr>
            <a:spLocks xmlns:a="http://schemas.openxmlformats.org/drawingml/2006/main" noGrp="1"/>
          </p:cNvSpPr>
          <p:nvPr/>
        </p:nvSpPr>
        <p:spPr>
          <a:xfrm xmlns:a="http://schemas.openxmlformats.org/drawingml/2006/main">
            <a:off x="781050" y="4648200"/>
            <a:ext cx="514350" cy="514350"/>
          </a:xfrm>
          <a:prstGeom xmlns:a="http://schemas.openxmlformats.org/drawingml/2006/main" prst="ellipse">
            <a:avLst/>
          </a:prstGeom>
          <a:solidFill xmlns:a="http://schemas.openxmlformats.org/drawingml/2006/main">
            <a:srgbClr val="FFCA6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9BA154B-0852-413E-AF3B-60CAD1698220}"/>
              </a:ext>
            </a:extLst>
          </p:cNvPr>
          <p:cNvSpPr>
            <a:spLocks xmlns:a="http://schemas.openxmlformats.org/drawingml/2006/main" noGrp="1"/>
          </p:cNvSpPr>
          <p:nvPr/>
        </p:nvSpPr>
        <p:spPr>
          <a:xfrm xmlns:a="http://schemas.openxmlformats.org/drawingml/2006/main">
            <a:off x="1504950" y="462915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defRPr sz="1425" b="1">
                <a:solidFill>
                  <a:srgbClr val="F4F8FC"/>
                </a:solidFill>
                <a:latin typeface="Liberation Sans"/>
                <a:ea typeface="Liberation Sans"/>
                <a:cs typeface="Liberation Sans"/>
              </a:defRPr>
            </a:pPr>
            <a:r>
              <a:rPr sz="1425" b="1">
                <a:solidFill>
                  <a:srgbClr val="F4F8FC"/>
                </a:solidFill>
                <a:latin typeface="Liberation Sans"/>
                <a:ea typeface="Liberation Sans"/>
                <a:cs typeface="Liberation Sans"/>
              </a:rPr>
              <a:t>Security</a:t>
            </a:r>
          </a:p>
        </p:txBody>
      </p:sp>
      <p:sp>
        <p:nvSpPr>
          <p:cNvPr id="20" name="">
            <a:extLst xmlns:a="http://schemas.openxmlformats.org/drawingml/2006/main">
              <a:ext uri="{FF2B5EF4-FFF2-40B4-BE49-F238E27FC236}">
                <a16:creationId xmlns:a16="http://schemas.microsoft.com/office/drawing/2014/main" id="{B08C7581-E4D4-4FBC-B689-A9A4E3B79F83}"/>
              </a:ext>
            </a:extLst>
          </p:cNvPr>
          <p:cNvSpPr>
            <a:spLocks xmlns:a="http://schemas.openxmlformats.org/drawingml/2006/main" noGrp="1"/>
          </p:cNvSpPr>
          <p:nvPr/>
        </p:nvSpPr>
        <p:spPr>
          <a:xfrm xmlns:a="http://schemas.openxmlformats.org/drawingml/2006/main">
            <a:off x="1504950" y="491490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defRPr sz="1125" b="0">
                <a:solidFill>
                  <a:srgbClr val="A6B7C8"/>
                </a:solidFill>
                <a:latin typeface="Liberation Sans"/>
                <a:ea typeface="Liberation Sans"/>
                <a:cs typeface="Liberation Sans"/>
              </a:defRPr>
            </a:pPr>
            <a:r>
              <a:rPr sz="1125" b="0">
                <a:solidFill>
                  <a:srgbClr val="A6B7C8"/>
                </a:solidFill>
                <a:latin typeface="Liberation Sans"/>
                <a:ea typeface="Liberation Sans"/>
                <a:cs typeface="Liberation Sans"/>
              </a:rPr>
              <a:t>Policy agent</a:t>
            </a:r>
          </a:p>
        </p:txBody>
      </p:sp>
      <p:sp>
        <p:nvSpPr>
          <p:cNvPr id="21" name="">
            <a:extLst xmlns:a="http://schemas.openxmlformats.org/drawingml/2006/main">
              <a:ext uri="{FF2B5EF4-FFF2-40B4-BE49-F238E27FC236}">
                <a16:creationId xmlns:a16="http://schemas.microsoft.com/office/drawing/2014/main" id="{ACB4739A-7E8A-47C6-9141-C29CEFA7D827}"/>
              </a:ext>
            </a:extLst>
          </p:cNvPr>
          <p:cNvSpPr>
            <a:spLocks xmlns:a="http://schemas.openxmlformats.org/drawingml/2006/main" noGrp="1"/>
          </p:cNvSpPr>
          <p:nvPr/>
        </p:nvSpPr>
        <p:spPr>
          <a:xfrm xmlns:a="http://schemas.openxmlformats.org/drawingml/2006/main">
            <a:off x="3333750" y="4905375"/>
            <a:ext cx="1581150" cy="0"/>
          </a:xfrm>
          <a:prstGeom xmlns:a="http://schemas.openxmlformats.org/drawingml/2006/main" prst="line">
            <a:avLst/>
          </a:prstGeom>
          <a:noFill xmlns:a="http://schemas.openxmlformats.org/drawingml/2006/main"/>
          <a:ln xmlns:a="http://schemas.openxmlformats.org/drawingml/2006/main" w="14288">
            <a:solidFill>
              <a:srgbClr val="FFCA6B"/>
            </a:solidFill>
            <a:prstDash val="solid"/>
          </a:ln>
        </p:spPr>
      </p:sp>
      <p:sp>
        <p:nvSpPr>
          <p:cNvPr id="22" name="">
            <a:extLst xmlns:a="http://schemas.openxmlformats.org/drawingml/2006/main">
              <a:ext uri="{FF2B5EF4-FFF2-40B4-BE49-F238E27FC236}">
                <a16:creationId xmlns:a16="http://schemas.microsoft.com/office/drawing/2014/main" id="{6D232D3C-C826-46A4-8164-20BCF66DC26D}"/>
              </a:ext>
            </a:extLst>
          </p:cNvPr>
          <p:cNvSpPr>
            <a:spLocks xmlns:a="http://schemas.openxmlformats.org/drawingml/2006/main" noGrp="1"/>
          </p:cNvSpPr>
          <p:nvPr/>
        </p:nvSpPr>
        <p:spPr>
          <a:xfrm xmlns:a="http://schemas.openxmlformats.org/drawingml/2006/main">
            <a:off x="5048250" y="1543050"/>
            <a:ext cx="6191250" cy="4095750"/>
          </a:xfrm>
          <a:prstGeom xmlns:a="http://schemas.openxmlformats.org/drawingml/2006/main" prst="roundRect">
            <a:avLst>
              <a:gd name="adj" fmla="val 5581"/>
            </a:avLst>
          </a:prstGeom>
          <a:solidFill xmlns:a="http://schemas.openxmlformats.org/drawingml/2006/main">
            <a:srgbClr val="102338"/>
          </a:solidFill>
          <a:ln xmlns:a="http://schemas.openxmlformats.org/drawingml/2006/main" w="14288">
            <a:solidFill>
              <a:srgbClr val="29445D"/>
            </a:solidFill>
            <a:prstDash val="solid"/>
          </a:ln>
        </p:spPr>
      </p:sp>
      <p:sp>
        <p:nvSpPr>
          <p:cNvPr id="23" name="">
            <a:extLst xmlns:a="http://schemas.openxmlformats.org/drawingml/2006/main">
              <a:ext uri="{FF2B5EF4-FFF2-40B4-BE49-F238E27FC236}">
                <a16:creationId xmlns:a16="http://schemas.microsoft.com/office/drawing/2014/main" id="{C95217F5-1FEC-4D59-BE9D-DAD9CE3BD1D8}"/>
              </a:ext>
            </a:extLst>
          </p:cNvPr>
          <p:cNvSpPr>
            <a:spLocks xmlns:a="http://schemas.openxmlformats.org/drawingml/2006/main" noGrp="1"/>
          </p:cNvSpPr>
          <p:nvPr/>
        </p:nvSpPr>
        <p:spPr>
          <a:xfrm xmlns:a="http://schemas.openxmlformats.org/drawingml/2006/main">
            <a:off x="5467350" y="186690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FF7285"/>
                </a:solidFill>
                <a:latin typeface="Liberation Sans"/>
                <a:ea typeface="Liberation Sans"/>
                <a:cs typeface="Liberation Sans"/>
              </a:defRPr>
            </a:pPr>
            <a:r>
              <a:rPr sz="900" b="1">
                <a:solidFill>
                  <a:srgbClr val="FF7285"/>
                </a:solidFill>
                <a:latin typeface="Liberation Sans"/>
                <a:ea typeface="Liberation Sans"/>
                <a:cs typeface="Liberation Sans"/>
              </a:rPr>
              <a:t>PLATFORM QUESTIONS</a:t>
            </a:r>
          </a:p>
        </p:txBody>
      </p:sp>
      <p:sp>
        <p:nvSpPr>
          <p:cNvPr id="24" name="">
            <a:extLst xmlns:a="http://schemas.openxmlformats.org/drawingml/2006/main">
              <a:ext uri="{FF2B5EF4-FFF2-40B4-BE49-F238E27FC236}">
                <a16:creationId xmlns:a16="http://schemas.microsoft.com/office/drawing/2014/main" id="{1B83F92D-DF0F-4943-8CFC-D7BFEBE0D831}"/>
              </a:ext>
            </a:extLst>
          </p:cNvPr>
          <p:cNvSpPr>
            <a:spLocks xmlns:a="http://schemas.openxmlformats.org/drawingml/2006/main" noGrp="1"/>
          </p:cNvSpPr>
          <p:nvPr/>
        </p:nvSpPr>
        <p:spPr>
          <a:xfrm xmlns:a="http://schemas.openxmlformats.org/drawingml/2006/main">
            <a:off x="5467350" y="2324100"/>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0">
                <a:solidFill>
                  <a:srgbClr val="A6B7C8"/>
                </a:solidFill>
                <a:latin typeface="Liberation Sans"/>
                <a:ea typeface="Liberation Sans"/>
                <a:cs typeface="Liberation Sans"/>
              </a:defRPr>
            </a:pPr>
            <a:r>
              <a:rPr sz="1650" b="0">
                <a:solidFill>
                  <a:srgbClr val="A6B7C8"/>
                </a:solidFill>
                <a:latin typeface="Liberation Sans"/>
                <a:ea typeface="Liberation Sans"/>
                <a:cs typeface="Liberation Sans"/>
              </a:rPr>
              <a:t>What is running across the organization?</a:t>
            </a:r>
          </a:p>
        </p:txBody>
      </p:sp>
      <p:sp>
        <p:nvSpPr>
          <p:cNvPr id="25" name="">
            <a:extLst xmlns:a="http://schemas.openxmlformats.org/drawingml/2006/main">
              <a:ext uri="{FF2B5EF4-FFF2-40B4-BE49-F238E27FC236}">
                <a16:creationId xmlns:a16="http://schemas.microsoft.com/office/drawing/2014/main" id="{5A9ADD61-C599-4363-A55E-F81A34B80623}"/>
              </a:ext>
            </a:extLst>
          </p:cNvPr>
          <p:cNvSpPr>
            <a:spLocks xmlns:a="http://schemas.openxmlformats.org/drawingml/2006/main" noGrp="1"/>
          </p:cNvSpPr>
          <p:nvPr/>
        </p:nvSpPr>
        <p:spPr>
          <a:xfrm xmlns:a="http://schemas.openxmlformats.org/drawingml/2006/main">
            <a:off x="5467350" y="2895600"/>
            <a:ext cx="4953000" cy="0"/>
          </a:xfrm>
          <a:prstGeom xmlns:a="http://schemas.openxmlformats.org/drawingml/2006/main" prst="line">
            <a:avLst/>
          </a:prstGeom>
          <a:noFill xmlns:a="http://schemas.openxmlformats.org/drawingml/2006/main"/>
          <a:ln xmlns:a="http://schemas.openxmlformats.org/drawingml/2006/main" w="14288">
            <a:solidFill>
              <a:srgbClr val="29445D"/>
            </a:solidFill>
            <a:prstDash val="solid"/>
          </a:ln>
        </p:spPr>
      </p:sp>
      <p:sp>
        <p:nvSpPr>
          <p:cNvPr id="26" name="">
            <a:extLst xmlns:a="http://schemas.openxmlformats.org/drawingml/2006/main">
              <a:ext uri="{FF2B5EF4-FFF2-40B4-BE49-F238E27FC236}">
                <a16:creationId xmlns:a16="http://schemas.microsoft.com/office/drawing/2014/main" id="{44268BF3-B77D-4723-9508-BE0B646F1507}"/>
              </a:ext>
            </a:extLst>
          </p:cNvPr>
          <p:cNvSpPr>
            <a:spLocks xmlns:a="http://schemas.openxmlformats.org/drawingml/2006/main" noGrp="1"/>
          </p:cNvSpPr>
          <p:nvPr/>
        </p:nvSpPr>
        <p:spPr>
          <a:xfrm xmlns:a="http://schemas.openxmlformats.org/drawingml/2006/main">
            <a:off x="5467350" y="3048000"/>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166"/>
          </a:bodyPr>
          <a:lstStyle xmlns:a="http://schemas.openxmlformats.org/drawingml/2006/main"/>
          <a:p xmlns:a="http://schemas.openxmlformats.org/drawingml/2006/main">
            <a:pPr>
              <a:defRPr sz="1650" b="0">
                <a:solidFill>
                  <a:srgbClr val="A6B7C8"/>
                </a:solidFill>
                <a:latin typeface="Liberation Sans"/>
                <a:ea typeface="Liberation Sans"/>
                <a:cs typeface="Liberation Sans"/>
              </a:defRPr>
            </a:pPr>
            <a:r>
              <a:rPr sz="1650" b="0">
                <a:solidFill>
                  <a:srgbClr val="A6B7C8"/>
                </a:solidFill>
                <a:latin typeface="Liberation Sans"/>
                <a:ea typeface="Liberation Sans"/>
                <a:cs typeface="Liberation Sans"/>
              </a:rPr>
              <a:t>Which systems and credentials can each agent reach?</a:t>
            </a:r>
          </a:p>
        </p:txBody>
      </p:sp>
      <p:sp>
        <p:nvSpPr>
          <p:cNvPr id="27" name="">
            <a:extLst xmlns:a="http://schemas.openxmlformats.org/drawingml/2006/main">
              <a:ext uri="{FF2B5EF4-FFF2-40B4-BE49-F238E27FC236}">
                <a16:creationId xmlns:a16="http://schemas.microsoft.com/office/drawing/2014/main" id="{CB10DA4F-EDD7-4691-8EF0-94A18BF9E71A}"/>
              </a:ext>
            </a:extLst>
          </p:cNvPr>
          <p:cNvSpPr>
            <a:spLocks xmlns:a="http://schemas.openxmlformats.org/drawingml/2006/main" noGrp="1"/>
          </p:cNvSpPr>
          <p:nvPr/>
        </p:nvSpPr>
        <p:spPr>
          <a:xfrm xmlns:a="http://schemas.openxmlformats.org/drawingml/2006/main">
            <a:off x="5467350" y="3619500"/>
            <a:ext cx="4953000" cy="0"/>
          </a:xfrm>
          <a:prstGeom xmlns:a="http://schemas.openxmlformats.org/drawingml/2006/main" prst="line">
            <a:avLst/>
          </a:prstGeom>
          <a:noFill xmlns:a="http://schemas.openxmlformats.org/drawingml/2006/main"/>
          <a:ln xmlns:a="http://schemas.openxmlformats.org/drawingml/2006/main" w="14288">
            <a:solidFill>
              <a:srgbClr val="29445D"/>
            </a:solidFill>
            <a:prstDash val="solid"/>
          </a:ln>
        </p:spPr>
      </p:sp>
      <p:sp>
        <p:nvSpPr>
          <p:cNvPr id="28" name="">
            <a:extLst xmlns:a="http://schemas.openxmlformats.org/drawingml/2006/main">
              <a:ext uri="{FF2B5EF4-FFF2-40B4-BE49-F238E27FC236}">
                <a16:creationId xmlns:a16="http://schemas.microsoft.com/office/drawing/2014/main" id="{FA2C453A-7EDE-429E-BCA3-141544E20513}"/>
              </a:ext>
            </a:extLst>
          </p:cNvPr>
          <p:cNvSpPr>
            <a:spLocks xmlns:a="http://schemas.openxmlformats.org/drawingml/2006/main" noGrp="1"/>
          </p:cNvSpPr>
          <p:nvPr/>
        </p:nvSpPr>
        <p:spPr>
          <a:xfrm xmlns:a="http://schemas.openxmlformats.org/drawingml/2006/main">
            <a:off x="5467350" y="3771900"/>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275"/>
          </a:bodyPr>
          <a:lstStyle xmlns:a="http://schemas.openxmlformats.org/drawingml/2006/main"/>
          <a:p xmlns:a="http://schemas.openxmlformats.org/drawingml/2006/main">
            <a:pPr>
              <a:defRPr sz="1650" b="0">
                <a:solidFill>
                  <a:srgbClr val="A6B7C8"/>
                </a:solidFill>
                <a:latin typeface="Liberation Sans"/>
                <a:ea typeface="Liberation Sans"/>
                <a:cs typeface="Liberation Sans"/>
              </a:defRPr>
            </a:pPr>
            <a:r>
              <a:rPr sz="1650" b="0">
                <a:solidFill>
                  <a:srgbClr val="A6B7C8"/>
                </a:solidFill>
                <a:latin typeface="Liberation Sans"/>
                <a:ea typeface="Liberation Sans"/>
                <a:cs typeface="Liberation Sans"/>
              </a:rPr>
              <a:t>Who approved the action and what evidence remains?</a:t>
            </a:r>
          </a:p>
        </p:txBody>
      </p:sp>
      <p:sp>
        <p:nvSpPr>
          <p:cNvPr id="29" name="">
            <a:extLst xmlns:a="http://schemas.openxmlformats.org/drawingml/2006/main">
              <a:ext uri="{FF2B5EF4-FFF2-40B4-BE49-F238E27FC236}">
                <a16:creationId xmlns:a16="http://schemas.microsoft.com/office/drawing/2014/main" id="{6119D77B-65C8-4F83-89BC-54AF013B193E}"/>
              </a:ext>
            </a:extLst>
          </p:cNvPr>
          <p:cNvSpPr>
            <a:spLocks xmlns:a="http://schemas.openxmlformats.org/drawingml/2006/main" noGrp="1"/>
          </p:cNvSpPr>
          <p:nvPr/>
        </p:nvSpPr>
        <p:spPr>
          <a:xfrm xmlns:a="http://schemas.openxmlformats.org/drawingml/2006/main">
            <a:off x="5467350" y="4343400"/>
            <a:ext cx="4953000" cy="0"/>
          </a:xfrm>
          <a:prstGeom xmlns:a="http://schemas.openxmlformats.org/drawingml/2006/main" prst="line">
            <a:avLst/>
          </a:prstGeom>
          <a:noFill xmlns:a="http://schemas.openxmlformats.org/drawingml/2006/main"/>
          <a:ln xmlns:a="http://schemas.openxmlformats.org/drawingml/2006/main" w="14288">
            <a:solidFill>
              <a:srgbClr val="29445D"/>
            </a:solidFill>
            <a:prstDash val="solid"/>
          </a:ln>
        </p:spPr>
      </p:sp>
      <p:sp>
        <p:nvSpPr>
          <p:cNvPr id="30" name="">
            <a:extLst xmlns:a="http://schemas.openxmlformats.org/drawingml/2006/main">
              <a:ext uri="{FF2B5EF4-FFF2-40B4-BE49-F238E27FC236}">
                <a16:creationId xmlns:a16="http://schemas.microsoft.com/office/drawing/2014/main" id="{B649645F-3EC0-4574-85F7-BA07FA325601}"/>
              </a:ext>
            </a:extLst>
          </p:cNvPr>
          <p:cNvSpPr>
            <a:spLocks xmlns:a="http://schemas.openxmlformats.org/drawingml/2006/main" noGrp="1"/>
          </p:cNvSpPr>
          <p:nvPr/>
        </p:nvSpPr>
        <p:spPr>
          <a:xfrm xmlns:a="http://schemas.openxmlformats.org/drawingml/2006/main">
            <a:off x="5467350" y="4495800"/>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543"/>
          </a:bodyPr>
          <a:lstStyle xmlns:a="http://schemas.openxmlformats.org/drawingml/2006/main"/>
          <a:p xmlns:a="http://schemas.openxmlformats.org/drawingml/2006/main">
            <a:pPr>
              <a:defRPr sz="1650" b="0">
                <a:solidFill>
                  <a:srgbClr val="F4F8FC"/>
                </a:solidFill>
                <a:latin typeface="Liberation Sans"/>
                <a:ea typeface="Liberation Sans"/>
                <a:cs typeface="Liberation Sans"/>
              </a:defRPr>
            </a:pPr>
            <a:r>
              <a:rPr sz="1650" b="0">
                <a:solidFill>
                  <a:srgbClr val="F4F8FC"/>
                </a:solidFill>
                <a:latin typeface="Liberation Sans"/>
                <a:ea typeface="Liberation Sans"/>
                <a:cs typeface="Liberation Sans"/>
              </a:rPr>
              <a:t>How do we stop unsafe behavior without stopping adoption?</a:t>
            </a:r>
          </a:p>
        </p:txBody>
      </p:sp>
    </p:spTree>
    <p:extLst>
      <p:ext uri="{BB962C8B-B14F-4D97-AF65-F5344CB8AC3E}">
        <p14:creationId xmlns:p14="http://schemas.microsoft.com/office/powerpoint/2010/main" val="1214569235"/>
      </p:ext>
    </p:extLst>
  </p:cSld>
</p:sld>
</file>

<file path=ppt/slides/slide3.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77BE5C9-59F7-4AE4-97D9-DADB9E907FC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54D6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4F7D0CA-79F3-48D5-914C-D70509AFE2AE}"/>
              </a:ext>
            </a:extLst>
          </p:cNvPr>
          <p:cNvSpPr>
            <a:spLocks xmlns:a="http://schemas.openxmlformats.org/drawingml/2006/main" noGrp="1"/>
          </p:cNvSpPr>
          <p:nvPr/>
        </p:nvSpPr>
        <p:spPr>
          <a:xfrm xmlns:a="http://schemas.openxmlformats.org/drawingml/2006/main">
            <a:off x="590550" y="400050"/>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F4F8FC"/>
                </a:solidFill>
                <a:latin typeface="Liberation Sans"/>
                <a:ea typeface="Liberation Sans"/>
                <a:cs typeface="Liberation Sans"/>
              </a:defRPr>
            </a:pPr>
            <a:r>
              <a:rPr sz="2550" b="1">
                <a:solidFill>
                  <a:srgbClr val="F4F8FC"/>
                </a:solidFill>
                <a:latin typeface="Liberation Sans"/>
                <a:ea typeface="Liberation Sans"/>
                <a:cs typeface="Liberation Sans"/>
              </a:rPr>
              <a:t>Why isolated agents fail in production</a:t>
            </a:r>
          </a:p>
        </p:txBody>
      </p:sp>
      <p:sp>
        <p:nvSpPr>
          <p:cNvPr id="3" name="">
            <a:extLst xmlns:a="http://schemas.openxmlformats.org/drawingml/2006/main">
              <a:ext uri="{FF2B5EF4-FFF2-40B4-BE49-F238E27FC236}">
                <a16:creationId xmlns:a16="http://schemas.microsoft.com/office/drawing/2014/main" id="{37C1D538-4094-49D9-83A4-6DBEFC2549A0}"/>
              </a:ext>
            </a:extLst>
          </p:cNvPr>
          <p:cNvSpPr>
            <a:spLocks xmlns:a="http://schemas.openxmlformats.org/drawingml/2006/main" noGrp="1"/>
          </p:cNvSpPr>
          <p:nvPr/>
        </p:nvSpPr>
        <p:spPr>
          <a:xfrm xmlns:a="http://schemas.openxmlformats.org/drawingml/2006/main">
            <a:off x="60960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A6B7C8"/>
                </a:solidFill>
                <a:latin typeface="Liberation Sans"/>
                <a:ea typeface="Liberation Sans"/>
                <a:cs typeface="Liberation Sans"/>
              </a:defRPr>
            </a:pPr>
            <a:r>
              <a:rPr sz="1275" b="0">
                <a:solidFill>
                  <a:srgbClr val="A6B7C8"/>
                </a:solidFill>
                <a:latin typeface="Liberation Sans"/>
                <a:ea typeface="Liberation Sans"/>
                <a:cs typeface="Liberation Sans"/>
              </a:rPr>
              <a:t>A useful local agent still needs production controls around it</a:t>
            </a:r>
          </a:p>
        </p:txBody>
      </p:sp>
      <p:sp>
        <p:nvSpPr>
          <p:cNvPr id="4" name="">
            <a:extLst xmlns:a="http://schemas.openxmlformats.org/drawingml/2006/main">
              <a:ext uri="{FF2B5EF4-FFF2-40B4-BE49-F238E27FC236}">
                <a16:creationId xmlns:a16="http://schemas.microsoft.com/office/drawing/2014/main" id="{CCD826F0-8011-41A6-9E6F-AD20D22D537B}"/>
              </a:ext>
            </a:extLst>
          </p:cNvPr>
          <p:cNvSpPr>
            <a:spLocks xmlns:a="http://schemas.openxmlformats.org/drawingml/2006/main" noGrp="1"/>
          </p:cNvSpPr>
          <p:nvPr/>
        </p:nvSpPr>
        <p:spPr>
          <a:xfrm xmlns:a="http://schemas.openxmlformats.org/drawingml/2006/main">
            <a:off x="11258550" y="62293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A6B7C8"/>
                </a:solidFill>
                <a:latin typeface="Liberation Sans"/>
                <a:ea typeface="Liberation Sans"/>
                <a:cs typeface="Liberation Sans"/>
              </a:defRPr>
            </a:pPr>
            <a:r>
              <a:rPr sz="900" b="0">
                <a:solidFill>
                  <a:srgbClr val="A6B7C8"/>
                </a:solidFill>
                <a:latin typeface="Liberation Sans"/>
                <a:ea typeface="Liberation Sans"/>
                <a:cs typeface="Liberation Sans"/>
              </a:rPr>
              <a:t>03</a:t>
            </a:r>
          </a:p>
        </p:txBody>
      </p:sp>
      <p:sp>
        <p:nvSpPr>
          <p:cNvPr id="5" name="">
            <a:extLst xmlns:a="http://schemas.openxmlformats.org/drawingml/2006/main">
              <a:ext uri="{FF2B5EF4-FFF2-40B4-BE49-F238E27FC236}">
                <a16:creationId xmlns:a16="http://schemas.microsoft.com/office/drawing/2014/main" id="{4AEC2B14-B662-4D87-B3EA-B726349CEAEC}"/>
              </a:ext>
            </a:extLst>
          </p:cNvPr>
          <p:cNvSpPr>
            <a:spLocks xmlns:a="http://schemas.openxmlformats.org/drawingml/2006/main" noGrp="1"/>
          </p:cNvSpPr>
          <p:nvPr/>
        </p:nvSpPr>
        <p:spPr>
          <a:xfrm xmlns:a="http://schemas.openxmlformats.org/drawingml/2006/main">
            <a:off x="590550" y="62293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A6B7C8"/>
                </a:solidFill>
                <a:latin typeface="Liberation Sans"/>
                <a:ea typeface="Liberation Sans"/>
                <a:cs typeface="Liberation Sans"/>
              </a:defRPr>
            </a:pPr>
            <a:r>
              <a:rPr sz="900" b="0">
                <a:solidFill>
                  <a:srgbClr val="A6B7C8"/>
                </a:solidFill>
                <a:latin typeface="Liberation Sans"/>
                <a:ea typeface="Liberation Sans"/>
                <a:cs typeface="Liberation Sans"/>
              </a:rPr>
              <a:t>KAOP by Nirit Terehovsky</a:t>
            </a:r>
          </a:p>
        </p:txBody>
      </p:sp>
      <p:sp>
        <p:nvSpPr>
          <p:cNvPr id="6" name="">
            <a:extLst xmlns:a="http://schemas.openxmlformats.org/drawingml/2006/main">
              <a:ext uri="{FF2B5EF4-FFF2-40B4-BE49-F238E27FC236}">
                <a16:creationId xmlns:a16="http://schemas.microsoft.com/office/drawing/2014/main" id="{53E5CAD0-49FC-4AD8-BF68-1E4B08B49A62}"/>
              </a:ext>
            </a:extLst>
          </p:cNvPr>
          <p:cNvSpPr>
            <a:spLocks xmlns:a="http://schemas.openxmlformats.org/drawingml/2006/main" noGrp="1"/>
          </p:cNvSpPr>
          <p:nvPr/>
        </p:nvSpPr>
        <p:spPr>
          <a:xfrm xmlns:a="http://schemas.openxmlformats.org/drawingml/2006/main">
            <a:off x="4905375" y="2266950"/>
            <a:ext cx="2381250" cy="2381250"/>
          </a:xfrm>
          <a:prstGeom xmlns:a="http://schemas.openxmlformats.org/drawingml/2006/main" prst="ellipse">
            <a:avLst/>
          </a:prstGeom>
          <a:solidFill xmlns:a="http://schemas.openxmlformats.org/drawingml/2006/main">
            <a:srgbClr val="142B42"/>
          </a:solidFill>
          <a:ln xmlns:a="http://schemas.openxmlformats.org/drawingml/2006/main" w="14288">
            <a:solidFill>
              <a:srgbClr val="54D6FF"/>
            </a:solidFill>
            <a:prstDash val="solid"/>
          </a:ln>
        </p:spPr>
      </p:sp>
      <p:sp>
        <p:nvSpPr>
          <p:cNvPr id="7" name="">
            <a:extLst xmlns:a="http://schemas.openxmlformats.org/drawingml/2006/main">
              <a:ext uri="{FF2B5EF4-FFF2-40B4-BE49-F238E27FC236}">
                <a16:creationId xmlns:a16="http://schemas.microsoft.com/office/drawing/2014/main" id="{A2EBBE13-E343-4C03-BCF0-82FBF1E6755E}"/>
              </a:ext>
            </a:extLst>
          </p:cNvPr>
          <p:cNvSpPr>
            <a:spLocks xmlns:a="http://schemas.openxmlformats.org/drawingml/2006/main" noGrp="1"/>
          </p:cNvSpPr>
          <p:nvPr/>
        </p:nvSpPr>
        <p:spPr>
          <a:xfrm xmlns:a="http://schemas.openxmlformats.org/drawingml/2006/main">
            <a:off x="5257800" y="2743200"/>
            <a:ext cx="1676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F4F8FC"/>
                </a:solidFill>
                <a:latin typeface="Liberation Sans"/>
                <a:ea typeface="Liberation Sans"/>
                <a:cs typeface="Liberation Sans"/>
              </a:defRPr>
            </a:pPr>
            <a:r>
              <a:rPr sz="2700" b="1">
                <a:solidFill>
                  <a:srgbClr val="F4F8FC"/>
                </a:solidFill>
                <a:latin typeface="Liberation Sans"/>
                <a:ea typeface="Liberation Sans"/>
                <a:cs typeface="Liberation Sans"/>
              </a:rPr>
              <a:t>Local</a:t>
            </a:r>
          </a:p>
          <a:p xmlns:a="http://schemas.openxmlformats.org/drawingml/2006/main">
            <a:pPr>
              <a:defRPr sz="2700" b="1">
                <a:solidFill>
                  <a:srgbClr val="F4F8FC"/>
                </a:solidFill>
                <a:latin typeface="Liberation Sans"/>
                <a:ea typeface="Liberation Sans"/>
                <a:cs typeface="Liberation Sans"/>
              </a:defRPr>
            </a:pPr>
            <a:r>
              <a:rPr sz="2700" b="1">
                <a:solidFill>
                  <a:srgbClr val="F4F8FC"/>
                </a:solidFill>
                <a:latin typeface="Liberation Sans"/>
                <a:ea typeface="Liberation Sans"/>
                <a:cs typeface="Liberation Sans"/>
              </a:rPr>
              <a:t>agent</a:t>
            </a:r>
          </a:p>
        </p:txBody>
      </p:sp>
      <p:sp>
        <p:nvSpPr>
          <p:cNvPr id="8" name="">
            <a:extLst xmlns:a="http://schemas.openxmlformats.org/drawingml/2006/main">
              <a:ext uri="{FF2B5EF4-FFF2-40B4-BE49-F238E27FC236}">
                <a16:creationId xmlns:a16="http://schemas.microsoft.com/office/drawing/2014/main" id="{5FE81639-6323-4B73-9C0F-A1E75F0525B2}"/>
              </a:ext>
            </a:extLst>
          </p:cNvPr>
          <p:cNvSpPr>
            <a:spLocks xmlns:a="http://schemas.openxmlformats.org/drawingml/2006/main" noGrp="1"/>
          </p:cNvSpPr>
          <p:nvPr/>
        </p:nvSpPr>
        <p:spPr>
          <a:xfrm xmlns:a="http://schemas.openxmlformats.org/drawingml/2006/main">
            <a:off x="1066800" y="161925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54D6FF"/>
                </a:solidFill>
                <a:latin typeface="Liberation Sans"/>
                <a:ea typeface="Liberation Sans"/>
                <a:cs typeface="Liberation Sans"/>
              </a:defRPr>
            </a:pPr>
            <a:r>
              <a:rPr sz="900" b="1">
                <a:solidFill>
                  <a:srgbClr val="54D6FF"/>
                </a:solidFill>
                <a:latin typeface="Liberation Sans"/>
                <a:ea typeface="Liberation Sans"/>
                <a:cs typeface="Liberation Sans"/>
              </a:rPr>
              <a:t>SCOPED ACCESS</a:t>
            </a:r>
          </a:p>
        </p:txBody>
      </p:sp>
      <p:sp>
        <p:nvSpPr>
          <p:cNvPr id="9" name="">
            <a:extLst xmlns:a="http://schemas.openxmlformats.org/drawingml/2006/main">
              <a:ext uri="{FF2B5EF4-FFF2-40B4-BE49-F238E27FC236}">
                <a16:creationId xmlns:a16="http://schemas.microsoft.com/office/drawing/2014/main" id="{782A6D7B-BF9A-4A14-A276-EE7762349CA4}"/>
              </a:ext>
            </a:extLst>
          </p:cNvPr>
          <p:cNvSpPr>
            <a:spLocks xmlns:a="http://schemas.openxmlformats.org/drawingml/2006/main" noGrp="1"/>
          </p:cNvSpPr>
          <p:nvPr/>
        </p:nvSpPr>
        <p:spPr>
          <a:xfrm xmlns:a="http://schemas.openxmlformats.org/drawingml/2006/main">
            <a:off x="1066800" y="1981200"/>
            <a:ext cx="2476500" cy="38100"/>
          </a:xfrm>
          <a:prstGeom xmlns:a="http://schemas.openxmlformats.org/drawingml/2006/main" prst="rect">
            <a:avLst/>
          </a:prstGeom>
          <a:solidFill xmlns:a="http://schemas.openxmlformats.org/drawingml/2006/main">
            <a:srgbClr val="54D6F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9437A0E-B860-4E5F-95A8-52DA5B3ABAFA}"/>
              </a:ext>
            </a:extLst>
          </p:cNvPr>
          <p:cNvSpPr>
            <a:spLocks xmlns:a="http://schemas.openxmlformats.org/drawingml/2006/main" noGrp="1"/>
          </p:cNvSpPr>
          <p:nvPr/>
        </p:nvSpPr>
        <p:spPr>
          <a:xfrm xmlns:a="http://schemas.openxmlformats.org/drawingml/2006/main">
            <a:off x="1066800" y="2152650"/>
            <a:ext cx="257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a:solidFill>
                  <a:srgbClr val="A6B7C8"/>
                </a:solidFill>
                <a:latin typeface="Liberation Sans"/>
                <a:ea typeface="Liberation Sans"/>
                <a:cs typeface="Liberation Sans"/>
              </a:defRPr>
            </a:pPr>
            <a:r>
              <a:rPr sz="1350" b="0">
                <a:solidFill>
                  <a:srgbClr val="A6B7C8"/>
                </a:solidFill>
                <a:latin typeface="Liberation Sans"/>
                <a:ea typeface="Liberation Sans"/>
                <a:cs typeface="Liberation Sans"/>
              </a:rPr>
              <a:t>Who can read or write, in which environment</a:t>
            </a:r>
          </a:p>
        </p:txBody>
      </p:sp>
      <p:sp>
        <p:nvSpPr>
          <p:cNvPr id="11" name="">
            <a:extLst xmlns:a="http://schemas.openxmlformats.org/drawingml/2006/main">
              <a:ext uri="{FF2B5EF4-FFF2-40B4-BE49-F238E27FC236}">
                <a16:creationId xmlns:a16="http://schemas.microsoft.com/office/drawing/2014/main" id="{8692C83B-FB44-4121-A6E9-EF544A3673C5}"/>
              </a:ext>
            </a:extLst>
          </p:cNvPr>
          <p:cNvSpPr>
            <a:spLocks xmlns:a="http://schemas.openxmlformats.org/drawingml/2006/main" noGrp="1"/>
          </p:cNvSpPr>
          <p:nvPr/>
        </p:nvSpPr>
        <p:spPr>
          <a:xfrm xmlns:a="http://schemas.openxmlformats.org/drawingml/2006/main">
            <a:off x="1066800" y="409575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9A7BFF"/>
                </a:solidFill>
                <a:latin typeface="Liberation Sans"/>
                <a:ea typeface="Liberation Sans"/>
                <a:cs typeface="Liberation Sans"/>
              </a:defRPr>
            </a:pPr>
            <a:r>
              <a:rPr sz="900" b="1">
                <a:solidFill>
                  <a:srgbClr val="9A7BFF"/>
                </a:solidFill>
                <a:latin typeface="Liberation Sans"/>
                <a:ea typeface="Liberation Sans"/>
                <a:cs typeface="Liberation Sans"/>
              </a:rPr>
              <a:t>RELIABLE TRIGGERS</a:t>
            </a:r>
          </a:p>
        </p:txBody>
      </p:sp>
      <p:sp>
        <p:nvSpPr>
          <p:cNvPr id="12" name="">
            <a:extLst xmlns:a="http://schemas.openxmlformats.org/drawingml/2006/main">
              <a:ext uri="{FF2B5EF4-FFF2-40B4-BE49-F238E27FC236}">
                <a16:creationId xmlns:a16="http://schemas.microsoft.com/office/drawing/2014/main" id="{7B1EF6A3-2109-471B-BF1B-D90D27D4EB86}"/>
              </a:ext>
            </a:extLst>
          </p:cNvPr>
          <p:cNvSpPr>
            <a:spLocks xmlns:a="http://schemas.openxmlformats.org/drawingml/2006/main" noGrp="1"/>
          </p:cNvSpPr>
          <p:nvPr/>
        </p:nvSpPr>
        <p:spPr>
          <a:xfrm xmlns:a="http://schemas.openxmlformats.org/drawingml/2006/main">
            <a:off x="1066800" y="4457700"/>
            <a:ext cx="2476500" cy="38100"/>
          </a:xfrm>
          <a:prstGeom xmlns:a="http://schemas.openxmlformats.org/drawingml/2006/main" prst="rect">
            <a:avLst/>
          </a:prstGeom>
          <a:solidFill xmlns:a="http://schemas.openxmlformats.org/drawingml/2006/main">
            <a:srgbClr val="9A7B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B858369-000B-4773-A6B3-C8A0A2A4A4F6}"/>
              </a:ext>
            </a:extLst>
          </p:cNvPr>
          <p:cNvSpPr>
            <a:spLocks xmlns:a="http://schemas.openxmlformats.org/drawingml/2006/main" noGrp="1"/>
          </p:cNvSpPr>
          <p:nvPr/>
        </p:nvSpPr>
        <p:spPr>
          <a:xfrm xmlns:a="http://schemas.openxmlformats.org/drawingml/2006/main">
            <a:off x="1066800" y="4629150"/>
            <a:ext cx="257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a:solidFill>
                  <a:srgbClr val="A6B7C8"/>
                </a:solidFill>
                <a:latin typeface="Liberation Sans"/>
                <a:ea typeface="Liberation Sans"/>
                <a:cs typeface="Liberation Sans"/>
              </a:defRPr>
            </a:pPr>
            <a:r>
              <a:rPr sz="1350" b="0">
                <a:solidFill>
                  <a:srgbClr val="A6B7C8"/>
                </a:solidFill>
                <a:latin typeface="Liberation Sans"/>
                <a:ea typeface="Liberation Sans"/>
                <a:cs typeface="Liberation Sans"/>
              </a:rPr>
              <a:t>Alerts, schedules, pull requests, or chat</a:t>
            </a:r>
          </a:p>
        </p:txBody>
      </p:sp>
      <p:sp>
        <p:nvSpPr>
          <p:cNvPr id="14" name="">
            <a:extLst xmlns:a="http://schemas.openxmlformats.org/drawingml/2006/main">
              <a:ext uri="{FF2B5EF4-FFF2-40B4-BE49-F238E27FC236}">
                <a16:creationId xmlns:a16="http://schemas.microsoft.com/office/drawing/2014/main" id="{1F322E95-3114-4F23-8240-7EA6B3A8484A}"/>
              </a:ext>
            </a:extLst>
          </p:cNvPr>
          <p:cNvSpPr>
            <a:spLocks xmlns:a="http://schemas.openxmlformats.org/drawingml/2006/main" noGrp="1"/>
          </p:cNvSpPr>
          <p:nvPr/>
        </p:nvSpPr>
        <p:spPr>
          <a:xfrm xmlns:a="http://schemas.openxmlformats.org/drawingml/2006/main">
            <a:off x="8515350" y="161925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68E1C4"/>
                </a:solidFill>
                <a:latin typeface="Liberation Sans"/>
                <a:ea typeface="Liberation Sans"/>
                <a:cs typeface="Liberation Sans"/>
              </a:defRPr>
            </a:pPr>
            <a:r>
              <a:rPr sz="900" b="1">
                <a:solidFill>
                  <a:srgbClr val="68E1C4"/>
                </a:solidFill>
                <a:latin typeface="Liberation Sans"/>
                <a:ea typeface="Liberation Sans"/>
                <a:cs typeface="Liberation Sans"/>
              </a:rPr>
              <a:t>RUN EVIDENCE</a:t>
            </a:r>
          </a:p>
        </p:txBody>
      </p:sp>
      <p:sp>
        <p:nvSpPr>
          <p:cNvPr id="15" name="">
            <a:extLst xmlns:a="http://schemas.openxmlformats.org/drawingml/2006/main">
              <a:ext uri="{FF2B5EF4-FFF2-40B4-BE49-F238E27FC236}">
                <a16:creationId xmlns:a16="http://schemas.microsoft.com/office/drawing/2014/main" id="{72CC1492-4825-4060-BB8F-D8915F88DAF9}"/>
              </a:ext>
            </a:extLst>
          </p:cNvPr>
          <p:cNvSpPr>
            <a:spLocks xmlns:a="http://schemas.openxmlformats.org/drawingml/2006/main" noGrp="1"/>
          </p:cNvSpPr>
          <p:nvPr/>
        </p:nvSpPr>
        <p:spPr>
          <a:xfrm xmlns:a="http://schemas.openxmlformats.org/drawingml/2006/main">
            <a:off x="8515350" y="1981200"/>
            <a:ext cx="2476500" cy="38100"/>
          </a:xfrm>
          <a:prstGeom xmlns:a="http://schemas.openxmlformats.org/drawingml/2006/main" prst="rect">
            <a:avLst/>
          </a:prstGeom>
          <a:solidFill xmlns:a="http://schemas.openxmlformats.org/drawingml/2006/main">
            <a:srgbClr val="68E1C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C166375-7742-4175-BE84-8C978B05DEC2}"/>
              </a:ext>
            </a:extLst>
          </p:cNvPr>
          <p:cNvSpPr>
            <a:spLocks xmlns:a="http://schemas.openxmlformats.org/drawingml/2006/main" noGrp="1"/>
          </p:cNvSpPr>
          <p:nvPr/>
        </p:nvSpPr>
        <p:spPr>
          <a:xfrm xmlns:a="http://schemas.openxmlformats.org/drawingml/2006/main">
            <a:off x="8515350" y="2152650"/>
            <a:ext cx="257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a:solidFill>
                  <a:srgbClr val="A6B7C8"/>
                </a:solidFill>
                <a:latin typeface="Liberation Sans"/>
                <a:ea typeface="Liberation Sans"/>
                <a:cs typeface="Liberation Sans"/>
              </a:defRPr>
            </a:pPr>
            <a:r>
              <a:rPr sz="1350" b="0">
                <a:solidFill>
                  <a:srgbClr val="A6B7C8"/>
                </a:solidFill>
                <a:latin typeface="Liberation Sans"/>
                <a:ea typeface="Liberation Sans"/>
                <a:cs typeface="Liberation Sans"/>
              </a:rPr>
              <a:t>Inputs, tool calls, decisions, outcomes, and cost</a:t>
            </a:r>
          </a:p>
        </p:txBody>
      </p:sp>
      <p:sp>
        <p:nvSpPr>
          <p:cNvPr id="17" name="">
            <a:extLst xmlns:a="http://schemas.openxmlformats.org/drawingml/2006/main">
              <a:ext uri="{FF2B5EF4-FFF2-40B4-BE49-F238E27FC236}">
                <a16:creationId xmlns:a16="http://schemas.microsoft.com/office/drawing/2014/main" id="{564B1A87-2FB2-44A9-B451-31182645AEF9}"/>
              </a:ext>
            </a:extLst>
          </p:cNvPr>
          <p:cNvSpPr>
            <a:spLocks xmlns:a="http://schemas.openxmlformats.org/drawingml/2006/main" noGrp="1"/>
          </p:cNvSpPr>
          <p:nvPr/>
        </p:nvSpPr>
        <p:spPr>
          <a:xfrm xmlns:a="http://schemas.openxmlformats.org/drawingml/2006/main">
            <a:off x="8515350" y="409575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FFCA6B"/>
                </a:solidFill>
                <a:latin typeface="Liberation Sans"/>
                <a:ea typeface="Liberation Sans"/>
                <a:cs typeface="Liberation Sans"/>
              </a:defRPr>
            </a:pPr>
            <a:r>
              <a:rPr sz="900" b="1">
                <a:solidFill>
                  <a:srgbClr val="FFCA6B"/>
                </a:solidFill>
                <a:latin typeface="Liberation Sans"/>
                <a:ea typeface="Liberation Sans"/>
                <a:cs typeface="Liberation Sans"/>
              </a:rPr>
              <a:t>APPROVAL GATES</a:t>
            </a:r>
          </a:p>
        </p:txBody>
      </p:sp>
      <p:sp>
        <p:nvSpPr>
          <p:cNvPr id="18" name="">
            <a:extLst xmlns:a="http://schemas.openxmlformats.org/drawingml/2006/main">
              <a:ext uri="{FF2B5EF4-FFF2-40B4-BE49-F238E27FC236}">
                <a16:creationId xmlns:a16="http://schemas.microsoft.com/office/drawing/2014/main" id="{6A9D2970-EB08-4343-B3FE-F827C9BE70E0}"/>
              </a:ext>
            </a:extLst>
          </p:cNvPr>
          <p:cNvSpPr>
            <a:spLocks xmlns:a="http://schemas.openxmlformats.org/drawingml/2006/main" noGrp="1"/>
          </p:cNvSpPr>
          <p:nvPr/>
        </p:nvSpPr>
        <p:spPr>
          <a:xfrm xmlns:a="http://schemas.openxmlformats.org/drawingml/2006/main">
            <a:off x="8515350" y="4457700"/>
            <a:ext cx="2476500" cy="38100"/>
          </a:xfrm>
          <a:prstGeom xmlns:a="http://schemas.openxmlformats.org/drawingml/2006/main" prst="rect">
            <a:avLst/>
          </a:prstGeom>
          <a:solidFill xmlns:a="http://schemas.openxmlformats.org/drawingml/2006/main">
            <a:srgbClr val="FFCA6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D44311A-B108-4549-8D4C-E8EC2596472E}"/>
              </a:ext>
            </a:extLst>
          </p:cNvPr>
          <p:cNvSpPr>
            <a:spLocks xmlns:a="http://schemas.openxmlformats.org/drawingml/2006/main" noGrp="1"/>
          </p:cNvSpPr>
          <p:nvPr/>
        </p:nvSpPr>
        <p:spPr>
          <a:xfrm xmlns:a="http://schemas.openxmlformats.org/drawingml/2006/main">
            <a:off x="8515350" y="4629150"/>
            <a:ext cx="257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a:solidFill>
                  <a:srgbClr val="A6B7C8"/>
                </a:solidFill>
                <a:latin typeface="Liberation Sans"/>
                <a:ea typeface="Liberation Sans"/>
                <a:cs typeface="Liberation Sans"/>
              </a:defRPr>
            </a:pPr>
            <a:r>
              <a:rPr sz="1350" b="0">
                <a:solidFill>
                  <a:srgbClr val="A6B7C8"/>
                </a:solidFill>
                <a:latin typeface="Liberation Sans"/>
                <a:ea typeface="Liberation Sans"/>
                <a:cs typeface="Liberation Sans"/>
              </a:rPr>
              <a:t>Human review before higher risk actions</a:t>
            </a:r>
          </a:p>
        </p:txBody>
      </p:sp>
      <p:sp>
        <p:nvSpPr>
          <p:cNvPr id="20" name="">
            <a:extLst xmlns:a="http://schemas.openxmlformats.org/drawingml/2006/main">
              <a:ext uri="{FF2B5EF4-FFF2-40B4-BE49-F238E27FC236}">
                <a16:creationId xmlns:a16="http://schemas.microsoft.com/office/drawing/2014/main" id="{C11C5236-597C-49AC-BA9A-D422E7D2A606}"/>
              </a:ext>
            </a:extLst>
          </p:cNvPr>
          <p:cNvSpPr>
            <a:spLocks xmlns:a="http://schemas.openxmlformats.org/drawingml/2006/main" noGrp="1"/>
          </p:cNvSpPr>
          <p:nvPr/>
        </p:nvSpPr>
        <p:spPr>
          <a:xfrm xmlns:a="http://schemas.openxmlformats.org/drawingml/2006/main">
            <a:off x="3543300" y="2905125"/>
            <a:ext cx="1362075" cy="0"/>
          </a:xfrm>
          <a:prstGeom xmlns:a="http://schemas.openxmlformats.org/drawingml/2006/main" prst="line">
            <a:avLst/>
          </a:prstGeom>
          <a:noFill xmlns:a="http://schemas.openxmlformats.org/drawingml/2006/main"/>
          <a:ln xmlns:a="http://schemas.openxmlformats.org/drawingml/2006/main" w="14288">
            <a:solidFill>
              <a:srgbClr val="29445D"/>
            </a:solidFill>
            <a:prstDash val="solid"/>
          </a:ln>
        </p:spPr>
      </p:sp>
      <p:sp>
        <p:nvSpPr>
          <p:cNvPr id="21" name="">
            <a:extLst xmlns:a="http://schemas.openxmlformats.org/drawingml/2006/main">
              <a:ext uri="{FF2B5EF4-FFF2-40B4-BE49-F238E27FC236}">
                <a16:creationId xmlns:a16="http://schemas.microsoft.com/office/drawing/2014/main" id="{DB7DE00A-10A2-4C45-8C2A-E9041F00937B}"/>
              </a:ext>
            </a:extLst>
          </p:cNvPr>
          <p:cNvSpPr>
            <a:spLocks xmlns:a="http://schemas.openxmlformats.org/drawingml/2006/main" noGrp="1"/>
          </p:cNvSpPr>
          <p:nvPr/>
        </p:nvSpPr>
        <p:spPr>
          <a:xfrm xmlns:a="http://schemas.openxmlformats.org/drawingml/2006/main">
            <a:off x="3543300" y="3876675"/>
            <a:ext cx="1362075" cy="457200"/>
          </a:xfrm>
          <a:prstGeom xmlns:a="http://schemas.openxmlformats.org/drawingml/2006/main" prst="line">
            <a:avLst/>
          </a:prstGeom>
          <a:noFill xmlns:a="http://schemas.openxmlformats.org/drawingml/2006/main"/>
          <a:ln xmlns:a="http://schemas.openxmlformats.org/drawingml/2006/main" w="14288">
            <a:solidFill>
              <a:srgbClr val="29445D"/>
            </a:solidFill>
            <a:prstDash val="solid"/>
          </a:ln>
        </p:spPr>
      </p:sp>
      <p:sp>
        <p:nvSpPr>
          <p:cNvPr id="22" name="">
            <a:extLst xmlns:a="http://schemas.openxmlformats.org/drawingml/2006/main">
              <a:ext uri="{FF2B5EF4-FFF2-40B4-BE49-F238E27FC236}">
                <a16:creationId xmlns:a16="http://schemas.microsoft.com/office/drawing/2014/main" id="{4B903875-08EB-4B09-B382-1F27A7B0647F}"/>
              </a:ext>
            </a:extLst>
          </p:cNvPr>
          <p:cNvSpPr>
            <a:spLocks xmlns:a="http://schemas.openxmlformats.org/drawingml/2006/main" noGrp="1"/>
          </p:cNvSpPr>
          <p:nvPr/>
        </p:nvSpPr>
        <p:spPr>
          <a:xfrm xmlns:a="http://schemas.openxmlformats.org/drawingml/2006/main">
            <a:off x="7286625" y="2905125"/>
            <a:ext cx="1228725" cy="0"/>
          </a:xfrm>
          <a:prstGeom xmlns:a="http://schemas.openxmlformats.org/drawingml/2006/main" prst="line">
            <a:avLst/>
          </a:prstGeom>
          <a:noFill xmlns:a="http://schemas.openxmlformats.org/drawingml/2006/main"/>
          <a:ln xmlns:a="http://schemas.openxmlformats.org/drawingml/2006/main" w="14288">
            <a:solidFill>
              <a:srgbClr val="29445D"/>
            </a:solidFill>
            <a:prstDash val="solid"/>
          </a:ln>
        </p:spPr>
      </p:sp>
      <p:sp>
        <p:nvSpPr>
          <p:cNvPr id="23" name="">
            <a:extLst xmlns:a="http://schemas.openxmlformats.org/drawingml/2006/main">
              <a:ext uri="{FF2B5EF4-FFF2-40B4-BE49-F238E27FC236}">
                <a16:creationId xmlns:a16="http://schemas.microsoft.com/office/drawing/2014/main" id="{47E25AD9-9E58-4EDF-8564-DE17D1A561A6}"/>
              </a:ext>
            </a:extLst>
          </p:cNvPr>
          <p:cNvSpPr>
            <a:spLocks xmlns:a="http://schemas.openxmlformats.org/drawingml/2006/main" noGrp="1"/>
          </p:cNvSpPr>
          <p:nvPr/>
        </p:nvSpPr>
        <p:spPr>
          <a:xfrm xmlns:a="http://schemas.openxmlformats.org/drawingml/2006/main">
            <a:off x="7286625" y="3876675"/>
            <a:ext cx="1228725" cy="457200"/>
          </a:xfrm>
          <a:prstGeom xmlns:a="http://schemas.openxmlformats.org/drawingml/2006/main" prst="line">
            <a:avLst/>
          </a:prstGeom>
          <a:noFill xmlns:a="http://schemas.openxmlformats.org/drawingml/2006/main"/>
          <a:ln xmlns:a="http://schemas.openxmlformats.org/drawingml/2006/main" w="14288">
            <a:solidFill>
              <a:srgbClr val="29445D"/>
            </a:solidFill>
            <a:prstDash val="solid"/>
          </a:ln>
        </p:spPr>
      </p:sp>
    </p:spTree>
    <p:extLst>
      <p:ext uri="{BB962C8B-B14F-4D97-AF65-F5344CB8AC3E}">
        <p14:creationId xmlns:p14="http://schemas.microsoft.com/office/powerpoint/2010/main" val="1760983112"/>
      </p:ext>
    </p:extLst>
  </p:cSld>
</p:sld>
</file>

<file path=ppt/slides/slide4.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75899A8B-AA94-45C5-A80D-412EE71B628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54D6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F26E168-ADED-4E82-863E-6963A901E334}"/>
              </a:ext>
            </a:extLst>
          </p:cNvPr>
          <p:cNvSpPr>
            <a:spLocks xmlns:a="http://schemas.openxmlformats.org/drawingml/2006/main" noGrp="1"/>
          </p:cNvSpPr>
          <p:nvPr/>
        </p:nvSpPr>
        <p:spPr>
          <a:xfrm xmlns:a="http://schemas.openxmlformats.org/drawingml/2006/main">
            <a:off x="590550" y="400050"/>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F4F8FC"/>
                </a:solidFill>
                <a:latin typeface="Liberation Sans"/>
                <a:ea typeface="Liberation Sans"/>
                <a:cs typeface="Liberation Sans"/>
              </a:defRPr>
            </a:pPr>
            <a:r>
              <a:rPr sz="2550" b="1">
                <a:solidFill>
                  <a:srgbClr val="F4F8FC"/>
                </a:solidFill>
                <a:latin typeface="Liberation Sans"/>
                <a:ea typeface="Liberation Sans"/>
                <a:cs typeface="Liberation Sans"/>
              </a:rPr>
              <a:t>The KAOP control plane</a:t>
            </a:r>
          </a:p>
        </p:txBody>
      </p:sp>
      <p:sp>
        <p:nvSpPr>
          <p:cNvPr id="3" name="">
            <a:extLst xmlns:a="http://schemas.openxmlformats.org/drawingml/2006/main">
              <a:ext uri="{FF2B5EF4-FFF2-40B4-BE49-F238E27FC236}">
                <a16:creationId xmlns:a16="http://schemas.microsoft.com/office/drawing/2014/main" id="{9FEBAA4F-FD48-45E9-9A60-9926549A1753}"/>
              </a:ext>
            </a:extLst>
          </p:cNvPr>
          <p:cNvSpPr>
            <a:spLocks xmlns:a="http://schemas.openxmlformats.org/drawingml/2006/main" noGrp="1"/>
          </p:cNvSpPr>
          <p:nvPr/>
        </p:nvSpPr>
        <p:spPr>
          <a:xfrm xmlns:a="http://schemas.openxmlformats.org/drawingml/2006/main">
            <a:off x="60960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A6B7C8"/>
                </a:solidFill>
                <a:latin typeface="Liberation Sans"/>
                <a:ea typeface="Liberation Sans"/>
                <a:cs typeface="Liberation Sans"/>
              </a:defRPr>
            </a:pPr>
            <a:r>
              <a:rPr sz="1275" b="0">
                <a:solidFill>
                  <a:srgbClr val="A6B7C8"/>
                </a:solidFill>
                <a:latin typeface="Liberation Sans"/>
                <a:ea typeface="Liberation Sans"/>
                <a:cs typeface="Liberation Sans"/>
              </a:rPr>
              <a:t>Shared infrastructure surrounds both Komodor agents and custom agents</a:t>
            </a:r>
          </a:p>
        </p:txBody>
      </p:sp>
      <p:sp>
        <p:nvSpPr>
          <p:cNvPr id="4" name="">
            <a:extLst xmlns:a="http://schemas.openxmlformats.org/drawingml/2006/main">
              <a:ext uri="{FF2B5EF4-FFF2-40B4-BE49-F238E27FC236}">
                <a16:creationId xmlns:a16="http://schemas.microsoft.com/office/drawing/2014/main" id="{7B497CB5-14D2-4A4D-AE7F-BEFFCAAC3D22}"/>
              </a:ext>
            </a:extLst>
          </p:cNvPr>
          <p:cNvSpPr>
            <a:spLocks xmlns:a="http://schemas.openxmlformats.org/drawingml/2006/main" noGrp="1"/>
          </p:cNvSpPr>
          <p:nvPr/>
        </p:nvSpPr>
        <p:spPr>
          <a:xfrm xmlns:a="http://schemas.openxmlformats.org/drawingml/2006/main">
            <a:off x="11258550" y="62293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A6B7C8"/>
                </a:solidFill>
                <a:latin typeface="Liberation Sans"/>
                <a:ea typeface="Liberation Sans"/>
                <a:cs typeface="Liberation Sans"/>
              </a:defRPr>
            </a:pPr>
            <a:r>
              <a:rPr sz="900" b="0">
                <a:solidFill>
                  <a:srgbClr val="A6B7C8"/>
                </a:solidFill>
                <a:latin typeface="Liberation Sans"/>
                <a:ea typeface="Liberation Sans"/>
                <a:cs typeface="Liberation Sans"/>
              </a:rPr>
              <a:t>04</a:t>
            </a:r>
          </a:p>
        </p:txBody>
      </p:sp>
      <p:sp>
        <p:nvSpPr>
          <p:cNvPr id="5" name="">
            <a:extLst xmlns:a="http://schemas.openxmlformats.org/drawingml/2006/main">
              <a:ext uri="{FF2B5EF4-FFF2-40B4-BE49-F238E27FC236}">
                <a16:creationId xmlns:a16="http://schemas.microsoft.com/office/drawing/2014/main" id="{C775AC7D-B425-48DF-8452-D90A7A9C9D6C}"/>
              </a:ext>
            </a:extLst>
          </p:cNvPr>
          <p:cNvSpPr>
            <a:spLocks xmlns:a="http://schemas.openxmlformats.org/drawingml/2006/main" noGrp="1"/>
          </p:cNvSpPr>
          <p:nvPr/>
        </p:nvSpPr>
        <p:spPr>
          <a:xfrm xmlns:a="http://schemas.openxmlformats.org/drawingml/2006/main">
            <a:off x="590550" y="62293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A6B7C8"/>
                </a:solidFill>
                <a:latin typeface="Liberation Sans"/>
                <a:ea typeface="Liberation Sans"/>
                <a:cs typeface="Liberation Sans"/>
              </a:defRPr>
            </a:pPr>
            <a:r>
              <a:rPr sz="900" b="0">
                <a:solidFill>
                  <a:srgbClr val="A6B7C8"/>
                </a:solidFill>
                <a:latin typeface="Liberation Sans"/>
                <a:ea typeface="Liberation Sans"/>
                <a:cs typeface="Liberation Sans"/>
              </a:rPr>
              <a:t>KAOP by Nirit Terehovsky</a:t>
            </a:r>
          </a:p>
        </p:txBody>
      </p:sp>
      <p:sp>
        <p:nvSpPr>
          <p:cNvPr id="6" name="">
            <a:extLst xmlns:a="http://schemas.openxmlformats.org/drawingml/2006/main">
              <a:ext uri="{FF2B5EF4-FFF2-40B4-BE49-F238E27FC236}">
                <a16:creationId xmlns:a16="http://schemas.microsoft.com/office/drawing/2014/main" id="{BC816947-5E2A-414C-930B-C09BBC04A653}"/>
              </a:ext>
            </a:extLst>
          </p:cNvPr>
          <p:cNvSpPr>
            <a:spLocks xmlns:a="http://schemas.openxmlformats.org/drawingml/2006/main" noGrp="1"/>
          </p:cNvSpPr>
          <p:nvPr/>
        </p:nvSpPr>
        <p:spPr>
          <a:xfrm xmlns:a="http://schemas.openxmlformats.org/drawingml/2006/main">
            <a:off x="1143000" y="1466850"/>
            <a:ext cx="9906000" cy="742950"/>
          </a:xfrm>
          <a:prstGeom xmlns:a="http://schemas.openxmlformats.org/drawingml/2006/main" prst="roundRect">
            <a:avLst>
              <a:gd name="adj" fmla="val 20513"/>
            </a:avLst>
          </a:prstGeom>
          <a:solidFill xmlns:a="http://schemas.openxmlformats.org/drawingml/2006/main">
            <a:srgbClr val="142B42"/>
          </a:solidFill>
          <a:ln xmlns:a="http://schemas.openxmlformats.org/drawingml/2006/main" w="14288">
            <a:solidFill>
              <a:srgbClr val="29445D"/>
            </a:solidFill>
            <a:prstDash val="solid"/>
          </a:ln>
        </p:spPr>
      </p:sp>
      <p:sp>
        <p:nvSpPr>
          <p:cNvPr id="7" name="">
            <a:extLst xmlns:a="http://schemas.openxmlformats.org/drawingml/2006/main">
              <a:ext uri="{FF2B5EF4-FFF2-40B4-BE49-F238E27FC236}">
                <a16:creationId xmlns:a16="http://schemas.microsoft.com/office/drawing/2014/main" id="{F8291E5A-7D4D-412B-BD07-ADB677DB87FF}"/>
              </a:ext>
            </a:extLst>
          </p:cNvPr>
          <p:cNvSpPr>
            <a:spLocks xmlns:a="http://schemas.openxmlformats.org/drawingml/2006/main" noGrp="1"/>
          </p:cNvSpPr>
          <p:nvPr/>
        </p:nvSpPr>
        <p:spPr>
          <a:xfrm xmlns:a="http://schemas.openxmlformats.org/drawingml/2006/main">
            <a:off x="1143000" y="1466850"/>
            <a:ext cx="114300" cy="742950"/>
          </a:xfrm>
          <a:prstGeom xmlns:a="http://schemas.openxmlformats.org/drawingml/2006/main" prst="rect">
            <a:avLst/>
          </a:prstGeom>
          <a:solidFill xmlns:a="http://schemas.openxmlformats.org/drawingml/2006/main">
            <a:srgbClr val="54D6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1B71D70-AF25-4FDF-B5E3-7B176A08867B}"/>
              </a:ext>
            </a:extLst>
          </p:cNvPr>
          <p:cNvSpPr>
            <a:spLocks xmlns:a="http://schemas.openxmlformats.org/drawingml/2006/main" noGrp="1"/>
          </p:cNvSpPr>
          <p:nvPr/>
        </p:nvSpPr>
        <p:spPr>
          <a:xfrm xmlns:a="http://schemas.openxmlformats.org/drawingml/2006/main">
            <a:off x="1562100" y="1581150"/>
            <a:ext cx="1809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025" b="1">
                <a:solidFill>
                  <a:srgbClr val="54D6FF"/>
                </a:solidFill>
                <a:latin typeface="Liberation Sans"/>
                <a:ea typeface="Liberation Sans"/>
                <a:cs typeface="Liberation Sans"/>
              </a:defRPr>
            </a:pPr>
            <a:r>
              <a:rPr sz="2025" b="1">
                <a:solidFill>
                  <a:srgbClr val="54D6FF"/>
                </a:solidFill>
                <a:latin typeface="Liberation Sans"/>
                <a:ea typeface="Liberation Sans"/>
                <a:cs typeface="Liberation Sans"/>
              </a:rPr>
              <a:t>Fleet</a:t>
            </a:r>
          </a:p>
        </p:txBody>
      </p:sp>
      <p:sp>
        <p:nvSpPr>
          <p:cNvPr id="9" name="">
            <a:extLst xmlns:a="http://schemas.openxmlformats.org/drawingml/2006/main">
              <a:ext uri="{FF2B5EF4-FFF2-40B4-BE49-F238E27FC236}">
                <a16:creationId xmlns:a16="http://schemas.microsoft.com/office/drawing/2014/main" id="{9644964D-E12F-4770-872C-2F8AB601B10A}"/>
              </a:ext>
            </a:extLst>
          </p:cNvPr>
          <p:cNvSpPr>
            <a:spLocks xmlns:a="http://schemas.openxmlformats.org/drawingml/2006/main" noGrp="1"/>
          </p:cNvSpPr>
          <p:nvPr/>
        </p:nvSpPr>
        <p:spPr>
          <a:xfrm xmlns:a="http://schemas.openxmlformats.org/drawingml/2006/main">
            <a:off x="3429000" y="1581150"/>
            <a:ext cx="695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F4F8FC"/>
                </a:solidFill>
                <a:latin typeface="Liberation Sans"/>
                <a:ea typeface="Liberation Sans"/>
                <a:cs typeface="Liberation Sans"/>
              </a:defRPr>
            </a:pPr>
            <a:r>
              <a:rPr sz="1575" b="0">
                <a:solidFill>
                  <a:srgbClr val="F4F8FC"/>
                </a:solidFill>
                <a:latin typeface="Liberation Sans"/>
                <a:ea typeface="Liberation Sans"/>
                <a:cs typeface="Liberation Sans"/>
              </a:rPr>
              <a:t>Inventory, ownership, health, versions</a:t>
            </a:r>
          </a:p>
        </p:txBody>
      </p:sp>
      <p:sp>
        <p:nvSpPr>
          <p:cNvPr id="10" name="">
            <a:extLst xmlns:a="http://schemas.openxmlformats.org/drawingml/2006/main">
              <a:ext uri="{FF2B5EF4-FFF2-40B4-BE49-F238E27FC236}">
                <a16:creationId xmlns:a16="http://schemas.microsoft.com/office/drawing/2014/main" id="{EE6D0CBD-A150-40D8-8815-1C1A0896610B}"/>
              </a:ext>
            </a:extLst>
          </p:cNvPr>
          <p:cNvSpPr>
            <a:spLocks xmlns:a="http://schemas.openxmlformats.org/drawingml/2006/main" noGrp="1"/>
          </p:cNvSpPr>
          <p:nvPr/>
        </p:nvSpPr>
        <p:spPr>
          <a:xfrm xmlns:a="http://schemas.openxmlformats.org/drawingml/2006/main">
            <a:off x="1143000" y="2457450"/>
            <a:ext cx="9906000" cy="742950"/>
          </a:xfrm>
          <a:prstGeom xmlns:a="http://schemas.openxmlformats.org/drawingml/2006/main" prst="roundRect">
            <a:avLst>
              <a:gd name="adj" fmla="val 20513"/>
            </a:avLst>
          </a:prstGeom>
          <a:solidFill xmlns:a="http://schemas.openxmlformats.org/drawingml/2006/main">
            <a:srgbClr val="102338"/>
          </a:solidFill>
          <a:ln xmlns:a="http://schemas.openxmlformats.org/drawingml/2006/main" w="14288">
            <a:solidFill>
              <a:srgbClr val="29445D"/>
            </a:solidFill>
            <a:prstDash val="solid"/>
          </a:ln>
        </p:spPr>
      </p:sp>
      <p:sp>
        <p:nvSpPr>
          <p:cNvPr id="11" name="">
            <a:extLst xmlns:a="http://schemas.openxmlformats.org/drawingml/2006/main">
              <a:ext uri="{FF2B5EF4-FFF2-40B4-BE49-F238E27FC236}">
                <a16:creationId xmlns:a16="http://schemas.microsoft.com/office/drawing/2014/main" id="{962CD33D-D5E5-4968-A71A-82F4BFE1F819}"/>
              </a:ext>
            </a:extLst>
          </p:cNvPr>
          <p:cNvSpPr>
            <a:spLocks xmlns:a="http://schemas.openxmlformats.org/drawingml/2006/main" noGrp="1"/>
          </p:cNvSpPr>
          <p:nvPr/>
        </p:nvSpPr>
        <p:spPr>
          <a:xfrm xmlns:a="http://schemas.openxmlformats.org/drawingml/2006/main">
            <a:off x="1143000" y="2457450"/>
            <a:ext cx="114300" cy="742950"/>
          </a:xfrm>
          <a:prstGeom xmlns:a="http://schemas.openxmlformats.org/drawingml/2006/main" prst="rect">
            <a:avLst/>
          </a:prstGeom>
          <a:solidFill xmlns:a="http://schemas.openxmlformats.org/drawingml/2006/main">
            <a:srgbClr val="9A7BF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642C837-35D2-45D8-959C-BF925241AA2B}"/>
              </a:ext>
            </a:extLst>
          </p:cNvPr>
          <p:cNvSpPr>
            <a:spLocks xmlns:a="http://schemas.openxmlformats.org/drawingml/2006/main" noGrp="1"/>
          </p:cNvSpPr>
          <p:nvPr/>
        </p:nvSpPr>
        <p:spPr>
          <a:xfrm xmlns:a="http://schemas.openxmlformats.org/drawingml/2006/main">
            <a:off x="1562100" y="2571750"/>
            <a:ext cx="1809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025" b="1">
                <a:solidFill>
                  <a:srgbClr val="9A7BFF"/>
                </a:solidFill>
                <a:latin typeface="Liberation Sans"/>
                <a:ea typeface="Liberation Sans"/>
                <a:cs typeface="Liberation Sans"/>
              </a:defRPr>
            </a:pPr>
            <a:r>
              <a:rPr sz="2025" b="1">
                <a:solidFill>
                  <a:srgbClr val="9A7BFF"/>
                </a:solidFill>
                <a:latin typeface="Liberation Sans"/>
                <a:ea typeface="Liberation Sans"/>
                <a:cs typeface="Liberation Sans"/>
              </a:rPr>
              <a:t>Run</a:t>
            </a:r>
          </a:p>
        </p:txBody>
      </p:sp>
      <p:sp>
        <p:nvSpPr>
          <p:cNvPr id="13" name="">
            <a:extLst xmlns:a="http://schemas.openxmlformats.org/drawingml/2006/main">
              <a:ext uri="{FF2B5EF4-FFF2-40B4-BE49-F238E27FC236}">
                <a16:creationId xmlns:a16="http://schemas.microsoft.com/office/drawing/2014/main" id="{5118960A-ABB8-4B25-948B-61DBD0CB8A04}"/>
              </a:ext>
            </a:extLst>
          </p:cNvPr>
          <p:cNvSpPr>
            <a:spLocks xmlns:a="http://schemas.openxmlformats.org/drawingml/2006/main" noGrp="1"/>
          </p:cNvSpPr>
          <p:nvPr/>
        </p:nvSpPr>
        <p:spPr>
          <a:xfrm xmlns:a="http://schemas.openxmlformats.org/drawingml/2006/main">
            <a:off x="3429000" y="2571750"/>
            <a:ext cx="695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F4F8FC"/>
                </a:solidFill>
                <a:latin typeface="Liberation Sans"/>
                <a:ea typeface="Liberation Sans"/>
                <a:cs typeface="Liberation Sans"/>
              </a:defRPr>
            </a:pPr>
            <a:r>
              <a:rPr sz="1575" b="0">
                <a:solidFill>
                  <a:srgbClr val="F4F8FC"/>
                </a:solidFill>
                <a:latin typeface="Liberation Sans"/>
                <a:ea typeface="Liberation Sans"/>
                <a:cs typeface="Liberation Sans"/>
              </a:rPr>
              <a:t>Triggers, workflows, agent handoffs, run history</a:t>
            </a:r>
          </a:p>
        </p:txBody>
      </p:sp>
      <p:sp>
        <p:nvSpPr>
          <p:cNvPr id="14" name="">
            <a:extLst xmlns:a="http://schemas.openxmlformats.org/drawingml/2006/main">
              <a:ext uri="{FF2B5EF4-FFF2-40B4-BE49-F238E27FC236}">
                <a16:creationId xmlns:a16="http://schemas.microsoft.com/office/drawing/2014/main" id="{058F3A25-BC17-43AF-B7E4-4D3F25671E6C}"/>
              </a:ext>
            </a:extLst>
          </p:cNvPr>
          <p:cNvSpPr>
            <a:spLocks xmlns:a="http://schemas.openxmlformats.org/drawingml/2006/main" noGrp="1"/>
          </p:cNvSpPr>
          <p:nvPr/>
        </p:nvSpPr>
        <p:spPr>
          <a:xfrm xmlns:a="http://schemas.openxmlformats.org/drawingml/2006/main">
            <a:off x="1143000" y="3448050"/>
            <a:ext cx="9906000" cy="742950"/>
          </a:xfrm>
          <a:prstGeom xmlns:a="http://schemas.openxmlformats.org/drawingml/2006/main" prst="roundRect">
            <a:avLst>
              <a:gd name="adj" fmla="val 20513"/>
            </a:avLst>
          </a:prstGeom>
          <a:solidFill xmlns:a="http://schemas.openxmlformats.org/drawingml/2006/main">
            <a:srgbClr val="102338"/>
          </a:solidFill>
          <a:ln xmlns:a="http://schemas.openxmlformats.org/drawingml/2006/main" w="14288">
            <a:solidFill>
              <a:srgbClr val="29445D"/>
            </a:solidFill>
            <a:prstDash val="solid"/>
          </a:ln>
        </p:spPr>
      </p:sp>
      <p:sp>
        <p:nvSpPr>
          <p:cNvPr id="15" name="">
            <a:extLst xmlns:a="http://schemas.openxmlformats.org/drawingml/2006/main">
              <a:ext uri="{FF2B5EF4-FFF2-40B4-BE49-F238E27FC236}">
                <a16:creationId xmlns:a16="http://schemas.microsoft.com/office/drawing/2014/main" id="{ABF4B214-E654-4C93-8EC2-A3D25AE844B5}"/>
              </a:ext>
            </a:extLst>
          </p:cNvPr>
          <p:cNvSpPr>
            <a:spLocks xmlns:a="http://schemas.openxmlformats.org/drawingml/2006/main" noGrp="1"/>
          </p:cNvSpPr>
          <p:nvPr/>
        </p:nvSpPr>
        <p:spPr>
          <a:xfrm xmlns:a="http://schemas.openxmlformats.org/drawingml/2006/main">
            <a:off x="1143000" y="3448050"/>
            <a:ext cx="114300" cy="742950"/>
          </a:xfrm>
          <a:prstGeom xmlns:a="http://schemas.openxmlformats.org/drawingml/2006/main" prst="rect">
            <a:avLst/>
          </a:prstGeom>
          <a:solidFill xmlns:a="http://schemas.openxmlformats.org/drawingml/2006/main">
            <a:srgbClr val="68E1C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8B8A2C2-49C4-4BDE-8C8E-BD018842DFC7}"/>
              </a:ext>
            </a:extLst>
          </p:cNvPr>
          <p:cNvSpPr>
            <a:spLocks xmlns:a="http://schemas.openxmlformats.org/drawingml/2006/main" noGrp="1"/>
          </p:cNvSpPr>
          <p:nvPr/>
        </p:nvSpPr>
        <p:spPr>
          <a:xfrm xmlns:a="http://schemas.openxmlformats.org/drawingml/2006/main">
            <a:off x="1562100" y="3562350"/>
            <a:ext cx="1809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025" b="1">
                <a:solidFill>
                  <a:srgbClr val="68E1C4"/>
                </a:solidFill>
                <a:latin typeface="Liberation Sans"/>
                <a:ea typeface="Liberation Sans"/>
                <a:cs typeface="Liberation Sans"/>
              </a:defRPr>
            </a:pPr>
            <a:r>
              <a:rPr sz="2025" b="1">
                <a:solidFill>
                  <a:srgbClr val="68E1C4"/>
                </a:solidFill>
                <a:latin typeface="Liberation Sans"/>
                <a:ea typeface="Liberation Sans"/>
                <a:cs typeface="Liberation Sans"/>
              </a:rPr>
              <a:t>Context</a:t>
            </a:r>
          </a:p>
        </p:txBody>
      </p:sp>
      <p:sp>
        <p:nvSpPr>
          <p:cNvPr id="17" name="">
            <a:extLst xmlns:a="http://schemas.openxmlformats.org/drawingml/2006/main">
              <a:ext uri="{FF2B5EF4-FFF2-40B4-BE49-F238E27FC236}">
                <a16:creationId xmlns:a16="http://schemas.microsoft.com/office/drawing/2014/main" id="{E4A1DD3C-3E24-40FC-895D-DDD350A3D413}"/>
              </a:ext>
            </a:extLst>
          </p:cNvPr>
          <p:cNvSpPr>
            <a:spLocks xmlns:a="http://schemas.openxmlformats.org/drawingml/2006/main" noGrp="1"/>
          </p:cNvSpPr>
          <p:nvPr/>
        </p:nvSpPr>
        <p:spPr>
          <a:xfrm xmlns:a="http://schemas.openxmlformats.org/drawingml/2006/main">
            <a:off x="3429000" y="3562350"/>
            <a:ext cx="695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F4F8FC"/>
                </a:solidFill>
                <a:latin typeface="Liberation Sans"/>
                <a:ea typeface="Liberation Sans"/>
                <a:cs typeface="Liberation Sans"/>
              </a:defRPr>
            </a:pPr>
            <a:r>
              <a:rPr sz="1575" b="0">
                <a:solidFill>
                  <a:srgbClr val="F4F8FC"/>
                </a:solidFill>
                <a:latin typeface="Liberation Sans"/>
                <a:ea typeface="Liberation Sans"/>
                <a:cs typeface="Liberation Sans"/>
              </a:rPr>
              <a:t>Memory, knowledge graph, integrations</a:t>
            </a:r>
          </a:p>
        </p:txBody>
      </p:sp>
      <p:sp>
        <p:nvSpPr>
          <p:cNvPr id="18" name="">
            <a:extLst xmlns:a="http://schemas.openxmlformats.org/drawingml/2006/main">
              <a:ext uri="{FF2B5EF4-FFF2-40B4-BE49-F238E27FC236}">
                <a16:creationId xmlns:a16="http://schemas.microsoft.com/office/drawing/2014/main" id="{35AF1F32-986D-4B1C-B3E2-D46EAD72C44C}"/>
              </a:ext>
            </a:extLst>
          </p:cNvPr>
          <p:cNvSpPr>
            <a:spLocks xmlns:a="http://schemas.openxmlformats.org/drawingml/2006/main" noGrp="1"/>
          </p:cNvSpPr>
          <p:nvPr/>
        </p:nvSpPr>
        <p:spPr>
          <a:xfrm xmlns:a="http://schemas.openxmlformats.org/drawingml/2006/main">
            <a:off x="1143000" y="4438650"/>
            <a:ext cx="9906000" cy="742950"/>
          </a:xfrm>
          <a:prstGeom xmlns:a="http://schemas.openxmlformats.org/drawingml/2006/main" prst="roundRect">
            <a:avLst>
              <a:gd name="adj" fmla="val 20513"/>
            </a:avLst>
          </a:prstGeom>
          <a:solidFill xmlns:a="http://schemas.openxmlformats.org/drawingml/2006/main">
            <a:srgbClr val="102338"/>
          </a:solidFill>
          <a:ln xmlns:a="http://schemas.openxmlformats.org/drawingml/2006/main" w="14288">
            <a:solidFill>
              <a:srgbClr val="29445D"/>
            </a:solidFill>
            <a:prstDash val="solid"/>
          </a:ln>
        </p:spPr>
      </p:sp>
      <p:sp>
        <p:nvSpPr>
          <p:cNvPr id="19" name="">
            <a:extLst xmlns:a="http://schemas.openxmlformats.org/drawingml/2006/main">
              <a:ext uri="{FF2B5EF4-FFF2-40B4-BE49-F238E27FC236}">
                <a16:creationId xmlns:a16="http://schemas.microsoft.com/office/drawing/2014/main" id="{55DA0100-7BB9-4FE1-993A-7D01620C72FB}"/>
              </a:ext>
            </a:extLst>
          </p:cNvPr>
          <p:cNvSpPr>
            <a:spLocks xmlns:a="http://schemas.openxmlformats.org/drawingml/2006/main" noGrp="1"/>
          </p:cNvSpPr>
          <p:nvPr/>
        </p:nvSpPr>
        <p:spPr>
          <a:xfrm xmlns:a="http://schemas.openxmlformats.org/drawingml/2006/main">
            <a:off x="1143000" y="4438650"/>
            <a:ext cx="114300" cy="742950"/>
          </a:xfrm>
          <a:prstGeom xmlns:a="http://schemas.openxmlformats.org/drawingml/2006/main" prst="rect">
            <a:avLst/>
          </a:prstGeom>
          <a:solidFill xmlns:a="http://schemas.openxmlformats.org/drawingml/2006/main">
            <a:srgbClr val="FFCA6B"/>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4DB56F3-A71F-4A62-9A81-B02EE5ED6E76}"/>
              </a:ext>
            </a:extLst>
          </p:cNvPr>
          <p:cNvSpPr>
            <a:spLocks xmlns:a="http://schemas.openxmlformats.org/drawingml/2006/main" noGrp="1"/>
          </p:cNvSpPr>
          <p:nvPr/>
        </p:nvSpPr>
        <p:spPr>
          <a:xfrm xmlns:a="http://schemas.openxmlformats.org/drawingml/2006/main">
            <a:off x="1562100" y="4552950"/>
            <a:ext cx="1809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025" b="1">
                <a:solidFill>
                  <a:srgbClr val="FFCA6B"/>
                </a:solidFill>
                <a:latin typeface="Liberation Sans"/>
                <a:ea typeface="Liberation Sans"/>
                <a:cs typeface="Liberation Sans"/>
              </a:defRPr>
            </a:pPr>
            <a:r>
              <a:rPr sz="2025" b="1">
                <a:solidFill>
                  <a:srgbClr val="FFCA6B"/>
                </a:solidFill>
                <a:latin typeface="Liberation Sans"/>
                <a:ea typeface="Liberation Sans"/>
                <a:cs typeface="Liberation Sans"/>
              </a:rPr>
              <a:t>Govern</a:t>
            </a:r>
          </a:p>
        </p:txBody>
      </p:sp>
      <p:sp>
        <p:nvSpPr>
          <p:cNvPr id="21" name="">
            <a:extLst xmlns:a="http://schemas.openxmlformats.org/drawingml/2006/main">
              <a:ext uri="{FF2B5EF4-FFF2-40B4-BE49-F238E27FC236}">
                <a16:creationId xmlns:a16="http://schemas.microsoft.com/office/drawing/2014/main" id="{DB9F54CA-765F-475E-9A37-C60777D94DB1}"/>
              </a:ext>
            </a:extLst>
          </p:cNvPr>
          <p:cNvSpPr>
            <a:spLocks xmlns:a="http://schemas.openxmlformats.org/drawingml/2006/main" noGrp="1"/>
          </p:cNvSpPr>
          <p:nvPr/>
        </p:nvSpPr>
        <p:spPr>
          <a:xfrm xmlns:a="http://schemas.openxmlformats.org/drawingml/2006/main">
            <a:off x="3429000" y="4552950"/>
            <a:ext cx="695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F4F8FC"/>
                </a:solidFill>
                <a:latin typeface="Liberation Sans"/>
                <a:ea typeface="Liberation Sans"/>
                <a:cs typeface="Liberation Sans"/>
              </a:defRPr>
            </a:pPr>
            <a:r>
              <a:rPr sz="1575" b="0">
                <a:solidFill>
                  <a:srgbClr val="F4F8FC"/>
                </a:solidFill>
                <a:latin typeface="Liberation Sans"/>
                <a:ea typeface="Liberation Sans"/>
                <a:cs typeface="Liberation Sans"/>
              </a:rPr>
              <a:t>RBAC, credentials, guardrails, approvals, audit</a:t>
            </a:r>
          </a:p>
        </p:txBody>
      </p:sp>
      <p:sp>
        <p:nvSpPr>
          <p:cNvPr id="22" name="">
            <a:extLst xmlns:a="http://schemas.openxmlformats.org/drawingml/2006/main">
              <a:ext uri="{FF2B5EF4-FFF2-40B4-BE49-F238E27FC236}">
                <a16:creationId xmlns:a16="http://schemas.microsoft.com/office/drawing/2014/main" id="{7A305885-2C6B-4238-8494-07BF81C370ED}"/>
              </a:ext>
            </a:extLst>
          </p:cNvPr>
          <p:cNvSpPr>
            <a:spLocks xmlns:a="http://schemas.openxmlformats.org/drawingml/2006/main" noGrp="1"/>
          </p:cNvSpPr>
          <p:nvPr/>
        </p:nvSpPr>
        <p:spPr>
          <a:xfrm xmlns:a="http://schemas.openxmlformats.org/drawingml/2006/main">
            <a:off x="1790700" y="5581650"/>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F4F8FC"/>
                </a:solidFill>
                <a:latin typeface="Liberation Sans"/>
                <a:ea typeface="Liberation Sans"/>
                <a:cs typeface="Liberation Sans"/>
              </a:defRPr>
            </a:pPr>
            <a:r>
              <a:rPr sz="1650" b="1">
                <a:solidFill>
                  <a:srgbClr val="F4F8FC"/>
                </a:solidFill>
                <a:latin typeface="Liberation Sans"/>
                <a:ea typeface="Liberation Sans"/>
                <a:cs typeface="Liberation Sans"/>
              </a:rPr>
              <a:t>One operating model across runtimes, models, and teams</a:t>
            </a:r>
          </a:p>
        </p:txBody>
      </p:sp>
    </p:spTree>
    <p:extLst>
      <p:ext uri="{BB962C8B-B14F-4D97-AF65-F5344CB8AC3E}">
        <p14:creationId xmlns:p14="http://schemas.microsoft.com/office/powerpoint/2010/main" val="435294066"/>
      </p:ext>
    </p:extLst>
  </p:cSld>
</p:sld>
</file>

<file path=ppt/slides/slide5.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1B9F41A0-1199-4CC6-BB4E-2CDA22C245E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54D6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1CE1A3B-7E5E-4E22-9131-C22E09A3097E}"/>
              </a:ext>
            </a:extLst>
          </p:cNvPr>
          <p:cNvSpPr>
            <a:spLocks xmlns:a="http://schemas.openxmlformats.org/drawingml/2006/main" noGrp="1"/>
          </p:cNvSpPr>
          <p:nvPr/>
        </p:nvSpPr>
        <p:spPr>
          <a:xfrm xmlns:a="http://schemas.openxmlformats.org/drawingml/2006/main">
            <a:off x="590550" y="400050"/>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F4F8FC"/>
                </a:solidFill>
                <a:latin typeface="Liberation Sans"/>
                <a:ea typeface="Liberation Sans"/>
                <a:cs typeface="Liberation Sans"/>
              </a:defRPr>
            </a:pPr>
            <a:r>
              <a:rPr sz="2550" b="1">
                <a:solidFill>
                  <a:srgbClr val="F4F8FC"/>
                </a:solidFill>
                <a:latin typeface="Liberation Sans"/>
                <a:ea typeface="Liberation Sans"/>
                <a:cs typeface="Liberation Sans"/>
              </a:rPr>
              <a:t>Workflow orchestration from trigger to outcome</a:t>
            </a:r>
          </a:p>
        </p:txBody>
      </p:sp>
      <p:sp>
        <p:nvSpPr>
          <p:cNvPr id="3" name="">
            <a:extLst xmlns:a="http://schemas.openxmlformats.org/drawingml/2006/main">
              <a:ext uri="{FF2B5EF4-FFF2-40B4-BE49-F238E27FC236}">
                <a16:creationId xmlns:a16="http://schemas.microsoft.com/office/drawing/2014/main" id="{B4DD2899-4353-42C7-A316-D1A4559FE426}"/>
              </a:ext>
            </a:extLst>
          </p:cNvPr>
          <p:cNvSpPr>
            <a:spLocks xmlns:a="http://schemas.openxmlformats.org/drawingml/2006/main" noGrp="1"/>
          </p:cNvSpPr>
          <p:nvPr/>
        </p:nvSpPr>
        <p:spPr>
          <a:xfrm xmlns:a="http://schemas.openxmlformats.org/drawingml/2006/main">
            <a:off x="60960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A6B7C8"/>
                </a:solidFill>
                <a:latin typeface="Liberation Sans"/>
                <a:ea typeface="Liberation Sans"/>
                <a:cs typeface="Liberation Sans"/>
              </a:defRPr>
            </a:pPr>
            <a:r>
              <a:rPr sz="1275" b="0">
                <a:solidFill>
                  <a:srgbClr val="A6B7C8"/>
                </a:solidFill>
                <a:latin typeface="Liberation Sans"/>
                <a:ea typeface="Liberation Sans"/>
                <a:cs typeface="Liberation Sans"/>
              </a:rPr>
              <a:t>A defined workflow turns agent capability into a repeatable operational process</a:t>
            </a:r>
          </a:p>
        </p:txBody>
      </p:sp>
      <p:sp>
        <p:nvSpPr>
          <p:cNvPr id="4" name="">
            <a:extLst xmlns:a="http://schemas.openxmlformats.org/drawingml/2006/main">
              <a:ext uri="{FF2B5EF4-FFF2-40B4-BE49-F238E27FC236}">
                <a16:creationId xmlns:a16="http://schemas.microsoft.com/office/drawing/2014/main" id="{4015DFEC-064D-45A7-80E2-A224A2350E4F}"/>
              </a:ext>
            </a:extLst>
          </p:cNvPr>
          <p:cNvSpPr>
            <a:spLocks xmlns:a="http://schemas.openxmlformats.org/drawingml/2006/main" noGrp="1"/>
          </p:cNvSpPr>
          <p:nvPr/>
        </p:nvSpPr>
        <p:spPr>
          <a:xfrm xmlns:a="http://schemas.openxmlformats.org/drawingml/2006/main">
            <a:off x="11258550" y="62293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A6B7C8"/>
                </a:solidFill>
                <a:latin typeface="Liberation Sans"/>
                <a:ea typeface="Liberation Sans"/>
                <a:cs typeface="Liberation Sans"/>
              </a:defRPr>
            </a:pPr>
            <a:r>
              <a:rPr sz="900" b="0">
                <a:solidFill>
                  <a:srgbClr val="A6B7C8"/>
                </a:solidFill>
                <a:latin typeface="Liberation Sans"/>
                <a:ea typeface="Liberation Sans"/>
                <a:cs typeface="Liberation Sans"/>
              </a:rPr>
              <a:t>05</a:t>
            </a:r>
          </a:p>
        </p:txBody>
      </p:sp>
      <p:sp>
        <p:nvSpPr>
          <p:cNvPr id="5" name="">
            <a:extLst xmlns:a="http://schemas.openxmlformats.org/drawingml/2006/main">
              <a:ext uri="{FF2B5EF4-FFF2-40B4-BE49-F238E27FC236}">
                <a16:creationId xmlns:a16="http://schemas.microsoft.com/office/drawing/2014/main" id="{69677194-B73E-4930-8221-FD8F1277CD3B}"/>
              </a:ext>
            </a:extLst>
          </p:cNvPr>
          <p:cNvSpPr>
            <a:spLocks xmlns:a="http://schemas.openxmlformats.org/drawingml/2006/main" noGrp="1"/>
          </p:cNvSpPr>
          <p:nvPr/>
        </p:nvSpPr>
        <p:spPr>
          <a:xfrm xmlns:a="http://schemas.openxmlformats.org/drawingml/2006/main">
            <a:off x="590550" y="62293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A6B7C8"/>
                </a:solidFill>
                <a:latin typeface="Liberation Sans"/>
                <a:ea typeface="Liberation Sans"/>
                <a:cs typeface="Liberation Sans"/>
              </a:defRPr>
            </a:pPr>
            <a:r>
              <a:rPr sz="900" b="0">
                <a:solidFill>
                  <a:srgbClr val="A6B7C8"/>
                </a:solidFill>
                <a:latin typeface="Liberation Sans"/>
                <a:ea typeface="Liberation Sans"/>
                <a:cs typeface="Liberation Sans"/>
              </a:rPr>
              <a:t>KAOP by Nirit Terehovsky</a:t>
            </a:r>
          </a:p>
        </p:txBody>
      </p:sp>
      <p:sp>
        <p:nvSpPr>
          <p:cNvPr id="6" name="">
            <a:extLst xmlns:a="http://schemas.openxmlformats.org/drawingml/2006/main">
              <a:ext uri="{FF2B5EF4-FFF2-40B4-BE49-F238E27FC236}">
                <a16:creationId xmlns:a16="http://schemas.microsoft.com/office/drawing/2014/main" id="{E64D1D62-6849-4153-917F-09BF7D12BFB9}"/>
              </a:ext>
            </a:extLst>
          </p:cNvPr>
          <p:cNvSpPr>
            <a:spLocks xmlns:a="http://schemas.openxmlformats.org/drawingml/2006/main" noGrp="1"/>
          </p:cNvSpPr>
          <p:nvPr/>
        </p:nvSpPr>
        <p:spPr>
          <a:xfrm xmlns:a="http://schemas.openxmlformats.org/drawingml/2006/main">
            <a:off x="1257300" y="1924050"/>
            <a:ext cx="704850" cy="704850"/>
          </a:xfrm>
          <a:prstGeom xmlns:a="http://schemas.openxmlformats.org/drawingml/2006/main" prst="ellipse">
            <a:avLst/>
          </a:prstGeom>
          <a:solidFill xmlns:a="http://schemas.openxmlformats.org/drawingml/2006/main">
            <a:srgbClr val="54D6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B79FE3A-067C-42CD-88F3-A688C04E6F3A}"/>
              </a:ext>
            </a:extLst>
          </p:cNvPr>
          <p:cNvSpPr>
            <a:spLocks xmlns:a="http://schemas.openxmlformats.org/drawingml/2006/main" noGrp="1"/>
          </p:cNvSpPr>
          <p:nvPr/>
        </p:nvSpPr>
        <p:spPr>
          <a:xfrm xmlns:a="http://schemas.openxmlformats.org/drawingml/2006/main">
            <a:off x="1257300" y="1924050"/>
            <a:ext cx="7048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00" b="1">
                <a:solidFill>
                  <a:srgbClr val="07111C"/>
                </a:solidFill>
                <a:latin typeface="Liberation Sans"/>
                <a:ea typeface="Liberation Sans"/>
                <a:cs typeface="Liberation Sans"/>
              </a:defRPr>
            </a:pPr>
            <a:r>
              <a:rPr sz="2100" b="1">
                <a:solidFill>
                  <a:srgbClr val="07111C"/>
                </a:solidFill>
                <a:latin typeface="Liberation Sans"/>
                <a:ea typeface="Liberation Sans"/>
                <a:cs typeface="Liberation Sans"/>
              </a:rPr>
              <a:t>1</a:t>
            </a:r>
          </a:p>
        </p:txBody>
      </p:sp>
      <p:sp>
        <p:nvSpPr>
          <p:cNvPr id="8" name="">
            <a:extLst xmlns:a="http://schemas.openxmlformats.org/drawingml/2006/main">
              <a:ext uri="{FF2B5EF4-FFF2-40B4-BE49-F238E27FC236}">
                <a16:creationId xmlns:a16="http://schemas.microsoft.com/office/drawing/2014/main" id="{95BDF4BA-E0B9-445C-A202-3B24CF84C094}"/>
              </a:ext>
            </a:extLst>
          </p:cNvPr>
          <p:cNvSpPr>
            <a:spLocks xmlns:a="http://schemas.openxmlformats.org/drawingml/2006/main" noGrp="1"/>
          </p:cNvSpPr>
          <p:nvPr/>
        </p:nvSpPr>
        <p:spPr>
          <a:xfrm xmlns:a="http://schemas.openxmlformats.org/drawingml/2006/main">
            <a:off x="704850" y="287655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406"/>
          </a:bodyPr>
          <a:lstStyle xmlns:a="http://schemas.openxmlformats.org/drawingml/2006/main"/>
          <a:p xmlns:a="http://schemas.openxmlformats.org/drawingml/2006/main">
            <a:pPr>
              <a:defRPr sz="1725" b="1">
                <a:solidFill>
                  <a:srgbClr val="F4F8FC"/>
                </a:solidFill>
                <a:latin typeface="Liberation Sans"/>
                <a:ea typeface="Liberation Sans"/>
                <a:cs typeface="Liberation Sans"/>
              </a:defRPr>
            </a:pPr>
            <a:r>
              <a:rPr sz="1725" b="1">
                <a:solidFill>
                  <a:srgbClr val="F4F8FC"/>
                </a:solidFill>
                <a:latin typeface="Liberation Sans"/>
                <a:ea typeface="Liberation Sans"/>
                <a:cs typeface="Liberation Sans"/>
              </a:rPr>
              <a:t>Trigger</a:t>
            </a:r>
          </a:p>
        </p:txBody>
      </p:sp>
      <p:sp>
        <p:nvSpPr>
          <p:cNvPr id="9" name="">
            <a:extLst xmlns:a="http://schemas.openxmlformats.org/drawingml/2006/main">
              <a:ext uri="{FF2B5EF4-FFF2-40B4-BE49-F238E27FC236}">
                <a16:creationId xmlns:a16="http://schemas.microsoft.com/office/drawing/2014/main" id="{C1279941-6703-4F56-B4A0-49BBF2A33CB6}"/>
              </a:ext>
            </a:extLst>
          </p:cNvPr>
          <p:cNvSpPr>
            <a:spLocks xmlns:a="http://schemas.openxmlformats.org/drawingml/2006/main" noGrp="1"/>
          </p:cNvSpPr>
          <p:nvPr/>
        </p:nvSpPr>
        <p:spPr>
          <a:xfrm xmlns:a="http://schemas.openxmlformats.org/drawingml/2006/main">
            <a:off x="704850" y="3276600"/>
            <a:ext cx="1809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0">
                <a:solidFill>
                  <a:srgbClr val="A6B7C8"/>
                </a:solidFill>
                <a:latin typeface="Liberation Sans"/>
                <a:ea typeface="Liberation Sans"/>
                <a:cs typeface="Liberation Sans"/>
              </a:defRPr>
            </a:pPr>
            <a:r>
              <a:rPr sz="1200" b="0">
                <a:solidFill>
                  <a:srgbClr val="A6B7C8"/>
                </a:solidFill>
                <a:latin typeface="Liberation Sans"/>
                <a:ea typeface="Liberation Sans"/>
                <a:cs typeface="Liberation Sans"/>
              </a:rPr>
              <a:t>Grafana alert</a:t>
            </a:r>
          </a:p>
        </p:txBody>
      </p:sp>
      <p:sp>
        <p:nvSpPr>
          <p:cNvPr id="10" name="">
            <a:extLst xmlns:a="http://schemas.openxmlformats.org/drawingml/2006/main">
              <a:ext uri="{FF2B5EF4-FFF2-40B4-BE49-F238E27FC236}">
                <a16:creationId xmlns:a16="http://schemas.microsoft.com/office/drawing/2014/main" id="{0249CC5F-4F2F-4E73-A916-6A711609B5EC}"/>
              </a:ext>
            </a:extLst>
          </p:cNvPr>
          <p:cNvSpPr>
            <a:spLocks xmlns:a="http://schemas.openxmlformats.org/drawingml/2006/main" noGrp="1"/>
          </p:cNvSpPr>
          <p:nvPr/>
        </p:nvSpPr>
        <p:spPr>
          <a:xfrm xmlns:a="http://schemas.openxmlformats.org/drawingml/2006/main">
            <a:off x="2095500" y="2276475"/>
            <a:ext cx="876300" cy="0"/>
          </a:xfrm>
          <a:prstGeom xmlns:a="http://schemas.openxmlformats.org/drawingml/2006/main" prst="line">
            <a:avLst/>
          </a:prstGeom>
          <a:noFill xmlns:a="http://schemas.openxmlformats.org/drawingml/2006/main"/>
          <a:ln xmlns:a="http://schemas.openxmlformats.org/drawingml/2006/main" w="14288">
            <a:solidFill>
              <a:srgbClr val="29445D"/>
            </a:solidFill>
            <a:prstDash val="solid"/>
          </a:ln>
        </p:spPr>
      </p:sp>
      <p:sp>
        <p:nvSpPr>
          <p:cNvPr id="11" name="">
            <a:extLst xmlns:a="http://schemas.openxmlformats.org/drawingml/2006/main">
              <a:ext uri="{FF2B5EF4-FFF2-40B4-BE49-F238E27FC236}">
                <a16:creationId xmlns:a16="http://schemas.microsoft.com/office/drawing/2014/main" id="{184A14E8-8C2E-4F21-9A5E-BA3AA41C5127}"/>
              </a:ext>
            </a:extLst>
          </p:cNvPr>
          <p:cNvSpPr>
            <a:spLocks xmlns:a="http://schemas.openxmlformats.org/drawingml/2006/main" noGrp="1"/>
          </p:cNvSpPr>
          <p:nvPr/>
        </p:nvSpPr>
        <p:spPr>
          <a:xfrm xmlns:a="http://schemas.openxmlformats.org/drawingml/2006/main">
            <a:off x="3524250" y="1924050"/>
            <a:ext cx="704850" cy="704850"/>
          </a:xfrm>
          <a:prstGeom xmlns:a="http://schemas.openxmlformats.org/drawingml/2006/main" prst="ellipse">
            <a:avLst/>
          </a:prstGeom>
          <a:solidFill xmlns:a="http://schemas.openxmlformats.org/drawingml/2006/main">
            <a:srgbClr val="9A7BF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9904067-92C5-4C7A-9945-7322CE076EEE}"/>
              </a:ext>
            </a:extLst>
          </p:cNvPr>
          <p:cNvSpPr>
            <a:spLocks xmlns:a="http://schemas.openxmlformats.org/drawingml/2006/main" noGrp="1"/>
          </p:cNvSpPr>
          <p:nvPr/>
        </p:nvSpPr>
        <p:spPr>
          <a:xfrm xmlns:a="http://schemas.openxmlformats.org/drawingml/2006/main">
            <a:off x="3524250" y="1924050"/>
            <a:ext cx="7048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00" b="1">
                <a:solidFill>
                  <a:srgbClr val="07111C"/>
                </a:solidFill>
                <a:latin typeface="Liberation Sans"/>
                <a:ea typeface="Liberation Sans"/>
                <a:cs typeface="Liberation Sans"/>
              </a:defRPr>
            </a:pPr>
            <a:r>
              <a:rPr sz="2100" b="1">
                <a:solidFill>
                  <a:srgbClr val="07111C"/>
                </a:solidFill>
                <a:latin typeface="Liberation Sans"/>
                <a:ea typeface="Liberation Sans"/>
                <a:cs typeface="Liberation Sans"/>
              </a:rPr>
              <a:t>2</a:t>
            </a:r>
          </a:p>
        </p:txBody>
      </p:sp>
      <p:sp>
        <p:nvSpPr>
          <p:cNvPr id="13" name="">
            <a:extLst xmlns:a="http://schemas.openxmlformats.org/drawingml/2006/main">
              <a:ext uri="{FF2B5EF4-FFF2-40B4-BE49-F238E27FC236}">
                <a16:creationId xmlns:a16="http://schemas.microsoft.com/office/drawing/2014/main" id="{D80A0CEF-7688-4416-965B-4FD80B754C24}"/>
              </a:ext>
            </a:extLst>
          </p:cNvPr>
          <p:cNvSpPr>
            <a:spLocks xmlns:a="http://schemas.openxmlformats.org/drawingml/2006/main" noGrp="1"/>
          </p:cNvSpPr>
          <p:nvPr/>
        </p:nvSpPr>
        <p:spPr>
          <a:xfrm xmlns:a="http://schemas.openxmlformats.org/drawingml/2006/main">
            <a:off x="2971800" y="287655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406"/>
          </a:bodyPr>
          <a:lstStyle xmlns:a="http://schemas.openxmlformats.org/drawingml/2006/main"/>
          <a:p xmlns:a="http://schemas.openxmlformats.org/drawingml/2006/main">
            <a:pPr>
              <a:defRPr sz="1725" b="1">
                <a:solidFill>
                  <a:srgbClr val="F4F8FC"/>
                </a:solidFill>
                <a:latin typeface="Liberation Sans"/>
                <a:ea typeface="Liberation Sans"/>
                <a:cs typeface="Liberation Sans"/>
              </a:defRPr>
            </a:pPr>
            <a:r>
              <a:rPr sz="1725" b="1">
                <a:solidFill>
                  <a:srgbClr val="F4F8FC"/>
                </a:solidFill>
                <a:latin typeface="Liberation Sans"/>
                <a:ea typeface="Liberation Sans"/>
                <a:cs typeface="Liberation Sans"/>
              </a:rPr>
              <a:t>Investigate</a:t>
            </a:r>
          </a:p>
        </p:txBody>
      </p:sp>
      <p:sp>
        <p:nvSpPr>
          <p:cNvPr id="14" name="">
            <a:extLst xmlns:a="http://schemas.openxmlformats.org/drawingml/2006/main">
              <a:ext uri="{FF2B5EF4-FFF2-40B4-BE49-F238E27FC236}">
                <a16:creationId xmlns:a16="http://schemas.microsoft.com/office/drawing/2014/main" id="{0BAD1D9B-34A4-4E07-BA36-FFE4C3798010}"/>
              </a:ext>
            </a:extLst>
          </p:cNvPr>
          <p:cNvSpPr>
            <a:spLocks xmlns:a="http://schemas.openxmlformats.org/drawingml/2006/main" noGrp="1"/>
          </p:cNvSpPr>
          <p:nvPr/>
        </p:nvSpPr>
        <p:spPr>
          <a:xfrm xmlns:a="http://schemas.openxmlformats.org/drawingml/2006/main">
            <a:off x="2971800" y="3276600"/>
            <a:ext cx="1809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0">
                <a:solidFill>
                  <a:srgbClr val="A6B7C8"/>
                </a:solidFill>
                <a:latin typeface="Liberation Sans"/>
                <a:ea typeface="Liberation Sans"/>
                <a:cs typeface="Liberation Sans"/>
              </a:defRPr>
            </a:pPr>
            <a:r>
              <a:rPr sz="1200" b="0">
                <a:solidFill>
                  <a:srgbClr val="A6B7C8"/>
                </a:solidFill>
                <a:latin typeface="Liberation Sans"/>
                <a:ea typeface="Liberation Sans"/>
                <a:cs typeface="Liberation Sans"/>
              </a:rPr>
              <a:t>Kubernetes evidence</a:t>
            </a:r>
          </a:p>
        </p:txBody>
      </p:sp>
      <p:sp>
        <p:nvSpPr>
          <p:cNvPr id="15" name="">
            <a:extLst xmlns:a="http://schemas.openxmlformats.org/drawingml/2006/main">
              <a:ext uri="{FF2B5EF4-FFF2-40B4-BE49-F238E27FC236}">
                <a16:creationId xmlns:a16="http://schemas.microsoft.com/office/drawing/2014/main" id="{C421724C-13DE-4808-B9F0-EF70E8EC595E}"/>
              </a:ext>
            </a:extLst>
          </p:cNvPr>
          <p:cNvSpPr>
            <a:spLocks xmlns:a="http://schemas.openxmlformats.org/drawingml/2006/main" noGrp="1"/>
          </p:cNvSpPr>
          <p:nvPr/>
        </p:nvSpPr>
        <p:spPr>
          <a:xfrm xmlns:a="http://schemas.openxmlformats.org/drawingml/2006/main">
            <a:off x="4362450" y="2276475"/>
            <a:ext cx="876300" cy="0"/>
          </a:xfrm>
          <a:prstGeom xmlns:a="http://schemas.openxmlformats.org/drawingml/2006/main" prst="line">
            <a:avLst/>
          </a:prstGeom>
          <a:noFill xmlns:a="http://schemas.openxmlformats.org/drawingml/2006/main"/>
          <a:ln xmlns:a="http://schemas.openxmlformats.org/drawingml/2006/main" w="14288">
            <a:solidFill>
              <a:srgbClr val="29445D"/>
            </a:solidFill>
            <a:prstDash val="solid"/>
          </a:ln>
        </p:spPr>
      </p:sp>
      <p:sp>
        <p:nvSpPr>
          <p:cNvPr id="16" name="">
            <a:extLst xmlns:a="http://schemas.openxmlformats.org/drawingml/2006/main">
              <a:ext uri="{FF2B5EF4-FFF2-40B4-BE49-F238E27FC236}">
                <a16:creationId xmlns:a16="http://schemas.microsoft.com/office/drawing/2014/main" id="{CA21A2CB-1299-482C-B997-CFB60AEFDBD0}"/>
              </a:ext>
            </a:extLst>
          </p:cNvPr>
          <p:cNvSpPr>
            <a:spLocks xmlns:a="http://schemas.openxmlformats.org/drawingml/2006/main" noGrp="1"/>
          </p:cNvSpPr>
          <p:nvPr/>
        </p:nvSpPr>
        <p:spPr>
          <a:xfrm xmlns:a="http://schemas.openxmlformats.org/drawingml/2006/main">
            <a:off x="5791200" y="1924050"/>
            <a:ext cx="704850" cy="704850"/>
          </a:xfrm>
          <a:prstGeom xmlns:a="http://schemas.openxmlformats.org/drawingml/2006/main" prst="ellipse">
            <a:avLst/>
          </a:prstGeom>
          <a:solidFill xmlns:a="http://schemas.openxmlformats.org/drawingml/2006/main">
            <a:srgbClr val="68E1C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B0E53DD-8033-437A-8E24-D986BA250192}"/>
              </a:ext>
            </a:extLst>
          </p:cNvPr>
          <p:cNvSpPr>
            <a:spLocks xmlns:a="http://schemas.openxmlformats.org/drawingml/2006/main" noGrp="1"/>
          </p:cNvSpPr>
          <p:nvPr/>
        </p:nvSpPr>
        <p:spPr>
          <a:xfrm xmlns:a="http://schemas.openxmlformats.org/drawingml/2006/main">
            <a:off x="5791200" y="1924050"/>
            <a:ext cx="7048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00" b="1">
                <a:solidFill>
                  <a:srgbClr val="07111C"/>
                </a:solidFill>
                <a:latin typeface="Liberation Sans"/>
                <a:ea typeface="Liberation Sans"/>
                <a:cs typeface="Liberation Sans"/>
              </a:defRPr>
            </a:pPr>
            <a:r>
              <a:rPr sz="2100" b="1">
                <a:solidFill>
                  <a:srgbClr val="07111C"/>
                </a:solidFill>
                <a:latin typeface="Liberation Sans"/>
                <a:ea typeface="Liberation Sans"/>
                <a:cs typeface="Liberation Sans"/>
              </a:rPr>
              <a:t>3</a:t>
            </a:r>
          </a:p>
        </p:txBody>
      </p:sp>
      <p:sp>
        <p:nvSpPr>
          <p:cNvPr id="18" name="">
            <a:extLst xmlns:a="http://schemas.openxmlformats.org/drawingml/2006/main">
              <a:ext uri="{FF2B5EF4-FFF2-40B4-BE49-F238E27FC236}">
                <a16:creationId xmlns:a16="http://schemas.microsoft.com/office/drawing/2014/main" id="{12476E78-F1F4-4B2B-8E2A-C15AC0162305}"/>
              </a:ext>
            </a:extLst>
          </p:cNvPr>
          <p:cNvSpPr>
            <a:spLocks xmlns:a="http://schemas.openxmlformats.org/drawingml/2006/main" noGrp="1"/>
          </p:cNvSpPr>
          <p:nvPr/>
        </p:nvSpPr>
        <p:spPr>
          <a:xfrm xmlns:a="http://schemas.openxmlformats.org/drawingml/2006/main">
            <a:off x="5238750" y="287655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406"/>
          </a:bodyPr>
          <a:lstStyle xmlns:a="http://schemas.openxmlformats.org/drawingml/2006/main"/>
          <a:p xmlns:a="http://schemas.openxmlformats.org/drawingml/2006/main">
            <a:pPr>
              <a:defRPr sz="1725" b="1">
                <a:solidFill>
                  <a:srgbClr val="F4F8FC"/>
                </a:solidFill>
                <a:latin typeface="Liberation Sans"/>
                <a:ea typeface="Liberation Sans"/>
                <a:cs typeface="Liberation Sans"/>
              </a:defRPr>
            </a:pPr>
            <a:r>
              <a:rPr sz="1725" b="1">
                <a:solidFill>
                  <a:srgbClr val="F4F8FC"/>
                </a:solidFill>
                <a:latin typeface="Liberation Sans"/>
                <a:ea typeface="Liberation Sans"/>
                <a:cs typeface="Liberation Sans"/>
              </a:rPr>
              <a:t>Conclude</a:t>
            </a:r>
          </a:p>
        </p:txBody>
      </p:sp>
      <p:sp>
        <p:nvSpPr>
          <p:cNvPr id="19" name="">
            <a:extLst xmlns:a="http://schemas.openxmlformats.org/drawingml/2006/main">
              <a:ext uri="{FF2B5EF4-FFF2-40B4-BE49-F238E27FC236}">
                <a16:creationId xmlns:a16="http://schemas.microsoft.com/office/drawing/2014/main" id="{924BF639-D73D-4B80-A001-A2CB7C8D562C}"/>
              </a:ext>
            </a:extLst>
          </p:cNvPr>
          <p:cNvSpPr>
            <a:spLocks xmlns:a="http://schemas.openxmlformats.org/drawingml/2006/main" noGrp="1"/>
          </p:cNvSpPr>
          <p:nvPr/>
        </p:nvSpPr>
        <p:spPr>
          <a:xfrm xmlns:a="http://schemas.openxmlformats.org/drawingml/2006/main">
            <a:off x="5238750" y="3276600"/>
            <a:ext cx="1809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0">
                <a:solidFill>
                  <a:srgbClr val="A6B7C8"/>
                </a:solidFill>
                <a:latin typeface="Liberation Sans"/>
                <a:ea typeface="Liberation Sans"/>
                <a:cs typeface="Liberation Sans"/>
              </a:defRPr>
            </a:pPr>
            <a:r>
              <a:rPr sz="1200" b="0">
                <a:solidFill>
                  <a:srgbClr val="A6B7C8"/>
                </a:solidFill>
                <a:latin typeface="Liberation Sans"/>
                <a:ea typeface="Liberation Sans"/>
                <a:cs typeface="Liberation Sans"/>
              </a:rPr>
              <a:t>Structured RCA</a:t>
            </a:r>
          </a:p>
        </p:txBody>
      </p:sp>
      <p:sp>
        <p:nvSpPr>
          <p:cNvPr id="20" name="">
            <a:extLst xmlns:a="http://schemas.openxmlformats.org/drawingml/2006/main">
              <a:ext uri="{FF2B5EF4-FFF2-40B4-BE49-F238E27FC236}">
                <a16:creationId xmlns:a16="http://schemas.microsoft.com/office/drawing/2014/main" id="{D533FAE0-DD63-4D36-88CB-3E9A0130A03A}"/>
              </a:ext>
            </a:extLst>
          </p:cNvPr>
          <p:cNvSpPr>
            <a:spLocks xmlns:a="http://schemas.openxmlformats.org/drawingml/2006/main" noGrp="1"/>
          </p:cNvSpPr>
          <p:nvPr/>
        </p:nvSpPr>
        <p:spPr>
          <a:xfrm xmlns:a="http://schemas.openxmlformats.org/drawingml/2006/main">
            <a:off x="6629400" y="2276475"/>
            <a:ext cx="876300" cy="0"/>
          </a:xfrm>
          <a:prstGeom xmlns:a="http://schemas.openxmlformats.org/drawingml/2006/main" prst="line">
            <a:avLst/>
          </a:prstGeom>
          <a:noFill xmlns:a="http://schemas.openxmlformats.org/drawingml/2006/main"/>
          <a:ln xmlns:a="http://schemas.openxmlformats.org/drawingml/2006/main" w="14288">
            <a:solidFill>
              <a:srgbClr val="29445D"/>
            </a:solidFill>
            <a:prstDash val="solid"/>
          </a:ln>
        </p:spPr>
      </p:sp>
      <p:sp>
        <p:nvSpPr>
          <p:cNvPr id="21" name="">
            <a:extLst xmlns:a="http://schemas.openxmlformats.org/drawingml/2006/main">
              <a:ext uri="{FF2B5EF4-FFF2-40B4-BE49-F238E27FC236}">
                <a16:creationId xmlns:a16="http://schemas.microsoft.com/office/drawing/2014/main" id="{96B76BF8-DF11-4C38-9E60-2018BDB716C5}"/>
              </a:ext>
            </a:extLst>
          </p:cNvPr>
          <p:cNvSpPr>
            <a:spLocks xmlns:a="http://schemas.openxmlformats.org/drawingml/2006/main" noGrp="1"/>
          </p:cNvSpPr>
          <p:nvPr/>
        </p:nvSpPr>
        <p:spPr>
          <a:xfrm xmlns:a="http://schemas.openxmlformats.org/drawingml/2006/main">
            <a:off x="8058150" y="1924050"/>
            <a:ext cx="704850" cy="704850"/>
          </a:xfrm>
          <a:prstGeom xmlns:a="http://schemas.openxmlformats.org/drawingml/2006/main" prst="ellipse">
            <a:avLst/>
          </a:prstGeom>
          <a:solidFill xmlns:a="http://schemas.openxmlformats.org/drawingml/2006/main">
            <a:srgbClr val="FFCA6B"/>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D959865-7C30-4C9E-B9E8-CC1D68C33941}"/>
              </a:ext>
            </a:extLst>
          </p:cNvPr>
          <p:cNvSpPr>
            <a:spLocks xmlns:a="http://schemas.openxmlformats.org/drawingml/2006/main" noGrp="1"/>
          </p:cNvSpPr>
          <p:nvPr/>
        </p:nvSpPr>
        <p:spPr>
          <a:xfrm xmlns:a="http://schemas.openxmlformats.org/drawingml/2006/main">
            <a:off x="8058150" y="1924050"/>
            <a:ext cx="7048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00" b="1">
                <a:solidFill>
                  <a:srgbClr val="07111C"/>
                </a:solidFill>
                <a:latin typeface="Liberation Sans"/>
                <a:ea typeface="Liberation Sans"/>
                <a:cs typeface="Liberation Sans"/>
              </a:defRPr>
            </a:pPr>
            <a:r>
              <a:rPr sz="2100" b="1">
                <a:solidFill>
                  <a:srgbClr val="07111C"/>
                </a:solidFill>
                <a:latin typeface="Liberation Sans"/>
                <a:ea typeface="Liberation Sans"/>
                <a:cs typeface="Liberation Sans"/>
              </a:rPr>
              <a:t>4</a:t>
            </a:r>
          </a:p>
        </p:txBody>
      </p:sp>
      <p:sp>
        <p:nvSpPr>
          <p:cNvPr id="23" name="">
            <a:extLst xmlns:a="http://schemas.openxmlformats.org/drawingml/2006/main">
              <a:ext uri="{FF2B5EF4-FFF2-40B4-BE49-F238E27FC236}">
                <a16:creationId xmlns:a16="http://schemas.microsoft.com/office/drawing/2014/main" id="{C12C0695-A196-4A4C-85DF-0D2FAF0A2D21}"/>
              </a:ext>
            </a:extLst>
          </p:cNvPr>
          <p:cNvSpPr>
            <a:spLocks xmlns:a="http://schemas.openxmlformats.org/drawingml/2006/main" noGrp="1"/>
          </p:cNvSpPr>
          <p:nvPr/>
        </p:nvSpPr>
        <p:spPr>
          <a:xfrm xmlns:a="http://schemas.openxmlformats.org/drawingml/2006/main">
            <a:off x="7505700" y="287655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406"/>
          </a:bodyPr>
          <a:lstStyle xmlns:a="http://schemas.openxmlformats.org/drawingml/2006/main"/>
          <a:p xmlns:a="http://schemas.openxmlformats.org/drawingml/2006/main">
            <a:pPr>
              <a:defRPr sz="1725" b="1">
                <a:solidFill>
                  <a:srgbClr val="F4F8FC"/>
                </a:solidFill>
                <a:latin typeface="Liberation Sans"/>
                <a:ea typeface="Liberation Sans"/>
                <a:cs typeface="Liberation Sans"/>
              </a:defRPr>
            </a:pPr>
            <a:r>
              <a:rPr sz="1725" b="1">
                <a:solidFill>
                  <a:srgbClr val="F4F8FC"/>
                </a:solidFill>
                <a:latin typeface="Liberation Sans"/>
                <a:ea typeface="Liberation Sans"/>
                <a:cs typeface="Liberation Sans"/>
              </a:rPr>
              <a:t>Review</a:t>
            </a:r>
          </a:p>
        </p:txBody>
      </p:sp>
      <p:sp>
        <p:nvSpPr>
          <p:cNvPr id="24" name="">
            <a:extLst xmlns:a="http://schemas.openxmlformats.org/drawingml/2006/main">
              <a:ext uri="{FF2B5EF4-FFF2-40B4-BE49-F238E27FC236}">
                <a16:creationId xmlns:a16="http://schemas.microsoft.com/office/drawing/2014/main" id="{57573545-F1BA-4B37-8F3B-9075E9910294}"/>
              </a:ext>
            </a:extLst>
          </p:cNvPr>
          <p:cNvSpPr>
            <a:spLocks xmlns:a="http://schemas.openxmlformats.org/drawingml/2006/main" noGrp="1"/>
          </p:cNvSpPr>
          <p:nvPr/>
        </p:nvSpPr>
        <p:spPr>
          <a:xfrm xmlns:a="http://schemas.openxmlformats.org/drawingml/2006/main">
            <a:off x="7505700" y="3276600"/>
            <a:ext cx="1809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0">
                <a:solidFill>
                  <a:srgbClr val="A6B7C8"/>
                </a:solidFill>
                <a:latin typeface="Liberation Sans"/>
                <a:ea typeface="Liberation Sans"/>
                <a:cs typeface="Liberation Sans"/>
              </a:defRPr>
            </a:pPr>
            <a:r>
              <a:rPr sz="1200" b="0">
                <a:solidFill>
                  <a:srgbClr val="A6B7C8"/>
                </a:solidFill>
                <a:latin typeface="Liberation Sans"/>
                <a:ea typeface="Liberation Sans"/>
                <a:cs typeface="Liberation Sans"/>
              </a:rPr>
              <a:t>Human decision</a:t>
            </a:r>
          </a:p>
        </p:txBody>
      </p:sp>
      <p:sp>
        <p:nvSpPr>
          <p:cNvPr id="25" name="">
            <a:extLst xmlns:a="http://schemas.openxmlformats.org/drawingml/2006/main">
              <a:ext uri="{FF2B5EF4-FFF2-40B4-BE49-F238E27FC236}">
                <a16:creationId xmlns:a16="http://schemas.microsoft.com/office/drawing/2014/main" id="{683F25C1-C9A7-477C-A21B-D917EF462F4F}"/>
              </a:ext>
            </a:extLst>
          </p:cNvPr>
          <p:cNvSpPr>
            <a:spLocks xmlns:a="http://schemas.openxmlformats.org/drawingml/2006/main" noGrp="1"/>
          </p:cNvSpPr>
          <p:nvPr/>
        </p:nvSpPr>
        <p:spPr>
          <a:xfrm xmlns:a="http://schemas.openxmlformats.org/drawingml/2006/main">
            <a:off x="8896350" y="2276475"/>
            <a:ext cx="876300" cy="0"/>
          </a:xfrm>
          <a:prstGeom xmlns:a="http://schemas.openxmlformats.org/drawingml/2006/main" prst="line">
            <a:avLst/>
          </a:prstGeom>
          <a:noFill xmlns:a="http://schemas.openxmlformats.org/drawingml/2006/main"/>
          <a:ln xmlns:a="http://schemas.openxmlformats.org/drawingml/2006/main" w="14288">
            <a:solidFill>
              <a:srgbClr val="29445D"/>
            </a:solidFill>
            <a:prstDash val="solid"/>
          </a:ln>
        </p:spPr>
      </p:sp>
      <p:sp>
        <p:nvSpPr>
          <p:cNvPr id="26" name="">
            <a:extLst xmlns:a="http://schemas.openxmlformats.org/drawingml/2006/main">
              <a:ext uri="{FF2B5EF4-FFF2-40B4-BE49-F238E27FC236}">
                <a16:creationId xmlns:a16="http://schemas.microsoft.com/office/drawing/2014/main" id="{61683525-D5B1-4EA5-979E-F0FB2A1A1FF5}"/>
              </a:ext>
            </a:extLst>
          </p:cNvPr>
          <p:cNvSpPr>
            <a:spLocks xmlns:a="http://schemas.openxmlformats.org/drawingml/2006/main" noGrp="1"/>
          </p:cNvSpPr>
          <p:nvPr/>
        </p:nvSpPr>
        <p:spPr>
          <a:xfrm xmlns:a="http://schemas.openxmlformats.org/drawingml/2006/main">
            <a:off x="10325100" y="1924050"/>
            <a:ext cx="704850" cy="704850"/>
          </a:xfrm>
          <a:prstGeom xmlns:a="http://schemas.openxmlformats.org/drawingml/2006/main" prst="ellipse">
            <a:avLst/>
          </a:prstGeom>
          <a:solidFill xmlns:a="http://schemas.openxmlformats.org/drawingml/2006/main">
            <a:srgbClr val="54D6FF"/>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E2CE8CD4-1B2B-4E66-8C1A-3054DDDD35BA}"/>
              </a:ext>
            </a:extLst>
          </p:cNvPr>
          <p:cNvSpPr>
            <a:spLocks xmlns:a="http://schemas.openxmlformats.org/drawingml/2006/main" noGrp="1"/>
          </p:cNvSpPr>
          <p:nvPr/>
        </p:nvSpPr>
        <p:spPr>
          <a:xfrm xmlns:a="http://schemas.openxmlformats.org/drawingml/2006/main">
            <a:off x="10325100" y="1924050"/>
            <a:ext cx="7048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00" b="1">
                <a:solidFill>
                  <a:srgbClr val="07111C"/>
                </a:solidFill>
                <a:latin typeface="Liberation Sans"/>
                <a:ea typeface="Liberation Sans"/>
                <a:cs typeface="Liberation Sans"/>
              </a:defRPr>
            </a:pPr>
            <a:r>
              <a:rPr sz="2100" b="1">
                <a:solidFill>
                  <a:srgbClr val="07111C"/>
                </a:solidFill>
                <a:latin typeface="Liberation Sans"/>
                <a:ea typeface="Liberation Sans"/>
                <a:cs typeface="Liberation Sans"/>
              </a:rPr>
              <a:t>5</a:t>
            </a:r>
          </a:p>
        </p:txBody>
      </p:sp>
      <p:sp>
        <p:nvSpPr>
          <p:cNvPr id="28" name="">
            <a:extLst xmlns:a="http://schemas.openxmlformats.org/drawingml/2006/main">
              <a:ext uri="{FF2B5EF4-FFF2-40B4-BE49-F238E27FC236}">
                <a16:creationId xmlns:a16="http://schemas.microsoft.com/office/drawing/2014/main" id="{2484AA7A-74D9-4BD8-864C-5FE8F6EC0E43}"/>
              </a:ext>
            </a:extLst>
          </p:cNvPr>
          <p:cNvSpPr>
            <a:spLocks xmlns:a="http://schemas.openxmlformats.org/drawingml/2006/main" noGrp="1"/>
          </p:cNvSpPr>
          <p:nvPr/>
        </p:nvSpPr>
        <p:spPr>
          <a:xfrm xmlns:a="http://schemas.openxmlformats.org/drawingml/2006/main">
            <a:off x="9772650" y="287655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406"/>
          </a:bodyPr>
          <a:lstStyle xmlns:a="http://schemas.openxmlformats.org/drawingml/2006/main"/>
          <a:p xmlns:a="http://schemas.openxmlformats.org/drawingml/2006/main">
            <a:pPr>
              <a:defRPr sz="1725" b="1">
                <a:solidFill>
                  <a:srgbClr val="F4F8FC"/>
                </a:solidFill>
                <a:latin typeface="Liberation Sans"/>
                <a:ea typeface="Liberation Sans"/>
                <a:cs typeface="Liberation Sans"/>
              </a:defRPr>
            </a:pPr>
            <a:r>
              <a:rPr sz="1725" b="1">
                <a:solidFill>
                  <a:srgbClr val="F4F8FC"/>
                </a:solidFill>
                <a:latin typeface="Liberation Sans"/>
                <a:ea typeface="Liberation Sans"/>
                <a:cs typeface="Liberation Sans"/>
              </a:rPr>
              <a:t>Record</a:t>
            </a:r>
          </a:p>
        </p:txBody>
      </p:sp>
      <p:sp>
        <p:nvSpPr>
          <p:cNvPr id="29" name="">
            <a:extLst xmlns:a="http://schemas.openxmlformats.org/drawingml/2006/main">
              <a:ext uri="{FF2B5EF4-FFF2-40B4-BE49-F238E27FC236}">
                <a16:creationId xmlns:a16="http://schemas.microsoft.com/office/drawing/2014/main" id="{17D763F4-D98C-43C9-969D-B6C05BDE9258}"/>
              </a:ext>
            </a:extLst>
          </p:cNvPr>
          <p:cNvSpPr>
            <a:spLocks xmlns:a="http://schemas.openxmlformats.org/drawingml/2006/main" noGrp="1"/>
          </p:cNvSpPr>
          <p:nvPr/>
        </p:nvSpPr>
        <p:spPr>
          <a:xfrm xmlns:a="http://schemas.openxmlformats.org/drawingml/2006/main">
            <a:off x="9772650" y="3276600"/>
            <a:ext cx="1809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0">
                <a:solidFill>
                  <a:srgbClr val="A6B7C8"/>
                </a:solidFill>
                <a:latin typeface="Liberation Sans"/>
                <a:ea typeface="Liberation Sans"/>
                <a:cs typeface="Liberation Sans"/>
              </a:defRPr>
            </a:pPr>
            <a:r>
              <a:rPr sz="1200" b="0">
                <a:solidFill>
                  <a:srgbClr val="A6B7C8"/>
                </a:solidFill>
                <a:latin typeface="Liberation Sans"/>
                <a:ea typeface="Liberation Sans"/>
                <a:cs typeface="Liberation Sans"/>
              </a:rPr>
              <a:t>Audit and cost</a:t>
            </a:r>
          </a:p>
        </p:txBody>
      </p:sp>
      <p:sp>
        <p:nvSpPr>
          <p:cNvPr id="30" name="">
            <a:extLst xmlns:a="http://schemas.openxmlformats.org/drawingml/2006/main">
              <a:ext uri="{FF2B5EF4-FFF2-40B4-BE49-F238E27FC236}">
                <a16:creationId xmlns:a16="http://schemas.microsoft.com/office/drawing/2014/main" id="{2B90C12F-13E3-4111-B0A6-8B8093A77548}"/>
              </a:ext>
            </a:extLst>
          </p:cNvPr>
          <p:cNvSpPr>
            <a:spLocks xmlns:a="http://schemas.openxmlformats.org/drawingml/2006/main" noGrp="1"/>
          </p:cNvSpPr>
          <p:nvPr/>
        </p:nvSpPr>
        <p:spPr>
          <a:xfrm xmlns:a="http://schemas.openxmlformats.org/drawingml/2006/main">
            <a:off x="1752600" y="4400550"/>
            <a:ext cx="8686800" cy="1066800"/>
          </a:xfrm>
          <a:prstGeom xmlns:a="http://schemas.openxmlformats.org/drawingml/2006/main" prst="roundRect">
            <a:avLst>
              <a:gd name="adj" fmla="val 14286"/>
            </a:avLst>
          </a:prstGeom>
          <a:solidFill xmlns:a="http://schemas.openxmlformats.org/drawingml/2006/main">
            <a:srgbClr val="102338"/>
          </a:solidFill>
          <a:ln xmlns:a="http://schemas.openxmlformats.org/drawingml/2006/main" w="14288">
            <a:solidFill>
              <a:srgbClr val="29445D"/>
            </a:solidFill>
            <a:prstDash val="solid"/>
          </a:ln>
        </p:spPr>
      </p:sp>
      <p:sp>
        <p:nvSpPr>
          <p:cNvPr id="31" name="">
            <a:extLst xmlns:a="http://schemas.openxmlformats.org/drawingml/2006/main">
              <a:ext uri="{FF2B5EF4-FFF2-40B4-BE49-F238E27FC236}">
                <a16:creationId xmlns:a16="http://schemas.microsoft.com/office/drawing/2014/main" id="{5C71685E-70B2-413E-80E5-CE1C16E4F029}"/>
              </a:ext>
            </a:extLst>
          </p:cNvPr>
          <p:cNvSpPr>
            <a:spLocks xmlns:a="http://schemas.openxmlformats.org/drawingml/2006/main" noGrp="1"/>
          </p:cNvSpPr>
          <p:nvPr/>
        </p:nvSpPr>
        <p:spPr>
          <a:xfrm xmlns:a="http://schemas.openxmlformats.org/drawingml/2006/main">
            <a:off x="2095500" y="459105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54D6FF"/>
                </a:solidFill>
                <a:latin typeface="Liberation Sans"/>
                <a:ea typeface="Liberation Sans"/>
                <a:cs typeface="Liberation Sans"/>
              </a:defRPr>
            </a:pPr>
            <a:r>
              <a:rPr sz="1350" b="1">
                <a:solidFill>
                  <a:srgbClr val="54D6FF"/>
                </a:solidFill>
                <a:latin typeface="Liberation Sans"/>
                <a:ea typeface="Liberation Sans"/>
                <a:cs typeface="Liberation Sans"/>
              </a:rPr>
              <a:t>Output contract</a:t>
            </a:r>
          </a:p>
        </p:txBody>
      </p:sp>
      <p:sp>
        <p:nvSpPr>
          <p:cNvPr id="32" name="">
            <a:extLst xmlns:a="http://schemas.openxmlformats.org/drawingml/2006/main">
              <a:ext uri="{FF2B5EF4-FFF2-40B4-BE49-F238E27FC236}">
                <a16:creationId xmlns:a16="http://schemas.microsoft.com/office/drawing/2014/main" id="{7C73D08C-7517-47D4-8E30-F435D100AB4B}"/>
              </a:ext>
            </a:extLst>
          </p:cNvPr>
          <p:cNvSpPr>
            <a:spLocks xmlns:a="http://schemas.openxmlformats.org/drawingml/2006/main" noGrp="1"/>
          </p:cNvSpPr>
          <p:nvPr/>
        </p:nvSpPr>
        <p:spPr>
          <a:xfrm xmlns:a="http://schemas.openxmlformats.org/drawingml/2006/main">
            <a:off x="2095500" y="4953000"/>
            <a:ext cx="790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F4F8FC"/>
                </a:solidFill>
                <a:latin typeface="Liberation Sans"/>
                <a:ea typeface="Liberation Sans"/>
                <a:cs typeface="Liberation Sans"/>
              </a:defRPr>
            </a:pPr>
            <a:r>
              <a:rPr sz="1350" b="0">
                <a:solidFill>
                  <a:srgbClr val="F4F8FC"/>
                </a:solidFill>
                <a:latin typeface="Liberation Sans"/>
                <a:ea typeface="Liberation Sans"/>
                <a:cs typeface="Liberation Sans"/>
              </a:rPr>
              <a:t>root cause    /    evidence    /    confidence    /    affected resources    /    suggested fix</a:t>
            </a:r>
          </a:p>
        </p:txBody>
      </p:sp>
    </p:spTree>
    <p:extLst>
      <p:ext uri="{BB962C8B-B14F-4D97-AF65-F5344CB8AC3E}">
        <p14:creationId xmlns:p14="http://schemas.microsoft.com/office/powerpoint/2010/main" val="2110173464"/>
      </p:ext>
    </p:extLst>
  </p:cSld>
</p:sld>
</file>

<file path=ppt/slides/slide6.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11CEC775-C12F-4280-B779-AEDF8AE639F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54D6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5414FBF-0B5F-4D7E-97C9-4C9D5BE5F8C8}"/>
              </a:ext>
            </a:extLst>
          </p:cNvPr>
          <p:cNvSpPr>
            <a:spLocks xmlns:a="http://schemas.openxmlformats.org/drawingml/2006/main" noGrp="1"/>
          </p:cNvSpPr>
          <p:nvPr/>
        </p:nvSpPr>
        <p:spPr>
          <a:xfrm xmlns:a="http://schemas.openxmlformats.org/drawingml/2006/main">
            <a:off x="590550" y="400050"/>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F4F8FC"/>
                </a:solidFill>
                <a:latin typeface="Liberation Sans"/>
                <a:ea typeface="Liberation Sans"/>
                <a:cs typeface="Liberation Sans"/>
              </a:defRPr>
            </a:pPr>
            <a:r>
              <a:rPr sz="2550" b="1">
                <a:solidFill>
                  <a:srgbClr val="F4F8FC"/>
                </a:solidFill>
                <a:latin typeface="Liberation Sans"/>
                <a:ea typeface="Liberation Sans"/>
                <a:cs typeface="Liberation Sans"/>
              </a:rPr>
              <a:t>Governance boundaries</a:t>
            </a:r>
          </a:p>
        </p:txBody>
      </p:sp>
      <p:sp>
        <p:nvSpPr>
          <p:cNvPr id="3" name="">
            <a:extLst xmlns:a="http://schemas.openxmlformats.org/drawingml/2006/main">
              <a:ext uri="{FF2B5EF4-FFF2-40B4-BE49-F238E27FC236}">
                <a16:creationId xmlns:a16="http://schemas.microsoft.com/office/drawing/2014/main" id="{416F60E9-6108-4FEA-AA6C-5DF72DE1EFFC}"/>
              </a:ext>
            </a:extLst>
          </p:cNvPr>
          <p:cNvSpPr>
            <a:spLocks xmlns:a="http://schemas.openxmlformats.org/drawingml/2006/main" noGrp="1"/>
          </p:cNvSpPr>
          <p:nvPr/>
        </p:nvSpPr>
        <p:spPr>
          <a:xfrm xmlns:a="http://schemas.openxmlformats.org/drawingml/2006/main">
            <a:off x="60960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A6B7C8"/>
                </a:solidFill>
                <a:latin typeface="Liberation Sans"/>
                <a:ea typeface="Liberation Sans"/>
                <a:cs typeface="Liberation Sans"/>
              </a:defRPr>
            </a:pPr>
            <a:r>
              <a:rPr sz="1275" b="0">
                <a:solidFill>
                  <a:srgbClr val="A6B7C8"/>
                </a:solidFill>
                <a:latin typeface="Liberation Sans"/>
                <a:ea typeface="Liberation Sans"/>
                <a:cs typeface="Liberation Sans"/>
              </a:rPr>
              <a:t>The demo proves control through enforced permissions, not through instructions alone</a:t>
            </a:r>
          </a:p>
        </p:txBody>
      </p:sp>
      <p:sp>
        <p:nvSpPr>
          <p:cNvPr id="4" name="">
            <a:extLst xmlns:a="http://schemas.openxmlformats.org/drawingml/2006/main">
              <a:ext uri="{FF2B5EF4-FFF2-40B4-BE49-F238E27FC236}">
                <a16:creationId xmlns:a16="http://schemas.microsoft.com/office/drawing/2014/main" id="{4274B275-5490-4CF6-8903-81BD6F9CD21D}"/>
              </a:ext>
            </a:extLst>
          </p:cNvPr>
          <p:cNvSpPr>
            <a:spLocks xmlns:a="http://schemas.openxmlformats.org/drawingml/2006/main" noGrp="1"/>
          </p:cNvSpPr>
          <p:nvPr/>
        </p:nvSpPr>
        <p:spPr>
          <a:xfrm xmlns:a="http://schemas.openxmlformats.org/drawingml/2006/main">
            <a:off x="11258550" y="62293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A6B7C8"/>
                </a:solidFill>
                <a:latin typeface="Liberation Sans"/>
                <a:ea typeface="Liberation Sans"/>
                <a:cs typeface="Liberation Sans"/>
              </a:defRPr>
            </a:pPr>
            <a:r>
              <a:rPr sz="900" b="0">
                <a:solidFill>
                  <a:srgbClr val="A6B7C8"/>
                </a:solidFill>
                <a:latin typeface="Liberation Sans"/>
                <a:ea typeface="Liberation Sans"/>
                <a:cs typeface="Liberation Sans"/>
              </a:rPr>
              <a:t>06</a:t>
            </a:r>
          </a:p>
        </p:txBody>
      </p:sp>
      <p:sp>
        <p:nvSpPr>
          <p:cNvPr id="5" name="">
            <a:extLst xmlns:a="http://schemas.openxmlformats.org/drawingml/2006/main">
              <a:ext uri="{FF2B5EF4-FFF2-40B4-BE49-F238E27FC236}">
                <a16:creationId xmlns:a16="http://schemas.microsoft.com/office/drawing/2014/main" id="{F243FF4E-37C8-4F1A-82EA-BBD04A08299F}"/>
              </a:ext>
            </a:extLst>
          </p:cNvPr>
          <p:cNvSpPr>
            <a:spLocks xmlns:a="http://schemas.openxmlformats.org/drawingml/2006/main" noGrp="1"/>
          </p:cNvSpPr>
          <p:nvPr/>
        </p:nvSpPr>
        <p:spPr>
          <a:xfrm xmlns:a="http://schemas.openxmlformats.org/drawingml/2006/main">
            <a:off x="590550" y="62293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A6B7C8"/>
                </a:solidFill>
                <a:latin typeface="Liberation Sans"/>
                <a:ea typeface="Liberation Sans"/>
                <a:cs typeface="Liberation Sans"/>
              </a:defRPr>
            </a:pPr>
            <a:r>
              <a:rPr sz="900" b="0">
                <a:solidFill>
                  <a:srgbClr val="A6B7C8"/>
                </a:solidFill>
                <a:latin typeface="Liberation Sans"/>
                <a:ea typeface="Liberation Sans"/>
                <a:cs typeface="Liberation Sans"/>
              </a:rPr>
              <a:t>KAOP by Nirit Terehovsky</a:t>
            </a:r>
          </a:p>
        </p:txBody>
      </p:sp>
      <p:sp>
        <p:nvSpPr>
          <p:cNvPr id="6" name="">
            <a:extLst xmlns:a="http://schemas.openxmlformats.org/drawingml/2006/main">
              <a:ext uri="{FF2B5EF4-FFF2-40B4-BE49-F238E27FC236}">
                <a16:creationId xmlns:a16="http://schemas.microsoft.com/office/drawing/2014/main" id="{BF7F6531-0754-46E6-B871-81CF2FE51DF1}"/>
              </a:ext>
            </a:extLst>
          </p:cNvPr>
          <p:cNvSpPr>
            <a:spLocks xmlns:a="http://schemas.openxmlformats.org/drawingml/2006/main" noGrp="1"/>
          </p:cNvSpPr>
          <p:nvPr/>
        </p:nvSpPr>
        <p:spPr>
          <a:xfrm xmlns:a="http://schemas.openxmlformats.org/drawingml/2006/main">
            <a:off x="704850" y="1504950"/>
            <a:ext cx="5143500" cy="4114800"/>
          </a:xfrm>
          <a:prstGeom xmlns:a="http://schemas.openxmlformats.org/drawingml/2006/main" prst="roundRect">
            <a:avLst>
              <a:gd name="adj" fmla="val 4630"/>
            </a:avLst>
          </a:prstGeom>
          <a:solidFill xmlns:a="http://schemas.openxmlformats.org/drawingml/2006/main">
            <a:srgbClr val="102338"/>
          </a:solidFill>
          <a:ln xmlns:a="http://schemas.openxmlformats.org/drawingml/2006/main" w="14288">
            <a:solidFill>
              <a:srgbClr val="29445D"/>
            </a:solidFill>
            <a:prstDash val="solid"/>
          </a:ln>
        </p:spPr>
      </p:sp>
      <p:sp>
        <p:nvSpPr>
          <p:cNvPr id="7" name="">
            <a:extLst xmlns:a="http://schemas.openxmlformats.org/drawingml/2006/main">
              <a:ext uri="{FF2B5EF4-FFF2-40B4-BE49-F238E27FC236}">
                <a16:creationId xmlns:a16="http://schemas.microsoft.com/office/drawing/2014/main" id="{2E6CCE95-132A-4A43-88CF-4DBE195DEF42}"/>
              </a:ext>
            </a:extLst>
          </p:cNvPr>
          <p:cNvSpPr>
            <a:spLocks xmlns:a="http://schemas.openxmlformats.org/drawingml/2006/main" noGrp="1"/>
          </p:cNvSpPr>
          <p:nvPr/>
        </p:nvSpPr>
        <p:spPr>
          <a:xfrm xmlns:a="http://schemas.openxmlformats.org/drawingml/2006/main">
            <a:off x="1047750" y="1771650"/>
            <a:ext cx="438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54D6FF"/>
                </a:solidFill>
                <a:latin typeface="Liberation Sans"/>
                <a:ea typeface="Liberation Sans"/>
                <a:cs typeface="Liberation Sans"/>
              </a:defRPr>
            </a:pPr>
            <a:r>
              <a:rPr sz="1875" b="1">
                <a:solidFill>
                  <a:srgbClr val="54D6FF"/>
                </a:solidFill>
                <a:latin typeface="Liberation Sans"/>
                <a:ea typeface="Liberation Sans"/>
                <a:cs typeface="Liberation Sans"/>
              </a:rPr>
              <a:t>Kubernetes investigator</a:t>
            </a:r>
          </a:p>
        </p:txBody>
      </p:sp>
      <p:sp>
        <p:nvSpPr>
          <p:cNvPr id="8" name="">
            <a:extLst xmlns:a="http://schemas.openxmlformats.org/drawingml/2006/main">
              <a:ext uri="{FF2B5EF4-FFF2-40B4-BE49-F238E27FC236}">
                <a16:creationId xmlns:a16="http://schemas.microsoft.com/office/drawing/2014/main" id="{5B0D6280-4EDB-4F97-9A93-D034F7C5C578}"/>
              </a:ext>
            </a:extLst>
          </p:cNvPr>
          <p:cNvSpPr>
            <a:spLocks xmlns:a="http://schemas.openxmlformats.org/drawingml/2006/main" noGrp="1"/>
          </p:cNvSpPr>
          <p:nvPr/>
        </p:nvSpPr>
        <p:spPr>
          <a:xfrm xmlns:a="http://schemas.openxmlformats.org/drawingml/2006/main">
            <a:off x="1047750" y="2362200"/>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68E1C4"/>
                </a:solidFill>
                <a:latin typeface="Liberation Sans"/>
                <a:ea typeface="Liberation Sans"/>
                <a:cs typeface="Liberation Sans"/>
              </a:defRPr>
            </a:pPr>
            <a:r>
              <a:rPr sz="900" b="1">
                <a:solidFill>
                  <a:srgbClr val="68E1C4"/>
                </a:solidFill>
                <a:latin typeface="Liberation Sans"/>
                <a:ea typeface="Liberation Sans"/>
                <a:cs typeface="Liberation Sans"/>
              </a:rPr>
              <a:t>ALLOWED</a:t>
            </a:r>
          </a:p>
        </p:txBody>
      </p:sp>
      <p:sp>
        <p:nvSpPr>
          <p:cNvPr id="9" name="">
            <a:extLst xmlns:a="http://schemas.openxmlformats.org/drawingml/2006/main">
              <a:ext uri="{FF2B5EF4-FFF2-40B4-BE49-F238E27FC236}">
                <a16:creationId xmlns:a16="http://schemas.microsoft.com/office/drawing/2014/main" id="{A1849B8C-E3E3-4E75-9E20-BDA850F7EF2D}"/>
              </a:ext>
            </a:extLst>
          </p:cNvPr>
          <p:cNvSpPr>
            <a:spLocks xmlns:a="http://schemas.openxmlformats.org/drawingml/2006/main" noGrp="1"/>
          </p:cNvSpPr>
          <p:nvPr/>
        </p:nvSpPr>
        <p:spPr>
          <a:xfrm xmlns:a="http://schemas.openxmlformats.org/drawingml/2006/main">
            <a:off x="1162050" y="272415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4F8FC"/>
                </a:solidFill>
                <a:latin typeface="Liberation Sans"/>
                <a:ea typeface="Liberation Sans"/>
                <a:cs typeface="Liberation Sans"/>
              </a:defRPr>
            </a:pPr>
            <a:r>
              <a:rPr sz="1425" b="0">
                <a:solidFill>
                  <a:srgbClr val="F4F8FC"/>
                </a:solidFill>
                <a:latin typeface="Liberation Sans"/>
                <a:ea typeface="Liberation Sans"/>
                <a:cs typeface="Liberation Sans"/>
              </a:rPr>
              <a:t>+  Pods and logs</a:t>
            </a:r>
          </a:p>
        </p:txBody>
      </p:sp>
      <p:sp>
        <p:nvSpPr>
          <p:cNvPr id="10" name="">
            <a:extLst xmlns:a="http://schemas.openxmlformats.org/drawingml/2006/main">
              <a:ext uri="{FF2B5EF4-FFF2-40B4-BE49-F238E27FC236}">
                <a16:creationId xmlns:a16="http://schemas.microsoft.com/office/drawing/2014/main" id="{291B5006-D00F-47FE-B670-43D0244E4D2C}"/>
              </a:ext>
            </a:extLst>
          </p:cNvPr>
          <p:cNvSpPr>
            <a:spLocks xmlns:a="http://schemas.openxmlformats.org/drawingml/2006/main" noGrp="1"/>
          </p:cNvSpPr>
          <p:nvPr/>
        </p:nvSpPr>
        <p:spPr>
          <a:xfrm xmlns:a="http://schemas.openxmlformats.org/drawingml/2006/main">
            <a:off x="1162050" y="318135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4F8FC"/>
                </a:solidFill>
                <a:latin typeface="Liberation Sans"/>
                <a:ea typeface="Liberation Sans"/>
                <a:cs typeface="Liberation Sans"/>
              </a:defRPr>
            </a:pPr>
            <a:r>
              <a:rPr sz="1425" b="0">
                <a:solidFill>
                  <a:srgbClr val="F4F8FC"/>
                </a:solidFill>
                <a:latin typeface="Liberation Sans"/>
                <a:ea typeface="Liberation Sans"/>
                <a:cs typeface="Liberation Sans"/>
              </a:rPr>
              <a:t>+  Events and workloads</a:t>
            </a:r>
          </a:p>
        </p:txBody>
      </p:sp>
      <p:sp>
        <p:nvSpPr>
          <p:cNvPr id="11" name="">
            <a:extLst xmlns:a="http://schemas.openxmlformats.org/drawingml/2006/main">
              <a:ext uri="{FF2B5EF4-FFF2-40B4-BE49-F238E27FC236}">
                <a16:creationId xmlns:a16="http://schemas.microsoft.com/office/drawing/2014/main" id="{1A5DF8EA-6ADC-4AE0-B4A2-91014A306888}"/>
              </a:ext>
            </a:extLst>
          </p:cNvPr>
          <p:cNvSpPr>
            <a:spLocks xmlns:a="http://schemas.openxmlformats.org/drawingml/2006/main" noGrp="1"/>
          </p:cNvSpPr>
          <p:nvPr/>
        </p:nvSpPr>
        <p:spPr>
          <a:xfrm xmlns:a="http://schemas.openxmlformats.org/drawingml/2006/main">
            <a:off x="1162050" y="363855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4F8FC"/>
                </a:solidFill>
                <a:latin typeface="Liberation Sans"/>
                <a:ea typeface="Liberation Sans"/>
                <a:cs typeface="Liberation Sans"/>
              </a:defRPr>
            </a:pPr>
            <a:r>
              <a:rPr sz="1425" b="0">
                <a:solidFill>
                  <a:srgbClr val="F4F8FC"/>
                </a:solidFill>
                <a:latin typeface="Liberation Sans"/>
                <a:ea typeface="Liberation Sans"/>
                <a:cs typeface="Liberation Sans"/>
              </a:rPr>
              <a:t>+  Services and endpoints</a:t>
            </a:r>
          </a:p>
        </p:txBody>
      </p:sp>
      <p:sp>
        <p:nvSpPr>
          <p:cNvPr id="12" name="">
            <a:extLst xmlns:a="http://schemas.openxmlformats.org/drawingml/2006/main">
              <a:ext uri="{FF2B5EF4-FFF2-40B4-BE49-F238E27FC236}">
                <a16:creationId xmlns:a16="http://schemas.microsoft.com/office/drawing/2014/main" id="{8CF974BB-DCBA-4C15-86EB-59BA51AEE6D0}"/>
              </a:ext>
            </a:extLst>
          </p:cNvPr>
          <p:cNvSpPr>
            <a:spLocks xmlns:a="http://schemas.openxmlformats.org/drawingml/2006/main" noGrp="1"/>
          </p:cNvSpPr>
          <p:nvPr/>
        </p:nvSpPr>
        <p:spPr>
          <a:xfrm xmlns:a="http://schemas.openxmlformats.org/drawingml/2006/main">
            <a:off x="1047750" y="4171950"/>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FF7285"/>
                </a:solidFill>
                <a:latin typeface="Liberation Sans"/>
                <a:ea typeface="Liberation Sans"/>
                <a:cs typeface="Liberation Sans"/>
              </a:defRPr>
            </a:pPr>
            <a:r>
              <a:rPr sz="900" b="1">
                <a:solidFill>
                  <a:srgbClr val="FF7285"/>
                </a:solidFill>
                <a:latin typeface="Liberation Sans"/>
                <a:ea typeface="Liberation Sans"/>
                <a:cs typeface="Liberation Sans"/>
              </a:rPr>
              <a:t>DENIED</a:t>
            </a:r>
          </a:p>
        </p:txBody>
      </p:sp>
      <p:sp>
        <p:nvSpPr>
          <p:cNvPr id="13" name="">
            <a:extLst xmlns:a="http://schemas.openxmlformats.org/drawingml/2006/main">
              <a:ext uri="{FF2B5EF4-FFF2-40B4-BE49-F238E27FC236}">
                <a16:creationId xmlns:a16="http://schemas.microsoft.com/office/drawing/2014/main" id="{63462CBC-B570-4A1E-AEAA-09A996409701}"/>
              </a:ext>
            </a:extLst>
          </p:cNvPr>
          <p:cNvSpPr>
            <a:spLocks xmlns:a="http://schemas.openxmlformats.org/drawingml/2006/main" noGrp="1"/>
          </p:cNvSpPr>
          <p:nvPr/>
        </p:nvSpPr>
        <p:spPr>
          <a:xfrm xmlns:a="http://schemas.openxmlformats.org/drawingml/2006/main">
            <a:off x="1162050" y="45148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0">
                <a:solidFill>
                  <a:srgbClr val="A6B7C8"/>
                </a:solidFill>
                <a:latin typeface="Liberation Sans"/>
                <a:ea typeface="Liberation Sans"/>
                <a:cs typeface="Liberation Sans"/>
              </a:defRPr>
            </a:pPr>
            <a:r>
              <a:rPr sz="1275" b="0">
                <a:solidFill>
                  <a:srgbClr val="A6B7C8"/>
                </a:solidFill>
                <a:latin typeface="Liberation Sans"/>
                <a:ea typeface="Liberation Sans"/>
                <a:cs typeface="Liberation Sans"/>
              </a:rPr>
              <a:t>-  Secrets</a:t>
            </a:r>
          </a:p>
        </p:txBody>
      </p:sp>
      <p:sp>
        <p:nvSpPr>
          <p:cNvPr id="14" name="">
            <a:extLst xmlns:a="http://schemas.openxmlformats.org/drawingml/2006/main">
              <a:ext uri="{FF2B5EF4-FFF2-40B4-BE49-F238E27FC236}">
                <a16:creationId xmlns:a16="http://schemas.microsoft.com/office/drawing/2014/main" id="{A75D56D3-F541-4CB9-BC2F-5283FB799CE1}"/>
              </a:ext>
            </a:extLst>
          </p:cNvPr>
          <p:cNvSpPr>
            <a:spLocks xmlns:a="http://schemas.openxmlformats.org/drawingml/2006/main" noGrp="1"/>
          </p:cNvSpPr>
          <p:nvPr/>
        </p:nvSpPr>
        <p:spPr>
          <a:xfrm xmlns:a="http://schemas.openxmlformats.org/drawingml/2006/main">
            <a:off x="1162050" y="48387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0">
                <a:solidFill>
                  <a:srgbClr val="A6B7C8"/>
                </a:solidFill>
                <a:latin typeface="Liberation Sans"/>
                <a:ea typeface="Liberation Sans"/>
                <a:cs typeface="Liberation Sans"/>
              </a:defRPr>
            </a:pPr>
            <a:r>
              <a:rPr sz="1275" b="0">
                <a:solidFill>
                  <a:srgbClr val="A6B7C8"/>
                </a:solidFill>
                <a:latin typeface="Liberation Sans"/>
                <a:ea typeface="Liberation Sans"/>
                <a:cs typeface="Liberation Sans"/>
              </a:rPr>
              <a:t>-  Cluster scope</a:t>
            </a:r>
          </a:p>
        </p:txBody>
      </p:sp>
      <p:sp>
        <p:nvSpPr>
          <p:cNvPr id="15" name="">
            <a:extLst xmlns:a="http://schemas.openxmlformats.org/drawingml/2006/main">
              <a:ext uri="{FF2B5EF4-FFF2-40B4-BE49-F238E27FC236}">
                <a16:creationId xmlns:a16="http://schemas.microsoft.com/office/drawing/2014/main" id="{FBF03190-E427-4A6D-83EE-B8C705444769}"/>
              </a:ext>
            </a:extLst>
          </p:cNvPr>
          <p:cNvSpPr>
            <a:spLocks xmlns:a="http://schemas.openxmlformats.org/drawingml/2006/main" noGrp="1"/>
          </p:cNvSpPr>
          <p:nvPr/>
        </p:nvSpPr>
        <p:spPr>
          <a:xfrm xmlns:a="http://schemas.openxmlformats.org/drawingml/2006/main">
            <a:off x="1162050" y="51625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0">
                <a:solidFill>
                  <a:srgbClr val="A6B7C8"/>
                </a:solidFill>
                <a:latin typeface="Liberation Sans"/>
                <a:ea typeface="Liberation Sans"/>
                <a:cs typeface="Liberation Sans"/>
              </a:defRPr>
            </a:pPr>
            <a:r>
              <a:rPr sz="1275" b="0">
                <a:solidFill>
                  <a:srgbClr val="A6B7C8"/>
                </a:solidFill>
                <a:latin typeface="Liberation Sans"/>
                <a:ea typeface="Liberation Sans"/>
                <a:cs typeface="Liberation Sans"/>
              </a:rPr>
              <a:t>-  Any write</a:t>
            </a:r>
          </a:p>
        </p:txBody>
      </p:sp>
      <p:sp>
        <p:nvSpPr>
          <p:cNvPr id="16" name="">
            <a:extLst xmlns:a="http://schemas.openxmlformats.org/drawingml/2006/main">
              <a:ext uri="{FF2B5EF4-FFF2-40B4-BE49-F238E27FC236}">
                <a16:creationId xmlns:a16="http://schemas.microsoft.com/office/drawing/2014/main" id="{5A6B61F8-464B-46D5-BE3F-F255C448ACC1}"/>
              </a:ext>
            </a:extLst>
          </p:cNvPr>
          <p:cNvSpPr>
            <a:spLocks xmlns:a="http://schemas.openxmlformats.org/drawingml/2006/main" noGrp="1"/>
          </p:cNvSpPr>
          <p:nvPr/>
        </p:nvSpPr>
        <p:spPr>
          <a:xfrm xmlns:a="http://schemas.openxmlformats.org/drawingml/2006/main">
            <a:off x="6229350" y="1504950"/>
            <a:ext cx="5143500" cy="4114800"/>
          </a:xfrm>
          <a:prstGeom xmlns:a="http://schemas.openxmlformats.org/drawingml/2006/main" prst="roundRect">
            <a:avLst>
              <a:gd name="adj" fmla="val 4630"/>
            </a:avLst>
          </a:prstGeom>
          <a:solidFill xmlns:a="http://schemas.openxmlformats.org/drawingml/2006/main">
            <a:srgbClr val="102338"/>
          </a:solidFill>
          <a:ln xmlns:a="http://schemas.openxmlformats.org/drawingml/2006/main" w="14288">
            <a:solidFill>
              <a:srgbClr val="29445D"/>
            </a:solidFill>
            <a:prstDash val="solid"/>
          </a:ln>
        </p:spPr>
      </p:sp>
      <p:sp>
        <p:nvSpPr>
          <p:cNvPr id="17" name="">
            <a:extLst xmlns:a="http://schemas.openxmlformats.org/drawingml/2006/main">
              <a:ext uri="{FF2B5EF4-FFF2-40B4-BE49-F238E27FC236}">
                <a16:creationId xmlns:a16="http://schemas.microsoft.com/office/drawing/2014/main" id="{A83C8880-1703-4604-897D-9083282AAEDC}"/>
              </a:ext>
            </a:extLst>
          </p:cNvPr>
          <p:cNvSpPr>
            <a:spLocks xmlns:a="http://schemas.openxmlformats.org/drawingml/2006/main" noGrp="1"/>
          </p:cNvSpPr>
          <p:nvPr/>
        </p:nvSpPr>
        <p:spPr>
          <a:xfrm xmlns:a="http://schemas.openxmlformats.org/drawingml/2006/main">
            <a:off x="6572250" y="1771650"/>
            <a:ext cx="438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9A7BFF"/>
                </a:solidFill>
                <a:latin typeface="Liberation Sans"/>
                <a:ea typeface="Liberation Sans"/>
                <a:cs typeface="Liberation Sans"/>
              </a:defRPr>
            </a:pPr>
            <a:r>
              <a:rPr sz="1875" b="1">
                <a:solidFill>
                  <a:srgbClr val="9A7BFF"/>
                </a:solidFill>
                <a:latin typeface="Liberation Sans"/>
                <a:ea typeface="Liberation Sans"/>
                <a:cs typeface="Liberation Sans"/>
              </a:rPr>
              <a:t>GitHub reviewer</a:t>
            </a:r>
          </a:p>
        </p:txBody>
      </p:sp>
      <p:sp>
        <p:nvSpPr>
          <p:cNvPr id="18" name="">
            <a:extLst xmlns:a="http://schemas.openxmlformats.org/drawingml/2006/main">
              <a:ext uri="{FF2B5EF4-FFF2-40B4-BE49-F238E27FC236}">
                <a16:creationId xmlns:a16="http://schemas.microsoft.com/office/drawing/2014/main" id="{298F80C8-DB79-4539-943E-F0DED9E623E6}"/>
              </a:ext>
            </a:extLst>
          </p:cNvPr>
          <p:cNvSpPr>
            <a:spLocks xmlns:a="http://schemas.openxmlformats.org/drawingml/2006/main" noGrp="1"/>
          </p:cNvSpPr>
          <p:nvPr/>
        </p:nvSpPr>
        <p:spPr>
          <a:xfrm xmlns:a="http://schemas.openxmlformats.org/drawingml/2006/main">
            <a:off x="6572250" y="2362200"/>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68E1C4"/>
                </a:solidFill>
                <a:latin typeface="Liberation Sans"/>
                <a:ea typeface="Liberation Sans"/>
                <a:cs typeface="Liberation Sans"/>
              </a:defRPr>
            </a:pPr>
            <a:r>
              <a:rPr sz="900" b="1">
                <a:solidFill>
                  <a:srgbClr val="68E1C4"/>
                </a:solidFill>
                <a:latin typeface="Liberation Sans"/>
                <a:ea typeface="Liberation Sans"/>
                <a:cs typeface="Liberation Sans"/>
              </a:rPr>
              <a:t>ALLOWED</a:t>
            </a:r>
          </a:p>
        </p:txBody>
      </p:sp>
      <p:sp>
        <p:nvSpPr>
          <p:cNvPr id="19" name="">
            <a:extLst xmlns:a="http://schemas.openxmlformats.org/drawingml/2006/main">
              <a:ext uri="{FF2B5EF4-FFF2-40B4-BE49-F238E27FC236}">
                <a16:creationId xmlns:a16="http://schemas.microsoft.com/office/drawing/2014/main" id="{DFDF8AF2-CF9D-4550-9A25-6A830E3D1CE1}"/>
              </a:ext>
            </a:extLst>
          </p:cNvPr>
          <p:cNvSpPr>
            <a:spLocks xmlns:a="http://schemas.openxmlformats.org/drawingml/2006/main" noGrp="1"/>
          </p:cNvSpPr>
          <p:nvPr/>
        </p:nvSpPr>
        <p:spPr>
          <a:xfrm xmlns:a="http://schemas.openxmlformats.org/drawingml/2006/main">
            <a:off x="6686550" y="272415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4F8FC"/>
                </a:solidFill>
                <a:latin typeface="Liberation Sans"/>
                <a:ea typeface="Liberation Sans"/>
                <a:cs typeface="Liberation Sans"/>
              </a:defRPr>
            </a:pPr>
            <a:r>
              <a:rPr sz="1425" b="0">
                <a:solidFill>
                  <a:srgbClr val="F4F8FC"/>
                </a:solidFill>
                <a:latin typeface="Liberation Sans"/>
                <a:ea typeface="Liberation Sans"/>
                <a:cs typeface="Liberation Sans"/>
              </a:rPr>
              <a:t>+  Repository content</a:t>
            </a:r>
          </a:p>
        </p:txBody>
      </p:sp>
      <p:sp>
        <p:nvSpPr>
          <p:cNvPr id="20" name="">
            <a:extLst xmlns:a="http://schemas.openxmlformats.org/drawingml/2006/main">
              <a:ext uri="{FF2B5EF4-FFF2-40B4-BE49-F238E27FC236}">
                <a16:creationId xmlns:a16="http://schemas.microsoft.com/office/drawing/2014/main" id="{2D25EB12-B78E-4BB4-ADD3-C9BC7AA3A65C}"/>
              </a:ext>
            </a:extLst>
          </p:cNvPr>
          <p:cNvSpPr>
            <a:spLocks xmlns:a="http://schemas.openxmlformats.org/drawingml/2006/main" noGrp="1"/>
          </p:cNvSpPr>
          <p:nvPr/>
        </p:nvSpPr>
        <p:spPr>
          <a:xfrm xmlns:a="http://schemas.openxmlformats.org/drawingml/2006/main">
            <a:off x="6686550" y="318135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4F8FC"/>
                </a:solidFill>
                <a:latin typeface="Liberation Sans"/>
                <a:ea typeface="Liberation Sans"/>
                <a:cs typeface="Liberation Sans"/>
              </a:defRPr>
            </a:pPr>
            <a:r>
              <a:rPr sz="1425" b="0">
                <a:solidFill>
                  <a:srgbClr val="F4F8FC"/>
                </a:solidFill>
                <a:latin typeface="Liberation Sans"/>
                <a:ea typeface="Liberation Sans"/>
                <a:cs typeface="Liberation Sans"/>
              </a:rPr>
              <a:t>+  Pull request diff</a:t>
            </a:r>
          </a:p>
        </p:txBody>
      </p:sp>
      <p:sp>
        <p:nvSpPr>
          <p:cNvPr id="21" name="">
            <a:extLst xmlns:a="http://schemas.openxmlformats.org/drawingml/2006/main">
              <a:ext uri="{FF2B5EF4-FFF2-40B4-BE49-F238E27FC236}">
                <a16:creationId xmlns:a16="http://schemas.microsoft.com/office/drawing/2014/main" id="{70A73929-8504-47D2-81B6-294552A727EB}"/>
              </a:ext>
            </a:extLst>
          </p:cNvPr>
          <p:cNvSpPr>
            <a:spLocks xmlns:a="http://schemas.openxmlformats.org/drawingml/2006/main" noGrp="1"/>
          </p:cNvSpPr>
          <p:nvPr/>
        </p:nvSpPr>
        <p:spPr>
          <a:xfrm xmlns:a="http://schemas.openxmlformats.org/drawingml/2006/main">
            <a:off x="6686550" y="363855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4F8FC"/>
                </a:solidFill>
                <a:latin typeface="Liberation Sans"/>
                <a:ea typeface="Liberation Sans"/>
                <a:cs typeface="Liberation Sans"/>
              </a:defRPr>
            </a:pPr>
            <a:r>
              <a:rPr sz="1425" b="0">
                <a:solidFill>
                  <a:srgbClr val="F4F8FC"/>
                </a:solidFill>
                <a:latin typeface="Liberation Sans"/>
                <a:ea typeface="Liberation Sans"/>
                <a:cs typeface="Liberation Sans"/>
              </a:rPr>
              <a:t>+  Review comments</a:t>
            </a:r>
          </a:p>
        </p:txBody>
      </p:sp>
      <p:sp>
        <p:nvSpPr>
          <p:cNvPr id="22" name="">
            <a:extLst xmlns:a="http://schemas.openxmlformats.org/drawingml/2006/main">
              <a:ext uri="{FF2B5EF4-FFF2-40B4-BE49-F238E27FC236}">
                <a16:creationId xmlns:a16="http://schemas.microsoft.com/office/drawing/2014/main" id="{A62C4D90-18E5-496A-9277-C8EF8F2B9125}"/>
              </a:ext>
            </a:extLst>
          </p:cNvPr>
          <p:cNvSpPr>
            <a:spLocks xmlns:a="http://schemas.openxmlformats.org/drawingml/2006/main" noGrp="1"/>
          </p:cNvSpPr>
          <p:nvPr/>
        </p:nvSpPr>
        <p:spPr>
          <a:xfrm xmlns:a="http://schemas.openxmlformats.org/drawingml/2006/main">
            <a:off x="6572250" y="4171950"/>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FF7285"/>
                </a:solidFill>
                <a:latin typeface="Liberation Sans"/>
                <a:ea typeface="Liberation Sans"/>
                <a:cs typeface="Liberation Sans"/>
              </a:defRPr>
            </a:pPr>
            <a:r>
              <a:rPr sz="900" b="1">
                <a:solidFill>
                  <a:srgbClr val="FF7285"/>
                </a:solidFill>
                <a:latin typeface="Liberation Sans"/>
                <a:ea typeface="Liberation Sans"/>
                <a:cs typeface="Liberation Sans"/>
              </a:rPr>
              <a:t>DENIED</a:t>
            </a:r>
          </a:p>
        </p:txBody>
      </p:sp>
      <p:sp>
        <p:nvSpPr>
          <p:cNvPr id="23" name="">
            <a:extLst xmlns:a="http://schemas.openxmlformats.org/drawingml/2006/main">
              <a:ext uri="{FF2B5EF4-FFF2-40B4-BE49-F238E27FC236}">
                <a16:creationId xmlns:a16="http://schemas.microsoft.com/office/drawing/2014/main" id="{7A9E8E81-D796-4542-A249-28389F39E886}"/>
              </a:ext>
            </a:extLst>
          </p:cNvPr>
          <p:cNvSpPr>
            <a:spLocks xmlns:a="http://schemas.openxmlformats.org/drawingml/2006/main" noGrp="1"/>
          </p:cNvSpPr>
          <p:nvPr/>
        </p:nvSpPr>
        <p:spPr>
          <a:xfrm xmlns:a="http://schemas.openxmlformats.org/drawingml/2006/main">
            <a:off x="6686550" y="45148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0">
                <a:solidFill>
                  <a:srgbClr val="A6B7C8"/>
                </a:solidFill>
                <a:latin typeface="Liberation Sans"/>
                <a:ea typeface="Liberation Sans"/>
                <a:cs typeface="Liberation Sans"/>
              </a:defRPr>
            </a:pPr>
            <a:r>
              <a:rPr sz="1275" b="0">
                <a:solidFill>
                  <a:srgbClr val="A6B7C8"/>
                </a:solidFill>
                <a:latin typeface="Liberation Sans"/>
                <a:ea typeface="Liberation Sans"/>
                <a:cs typeface="Liberation Sans"/>
              </a:rPr>
              <a:t>-  Push</a:t>
            </a:r>
          </a:p>
        </p:txBody>
      </p:sp>
      <p:sp>
        <p:nvSpPr>
          <p:cNvPr id="24" name="">
            <a:extLst xmlns:a="http://schemas.openxmlformats.org/drawingml/2006/main">
              <a:ext uri="{FF2B5EF4-FFF2-40B4-BE49-F238E27FC236}">
                <a16:creationId xmlns:a16="http://schemas.microsoft.com/office/drawing/2014/main" id="{7DE44252-51F8-4B8A-B0A1-C766F6DEB362}"/>
              </a:ext>
            </a:extLst>
          </p:cNvPr>
          <p:cNvSpPr>
            <a:spLocks xmlns:a="http://schemas.openxmlformats.org/drawingml/2006/main" noGrp="1"/>
          </p:cNvSpPr>
          <p:nvPr/>
        </p:nvSpPr>
        <p:spPr>
          <a:xfrm xmlns:a="http://schemas.openxmlformats.org/drawingml/2006/main">
            <a:off x="6686550" y="48387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0">
                <a:solidFill>
                  <a:srgbClr val="A6B7C8"/>
                </a:solidFill>
                <a:latin typeface="Liberation Sans"/>
                <a:ea typeface="Liberation Sans"/>
                <a:cs typeface="Liberation Sans"/>
              </a:defRPr>
            </a:pPr>
            <a:r>
              <a:rPr sz="1275" b="0">
                <a:solidFill>
                  <a:srgbClr val="A6B7C8"/>
                </a:solidFill>
                <a:latin typeface="Liberation Sans"/>
                <a:ea typeface="Liberation Sans"/>
                <a:cs typeface="Liberation Sans"/>
              </a:rPr>
              <a:t>-  Merge</a:t>
            </a:r>
          </a:p>
        </p:txBody>
      </p:sp>
      <p:sp>
        <p:nvSpPr>
          <p:cNvPr id="25" name="">
            <a:extLst xmlns:a="http://schemas.openxmlformats.org/drawingml/2006/main">
              <a:ext uri="{FF2B5EF4-FFF2-40B4-BE49-F238E27FC236}">
                <a16:creationId xmlns:a16="http://schemas.microsoft.com/office/drawing/2014/main" id="{9C0E9A86-AEE2-4230-BE63-09C46DEA5B2C}"/>
              </a:ext>
            </a:extLst>
          </p:cNvPr>
          <p:cNvSpPr>
            <a:spLocks xmlns:a="http://schemas.openxmlformats.org/drawingml/2006/main" noGrp="1"/>
          </p:cNvSpPr>
          <p:nvPr/>
        </p:nvSpPr>
        <p:spPr>
          <a:xfrm xmlns:a="http://schemas.openxmlformats.org/drawingml/2006/main">
            <a:off x="6686550" y="51625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0">
                <a:solidFill>
                  <a:srgbClr val="A6B7C8"/>
                </a:solidFill>
                <a:latin typeface="Liberation Sans"/>
                <a:ea typeface="Liberation Sans"/>
                <a:cs typeface="Liberation Sans"/>
              </a:defRPr>
            </a:pPr>
            <a:r>
              <a:rPr sz="1275" b="0">
                <a:solidFill>
                  <a:srgbClr val="A6B7C8"/>
                </a:solidFill>
                <a:latin typeface="Liberation Sans"/>
                <a:ea typeface="Liberation Sans"/>
                <a:cs typeface="Liberation Sans"/>
              </a:rPr>
              <a:t>-  Code changes</a:t>
            </a:r>
          </a:p>
        </p:txBody>
      </p:sp>
    </p:spTree>
    <p:extLst>
      <p:ext uri="{BB962C8B-B14F-4D97-AF65-F5344CB8AC3E}">
        <p14:creationId xmlns:p14="http://schemas.microsoft.com/office/powerpoint/2010/main" val="1635779338"/>
      </p:ext>
    </p:extLst>
  </p:cSld>
</p:sld>
</file>

<file path=ppt/slides/slide7.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7E6E00CF-8852-4C61-ABE2-2D74C63C40D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54D6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9E537C8-4808-4513-870C-26ED36A3EE90}"/>
              </a:ext>
            </a:extLst>
          </p:cNvPr>
          <p:cNvSpPr>
            <a:spLocks xmlns:a="http://schemas.openxmlformats.org/drawingml/2006/main" noGrp="1"/>
          </p:cNvSpPr>
          <p:nvPr/>
        </p:nvSpPr>
        <p:spPr>
          <a:xfrm xmlns:a="http://schemas.openxmlformats.org/drawingml/2006/main">
            <a:off x="590550" y="400050"/>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F4F8FC"/>
                </a:solidFill>
                <a:latin typeface="Liberation Sans"/>
                <a:ea typeface="Liberation Sans"/>
                <a:cs typeface="Liberation Sans"/>
              </a:defRPr>
            </a:pPr>
            <a:r>
              <a:rPr sz="2550" b="1">
                <a:solidFill>
                  <a:srgbClr val="F4F8FC"/>
                </a:solidFill>
                <a:latin typeface="Liberation Sans"/>
                <a:ea typeface="Liberation Sans"/>
                <a:cs typeface="Liberation Sans"/>
              </a:rPr>
              <a:t>Fleet visibility and auditability</a:t>
            </a:r>
          </a:p>
        </p:txBody>
      </p:sp>
      <p:sp>
        <p:nvSpPr>
          <p:cNvPr id="3" name="">
            <a:extLst xmlns:a="http://schemas.openxmlformats.org/drawingml/2006/main">
              <a:ext uri="{FF2B5EF4-FFF2-40B4-BE49-F238E27FC236}">
                <a16:creationId xmlns:a16="http://schemas.microsoft.com/office/drawing/2014/main" id="{85A88071-9637-4BEE-81F2-6DE738AA9158}"/>
              </a:ext>
            </a:extLst>
          </p:cNvPr>
          <p:cNvSpPr>
            <a:spLocks xmlns:a="http://schemas.openxmlformats.org/drawingml/2006/main" noGrp="1"/>
          </p:cNvSpPr>
          <p:nvPr/>
        </p:nvSpPr>
        <p:spPr>
          <a:xfrm xmlns:a="http://schemas.openxmlformats.org/drawingml/2006/main">
            <a:off x="60960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A6B7C8"/>
                </a:solidFill>
                <a:latin typeface="Liberation Sans"/>
                <a:ea typeface="Liberation Sans"/>
                <a:cs typeface="Liberation Sans"/>
              </a:defRPr>
            </a:pPr>
            <a:r>
              <a:rPr sz="1275" b="0">
                <a:solidFill>
                  <a:srgbClr val="A6B7C8"/>
                </a:solidFill>
                <a:latin typeface="Liberation Sans"/>
                <a:ea typeface="Liberation Sans"/>
                <a:cs typeface="Liberation Sans"/>
              </a:rPr>
              <a:t>Central evidence replaces reconstruction from local terminals and team-specific logs</a:t>
            </a:r>
          </a:p>
        </p:txBody>
      </p:sp>
      <p:sp>
        <p:nvSpPr>
          <p:cNvPr id="4" name="">
            <a:extLst xmlns:a="http://schemas.openxmlformats.org/drawingml/2006/main">
              <a:ext uri="{FF2B5EF4-FFF2-40B4-BE49-F238E27FC236}">
                <a16:creationId xmlns:a16="http://schemas.microsoft.com/office/drawing/2014/main" id="{5F3F09CA-EECC-410B-ADA1-EB0958D4D703}"/>
              </a:ext>
            </a:extLst>
          </p:cNvPr>
          <p:cNvSpPr>
            <a:spLocks xmlns:a="http://schemas.openxmlformats.org/drawingml/2006/main" noGrp="1"/>
          </p:cNvSpPr>
          <p:nvPr/>
        </p:nvSpPr>
        <p:spPr>
          <a:xfrm xmlns:a="http://schemas.openxmlformats.org/drawingml/2006/main">
            <a:off x="11258550" y="62293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A6B7C8"/>
                </a:solidFill>
                <a:latin typeface="Liberation Sans"/>
                <a:ea typeface="Liberation Sans"/>
                <a:cs typeface="Liberation Sans"/>
              </a:defRPr>
            </a:pPr>
            <a:r>
              <a:rPr sz="900" b="0">
                <a:solidFill>
                  <a:srgbClr val="A6B7C8"/>
                </a:solidFill>
                <a:latin typeface="Liberation Sans"/>
                <a:ea typeface="Liberation Sans"/>
                <a:cs typeface="Liberation Sans"/>
              </a:rPr>
              <a:t>07</a:t>
            </a:r>
          </a:p>
        </p:txBody>
      </p:sp>
      <p:sp>
        <p:nvSpPr>
          <p:cNvPr id="5" name="">
            <a:extLst xmlns:a="http://schemas.openxmlformats.org/drawingml/2006/main">
              <a:ext uri="{FF2B5EF4-FFF2-40B4-BE49-F238E27FC236}">
                <a16:creationId xmlns:a16="http://schemas.microsoft.com/office/drawing/2014/main" id="{A5D9638A-DFA5-443B-9303-A52235040178}"/>
              </a:ext>
            </a:extLst>
          </p:cNvPr>
          <p:cNvSpPr>
            <a:spLocks xmlns:a="http://schemas.openxmlformats.org/drawingml/2006/main" noGrp="1"/>
          </p:cNvSpPr>
          <p:nvPr/>
        </p:nvSpPr>
        <p:spPr>
          <a:xfrm xmlns:a="http://schemas.openxmlformats.org/drawingml/2006/main">
            <a:off x="590550" y="62293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A6B7C8"/>
                </a:solidFill>
                <a:latin typeface="Liberation Sans"/>
                <a:ea typeface="Liberation Sans"/>
                <a:cs typeface="Liberation Sans"/>
              </a:defRPr>
            </a:pPr>
            <a:r>
              <a:rPr sz="900" b="0">
                <a:solidFill>
                  <a:srgbClr val="A6B7C8"/>
                </a:solidFill>
                <a:latin typeface="Liberation Sans"/>
                <a:ea typeface="Liberation Sans"/>
                <a:cs typeface="Liberation Sans"/>
              </a:rPr>
              <a:t>KAOP by Nirit Terehovsky</a:t>
            </a:r>
          </a:p>
        </p:txBody>
      </p:sp>
      <p:sp>
        <p:nvSpPr>
          <p:cNvPr id="6" name="">
            <a:extLst xmlns:a="http://schemas.openxmlformats.org/drawingml/2006/main">
              <a:ext uri="{FF2B5EF4-FFF2-40B4-BE49-F238E27FC236}">
                <a16:creationId xmlns:a16="http://schemas.microsoft.com/office/drawing/2014/main" id="{64154528-8A29-40A7-B0B8-D023DACDC3DC}"/>
              </a:ext>
            </a:extLst>
          </p:cNvPr>
          <p:cNvSpPr>
            <a:spLocks xmlns:a="http://schemas.openxmlformats.org/drawingml/2006/main" noGrp="1"/>
          </p:cNvSpPr>
          <p:nvPr/>
        </p:nvSpPr>
        <p:spPr>
          <a:xfrm xmlns:a="http://schemas.openxmlformats.org/drawingml/2006/main">
            <a:off x="781050" y="1581150"/>
            <a:ext cx="10572750" cy="1276350"/>
          </a:xfrm>
          <a:prstGeom xmlns:a="http://schemas.openxmlformats.org/drawingml/2006/main" prst="roundRect">
            <a:avLst>
              <a:gd name="adj" fmla="val 13433"/>
            </a:avLst>
          </a:prstGeom>
          <a:solidFill xmlns:a="http://schemas.openxmlformats.org/drawingml/2006/main">
            <a:srgbClr val="102338"/>
          </a:solidFill>
          <a:ln xmlns:a="http://schemas.openxmlformats.org/drawingml/2006/main" w="14288">
            <a:solidFill>
              <a:srgbClr val="29445D"/>
            </a:solidFill>
            <a:prstDash val="solid"/>
          </a:ln>
        </p:spPr>
      </p:sp>
      <p:sp>
        <p:nvSpPr>
          <p:cNvPr id="7" name="">
            <a:extLst xmlns:a="http://schemas.openxmlformats.org/drawingml/2006/main">
              <a:ext uri="{FF2B5EF4-FFF2-40B4-BE49-F238E27FC236}">
                <a16:creationId xmlns:a16="http://schemas.microsoft.com/office/drawing/2014/main" id="{5BA621F2-0A1E-42EB-A207-F25FDB4D46B5}"/>
              </a:ext>
            </a:extLst>
          </p:cNvPr>
          <p:cNvSpPr>
            <a:spLocks xmlns:a="http://schemas.openxmlformats.org/drawingml/2006/main" noGrp="1"/>
          </p:cNvSpPr>
          <p:nvPr/>
        </p:nvSpPr>
        <p:spPr>
          <a:xfrm xmlns:a="http://schemas.openxmlformats.org/drawingml/2006/main">
            <a:off x="1066800" y="1943100"/>
            <a:ext cx="171450" cy="171450"/>
          </a:xfrm>
          <a:prstGeom xmlns:a="http://schemas.openxmlformats.org/drawingml/2006/main" prst="ellipse">
            <a:avLst/>
          </a:prstGeom>
          <a:solidFill xmlns:a="http://schemas.openxmlformats.org/drawingml/2006/main">
            <a:srgbClr val="54D6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420995-F64E-488F-8957-808536E47007}"/>
              </a:ext>
            </a:extLst>
          </p:cNvPr>
          <p:cNvSpPr>
            <a:spLocks xmlns:a="http://schemas.openxmlformats.org/drawingml/2006/main" noGrp="1"/>
          </p:cNvSpPr>
          <p:nvPr/>
        </p:nvSpPr>
        <p:spPr>
          <a:xfrm xmlns:a="http://schemas.openxmlformats.org/drawingml/2006/main">
            <a:off x="1238250" y="2028825"/>
            <a:ext cx="1847850" cy="0"/>
          </a:xfrm>
          <a:prstGeom xmlns:a="http://schemas.openxmlformats.org/drawingml/2006/main" prst="line">
            <a:avLst/>
          </a:prstGeom>
          <a:noFill xmlns:a="http://schemas.openxmlformats.org/drawingml/2006/main"/>
          <a:ln xmlns:a="http://schemas.openxmlformats.org/drawingml/2006/main" w="14288">
            <a:solidFill>
              <a:srgbClr val="29445D"/>
            </a:solidFill>
            <a:prstDash val="solid"/>
          </a:ln>
        </p:spPr>
      </p:sp>
      <p:sp>
        <p:nvSpPr>
          <p:cNvPr id="9" name="">
            <a:extLst xmlns:a="http://schemas.openxmlformats.org/drawingml/2006/main">
              <a:ext uri="{FF2B5EF4-FFF2-40B4-BE49-F238E27FC236}">
                <a16:creationId xmlns:a16="http://schemas.microsoft.com/office/drawing/2014/main" id="{6BEB2B23-9365-45E2-B420-A6C245E2DFF3}"/>
              </a:ext>
            </a:extLst>
          </p:cNvPr>
          <p:cNvSpPr>
            <a:spLocks xmlns:a="http://schemas.openxmlformats.org/drawingml/2006/main" noGrp="1"/>
          </p:cNvSpPr>
          <p:nvPr/>
        </p:nvSpPr>
        <p:spPr>
          <a:xfrm xmlns:a="http://schemas.openxmlformats.org/drawingml/2006/main">
            <a:off x="1066800" y="2209800"/>
            <a:ext cx="800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0">
                <a:solidFill>
                  <a:srgbClr val="54D6FF"/>
                </a:solidFill>
                <a:latin typeface="Liberation Sans"/>
                <a:ea typeface="Liberation Sans"/>
                <a:cs typeface="Liberation Sans"/>
              </a:defRPr>
            </a:pPr>
            <a:r>
              <a:rPr sz="900" b="0">
                <a:solidFill>
                  <a:srgbClr val="54D6FF"/>
                </a:solidFill>
                <a:latin typeface="Liberation Sans"/>
                <a:ea typeface="Liberation Sans"/>
                <a:cs typeface="Liberation Sans"/>
              </a:rPr>
              <a:t>14:03</a:t>
            </a:r>
          </a:p>
        </p:txBody>
      </p:sp>
      <p:sp>
        <p:nvSpPr>
          <p:cNvPr id="10" name="">
            <a:extLst xmlns:a="http://schemas.openxmlformats.org/drawingml/2006/main">
              <a:ext uri="{FF2B5EF4-FFF2-40B4-BE49-F238E27FC236}">
                <a16:creationId xmlns:a16="http://schemas.microsoft.com/office/drawing/2014/main" id="{631DBDF1-88A5-431B-80FF-FAB0E5FF1E1C}"/>
              </a:ext>
            </a:extLst>
          </p:cNvPr>
          <p:cNvSpPr>
            <a:spLocks xmlns:a="http://schemas.openxmlformats.org/drawingml/2006/main" noGrp="1"/>
          </p:cNvSpPr>
          <p:nvPr/>
        </p:nvSpPr>
        <p:spPr>
          <a:xfrm xmlns:a="http://schemas.openxmlformats.org/drawingml/2006/main">
            <a:off x="1066800" y="2419350"/>
            <a:ext cx="1676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F4F8FC"/>
                </a:solidFill>
                <a:latin typeface="Liberation Sans"/>
                <a:ea typeface="Liberation Sans"/>
                <a:cs typeface="Liberation Sans"/>
              </a:defRPr>
            </a:pPr>
            <a:r>
              <a:rPr sz="1125" b="1">
                <a:solidFill>
                  <a:srgbClr val="F4F8FC"/>
                </a:solidFill>
                <a:latin typeface="Liberation Sans"/>
                <a:ea typeface="Liberation Sans"/>
                <a:cs typeface="Liberation Sans"/>
              </a:rPr>
              <a:t>Alert received</a:t>
            </a:r>
          </a:p>
        </p:txBody>
      </p:sp>
      <p:sp>
        <p:nvSpPr>
          <p:cNvPr id="11" name="">
            <a:extLst xmlns:a="http://schemas.openxmlformats.org/drawingml/2006/main">
              <a:ext uri="{FF2B5EF4-FFF2-40B4-BE49-F238E27FC236}">
                <a16:creationId xmlns:a16="http://schemas.microsoft.com/office/drawing/2014/main" id="{0764C391-5B6F-44DB-A6AE-18E24DB9F9E2}"/>
              </a:ext>
            </a:extLst>
          </p:cNvPr>
          <p:cNvSpPr>
            <a:spLocks xmlns:a="http://schemas.openxmlformats.org/drawingml/2006/main" noGrp="1"/>
          </p:cNvSpPr>
          <p:nvPr/>
        </p:nvSpPr>
        <p:spPr>
          <a:xfrm xmlns:a="http://schemas.openxmlformats.org/drawingml/2006/main">
            <a:off x="3086100" y="1943100"/>
            <a:ext cx="171450" cy="171450"/>
          </a:xfrm>
          <a:prstGeom xmlns:a="http://schemas.openxmlformats.org/drawingml/2006/main" prst="ellipse">
            <a:avLst/>
          </a:prstGeom>
          <a:solidFill xmlns:a="http://schemas.openxmlformats.org/drawingml/2006/main">
            <a:srgbClr val="9A7BF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4FB58EE-015D-4A6E-BC5A-B26567EE98BA}"/>
              </a:ext>
            </a:extLst>
          </p:cNvPr>
          <p:cNvSpPr>
            <a:spLocks xmlns:a="http://schemas.openxmlformats.org/drawingml/2006/main" noGrp="1"/>
          </p:cNvSpPr>
          <p:nvPr/>
        </p:nvSpPr>
        <p:spPr>
          <a:xfrm xmlns:a="http://schemas.openxmlformats.org/drawingml/2006/main">
            <a:off x="3257550" y="2028825"/>
            <a:ext cx="1847850" cy="0"/>
          </a:xfrm>
          <a:prstGeom xmlns:a="http://schemas.openxmlformats.org/drawingml/2006/main" prst="line">
            <a:avLst/>
          </a:prstGeom>
          <a:noFill xmlns:a="http://schemas.openxmlformats.org/drawingml/2006/main"/>
          <a:ln xmlns:a="http://schemas.openxmlformats.org/drawingml/2006/main" w="14288">
            <a:solidFill>
              <a:srgbClr val="29445D"/>
            </a:solidFill>
            <a:prstDash val="solid"/>
          </a:ln>
        </p:spPr>
      </p:sp>
      <p:sp>
        <p:nvSpPr>
          <p:cNvPr id="13" name="">
            <a:extLst xmlns:a="http://schemas.openxmlformats.org/drawingml/2006/main">
              <a:ext uri="{FF2B5EF4-FFF2-40B4-BE49-F238E27FC236}">
                <a16:creationId xmlns:a16="http://schemas.microsoft.com/office/drawing/2014/main" id="{EBC3BCB5-8B6D-4EF0-B6A0-DA465F60A7BC}"/>
              </a:ext>
            </a:extLst>
          </p:cNvPr>
          <p:cNvSpPr>
            <a:spLocks xmlns:a="http://schemas.openxmlformats.org/drawingml/2006/main" noGrp="1"/>
          </p:cNvSpPr>
          <p:nvPr/>
        </p:nvSpPr>
        <p:spPr>
          <a:xfrm xmlns:a="http://schemas.openxmlformats.org/drawingml/2006/main">
            <a:off x="3086100" y="2209800"/>
            <a:ext cx="800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0">
                <a:solidFill>
                  <a:srgbClr val="9A7BFF"/>
                </a:solidFill>
                <a:latin typeface="Liberation Sans"/>
                <a:ea typeface="Liberation Sans"/>
                <a:cs typeface="Liberation Sans"/>
              </a:defRPr>
            </a:pPr>
            <a:r>
              <a:rPr sz="900" b="0">
                <a:solidFill>
                  <a:srgbClr val="9A7BFF"/>
                </a:solidFill>
                <a:latin typeface="Liberation Sans"/>
                <a:ea typeface="Liberation Sans"/>
                <a:cs typeface="Liberation Sans"/>
              </a:rPr>
              <a:t>14:04</a:t>
            </a:r>
          </a:p>
        </p:txBody>
      </p:sp>
      <p:sp>
        <p:nvSpPr>
          <p:cNvPr id="14" name="">
            <a:extLst xmlns:a="http://schemas.openxmlformats.org/drawingml/2006/main">
              <a:ext uri="{FF2B5EF4-FFF2-40B4-BE49-F238E27FC236}">
                <a16:creationId xmlns:a16="http://schemas.microsoft.com/office/drawing/2014/main" id="{B6744459-A215-4357-B09D-8109A92FAAF1}"/>
              </a:ext>
            </a:extLst>
          </p:cNvPr>
          <p:cNvSpPr>
            <a:spLocks xmlns:a="http://schemas.openxmlformats.org/drawingml/2006/main" noGrp="1"/>
          </p:cNvSpPr>
          <p:nvPr/>
        </p:nvSpPr>
        <p:spPr>
          <a:xfrm xmlns:a="http://schemas.openxmlformats.org/drawingml/2006/main">
            <a:off x="3086100" y="2419350"/>
            <a:ext cx="1676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F4F8FC"/>
                </a:solidFill>
                <a:latin typeface="Liberation Sans"/>
                <a:ea typeface="Liberation Sans"/>
                <a:cs typeface="Liberation Sans"/>
              </a:defRPr>
            </a:pPr>
            <a:r>
              <a:rPr sz="1125" b="1">
                <a:solidFill>
                  <a:srgbClr val="F4F8FC"/>
                </a:solidFill>
                <a:latin typeface="Liberation Sans"/>
                <a:ea typeface="Liberation Sans"/>
                <a:cs typeface="Liberation Sans"/>
              </a:rPr>
              <a:t>Agent invoked</a:t>
            </a:r>
          </a:p>
        </p:txBody>
      </p:sp>
      <p:sp>
        <p:nvSpPr>
          <p:cNvPr id="15" name="">
            <a:extLst xmlns:a="http://schemas.openxmlformats.org/drawingml/2006/main">
              <a:ext uri="{FF2B5EF4-FFF2-40B4-BE49-F238E27FC236}">
                <a16:creationId xmlns:a16="http://schemas.microsoft.com/office/drawing/2014/main" id="{3E07AFA4-C7A4-48B0-B3B6-3CCE0810ED34}"/>
              </a:ext>
            </a:extLst>
          </p:cNvPr>
          <p:cNvSpPr>
            <a:spLocks xmlns:a="http://schemas.openxmlformats.org/drawingml/2006/main" noGrp="1"/>
          </p:cNvSpPr>
          <p:nvPr/>
        </p:nvSpPr>
        <p:spPr>
          <a:xfrm xmlns:a="http://schemas.openxmlformats.org/drawingml/2006/main">
            <a:off x="5105400" y="1943100"/>
            <a:ext cx="171450" cy="171450"/>
          </a:xfrm>
          <a:prstGeom xmlns:a="http://schemas.openxmlformats.org/drawingml/2006/main" prst="ellipse">
            <a:avLst/>
          </a:prstGeom>
          <a:solidFill xmlns:a="http://schemas.openxmlformats.org/drawingml/2006/main">
            <a:srgbClr val="68E1C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5B9DF36-0533-4C4B-9F25-D0F1B7A57609}"/>
              </a:ext>
            </a:extLst>
          </p:cNvPr>
          <p:cNvSpPr>
            <a:spLocks xmlns:a="http://schemas.openxmlformats.org/drawingml/2006/main" noGrp="1"/>
          </p:cNvSpPr>
          <p:nvPr/>
        </p:nvSpPr>
        <p:spPr>
          <a:xfrm xmlns:a="http://schemas.openxmlformats.org/drawingml/2006/main">
            <a:off x="5276850" y="2028825"/>
            <a:ext cx="1847850" cy="0"/>
          </a:xfrm>
          <a:prstGeom xmlns:a="http://schemas.openxmlformats.org/drawingml/2006/main" prst="line">
            <a:avLst/>
          </a:prstGeom>
          <a:noFill xmlns:a="http://schemas.openxmlformats.org/drawingml/2006/main"/>
          <a:ln xmlns:a="http://schemas.openxmlformats.org/drawingml/2006/main" w="14288">
            <a:solidFill>
              <a:srgbClr val="29445D"/>
            </a:solidFill>
            <a:prstDash val="solid"/>
          </a:ln>
        </p:spPr>
      </p:sp>
      <p:sp>
        <p:nvSpPr>
          <p:cNvPr id="17" name="">
            <a:extLst xmlns:a="http://schemas.openxmlformats.org/drawingml/2006/main">
              <a:ext uri="{FF2B5EF4-FFF2-40B4-BE49-F238E27FC236}">
                <a16:creationId xmlns:a16="http://schemas.microsoft.com/office/drawing/2014/main" id="{84C03B5C-90AE-4538-A6AF-96D31A49E8AF}"/>
              </a:ext>
            </a:extLst>
          </p:cNvPr>
          <p:cNvSpPr>
            <a:spLocks xmlns:a="http://schemas.openxmlformats.org/drawingml/2006/main" noGrp="1"/>
          </p:cNvSpPr>
          <p:nvPr/>
        </p:nvSpPr>
        <p:spPr>
          <a:xfrm xmlns:a="http://schemas.openxmlformats.org/drawingml/2006/main">
            <a:off x="5105400" y="2209800"/>
            <a:ext cx="800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0">
                <a:solidFill>
                  <a:srgbClr val="68E1C4"/>
                </a:solidFill>
                <a:latin typeface="Liberation Sans"/>
                <a:ea typeface="Liberation Sans"/>
                <a:cs typeface="Liberation Sans"/>
              </a:defRPr>
            </a:pPr>
            <a:r>
              <a:rPr sz="900" b="0">
                <a:solidFill>
                  <a:srgbClr val="68E1C4"/>
                </a:solidFill>
                <a:latin typeface="Liberation Sans"/>
                <a:ea typeface="Liberation Sans"/>
                <a:cs typeface="Liberation Sans"/>
              </a:rPr>
              <a:t>14:05</a:t>
            </a:r>
          </a:p>
        </p:txBody>
      </p:sp>
      <p:sp>
        <p:nvSpPr>
          <p:cNvPr id="18" name="">
            <a:extLst xmlns:a="http://schemas.openxmlformats.org/drawingml/2006/main">
              <a:ext uri="{FF2B5EF4-FFF2-40B4-BE49-F238E27FC236}">
                <a16:creationId xmlns:a16="http://schemas.microsoft.com/office/drawing/2014/main" id="{57C424DF-0B93-4EAC-BC4D-0DAAE793640F}"/>
              </a:ext>
            </a:extLst>
          </p:cNvPr>
          <p:cNvSpPr>
            <a:spLocks xmlns:a="http://schemas.openxmlformats.org/drawingml/2006/main" noGrp="1"/>
          </p:cNvSpPr>
          <p:nvPr/>
        </p:nvSpPr>
        <p:spPr>
          <a:xfrm xmlns:a="http://schemas.openxmlformats.org/drawingml/2006/main">
            <a:off x="5105400" y="2419350"/>
            <a:ext cx="1676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F4F8FC"/>
                </a:solidFill>
                <a:latin typeface="Liberation Sans"/>
                <a:ea typeface="Liberation Sans"/>
                <a:cs typeface="Liberation Sans"/>
              </a:defRPr>
            </a:pPr>
            <a:r>
              <a:rPr sz="1125" b="1">
                <a:solidFill>
                  <a:srgbClr val="F4F8FC"/>
                </a:solidFill>
                <a:latin typeface="Liberation Sans"/>
                <a:ea typeface="Liberation Sans"/>
                <a:cs typeface="Liberation Sans"/>
              </a:rPr>
              <a:t>Evidence collected</a:t>
            </a:r>
          </a:p>
        </p:txBody>
      </p:sp>
      <p:sp>
        <p:nvSpPr>
          <p:cNvPr id="19" name="">
            <a:extLst xmlns:a="http://schemas.openxmlformats.org/drawingml/2006/main">
              <a:ext uri="{FF2B5EF4-FFF2-40B4-BE49-F238E27FC236}">
                <a16:creationId xmlns:a16="http://schemas.microsoft.com/office/drawing/2014/main" id="{CC25B19F-970F-4848-8CF6-C594C0E8E444}"/>
              </a:ext>
            </a:extLst>
          </p:cNvPr>
          <p:cNvSpPr>
            <a:spLocks xmlns:a="http://schemas.openxmlformats.org/drawingml/2006/main" noGrp="1"/>
          </p:cNvSpPr>
          <p:nvPr/>
        </p:nvSpPr>
        <p:spPr>
          <a:xfrm xmlns:a="http://schemas.openxmlformats.org/drawingml/2006/main">
            <a:off x="7124700" y="1943100"/>
            <a:ext cx="171450" cy="171450"/>
          </a:xfrm>
          <a:prstGeom xmlns:a="http://schemas.openxmlformats.org/drawingml/2006/main" prst="ellipse">
            <a:avLst/>
          </a:prstGeom>
          <a:solidFill xmlns:a="http://schemas.openxmlformats.org/drawingml/2006/main">
            <a:srgbClr val="FFCA6B"/>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846B344-A5A6-4290-9CCA-498D0CC8606D}"/>
              </a:ext>
            </a:extLst>
          </p:cNvPr>
          <p:cNvSpPr>
            <a:spLocks xmlns:a="http://schemas.openxmlformats.org/drawingml/2006/main" noGrp="1"/>
          </p:cNvSpPr>
          <p:nvPr/>
        </p:nvSpPr>
        <p:spPr>
          <a:xfrm xmlns:a="http://schemas.openxmlformats.org/drawingml/2006/main">
            <a:off x="7296150" y="2028825"/>
            <a:ext cx="1847850" cy="0"/>
          </a:xfrm>
          <a:prstGeom xmlns:a="http://schemas.openxmlformats.org/drawingml/2006/main" prst="line">
            <a:avLst/>
          </a:prstGeom>
          <a:noFill xmlns:a="http://schemas.openxmlformats.org/drawingml/2006/main"/>
          <a:ln xmlns:a="http://schemas.openxmlformats.org/drawingml/2006/main" w="14288">
            <a:solidFill>
              <a:srgbClr val="29445D"/>
            </a:solidFill>
            <a:prstDash val="solid"/>
          </a:ln>
        </p:spPr>
      </p:sp>
      <p:sp>
        <p:nvSpPr>
          <p:cNvPr id="21" name="">
            <a:extLst xmlns:a="http://schemas.openxmlformats.org/drawingml/2006/main">
              <a:ext uri="{FF2B5EF4-FFF2-40B4-BE49-F238E27FC236}">
                <a16:creationId xmlns:a16="http://schemas.microsoft.com/office/drawing/2014/main" id="{5595F128-7911-4478-A854-DCDDD980B239}"/>
              </a:ext>
            </a:extLst>
          </p:cNvPr>
          <p:cNvSpPr>
            <a:spLocks xmlns:a="http://schemas.openxmlformats.org/drawingml/2006/main" noGrp="1"/>
          </p:cNvSpPr>
          <p:nvPr/>
        </p:nvSpPr>
        <p:spPr>
          <a:xfrm xmlns:a="http://schemas.openxmlformats.org/drawingml/2006/main">
            <a:off x="7124700" y="2209800"/>
            <a:ext cx="800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0">
                <a:solidFill>
                  <a:srgbClr val="FFCA6B"/>
                </a:solidFill>
                <a:latin typeface="Liberation Sans"/>
                <a:ea typeface="Liberation Sans"/>
                <a:cs typeface="Liberation Sans"/>
              </a:defRPr>
            </a:pPr>
            <a:r>
              <a:rPr sz="900" b="0">
                <a:solidFill>
                  <a:srgbClr val="FFCA6B"/>
                </a:solidFill>
                <a:latin typeface="Liberation Sans"/>
                <a:ea typeface="Liberation Sans"/>
                <a:cs typeface="Liberation Sans"/>
              </a:rPr>
              <a:t>14:06</a:t>
            </a:r>
          </a:p>
        </p:txBody>
      </p:sp>
      <p:sp>
        <p:nvSpPr>
          <p:cNvPr id="22" name="">
            <a:extLst xmlns:a="http://schemas.openxmlformats.org/drawingml/2006/main">
              <a:ext uri="{FF2B5EF4-FFF2-40B4-BE49-F238E27FC236}">
                <a16:creationId xmlns:a16="http://schemas.microsoft.com/office/drawing/2014/main" id="{5F065F1A-6535-4209-A30D-1DF37BEDDCEF}"/>
              </a:ext>
            </a:extLst>
          </p:cNvPr>
          <p:cNvSpPr>
            <a:spLocks xmlns:a="http://schemas.openxmlformats.org/drawingml/2006/main" noGrp="1"/>
          </p:cNvSpPr>
          <p:nvPr/>
        </p:nvSpPr>
        <p:spPr>
          <a:xfrm xmlns:a="http://schemas.openxmlformats.org/drawingml/2006/main">
            <a:off x="7124700" y="2419350"/>
            <a:ext cx="1676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F4F8FC"/>
                </a:solidFill>
                <a:latin typeface="Liberation Sans"/>
                <a:ea typeface="Liberation Sans"/>
                <a:cs typeface="Liberation Sans"/>
              </a:defRPr>
            </a:pPr>
            <a:r>
              <a:rPr sz="1125" b="1">
                <a:solidFill>
                  <a:srgbClr val="F4F8FC"/>
                </a:solidFill>
                <a:latin typeface="Liberation Sans"/>
                <a:ea typeface="Liberation Sans"/>
                <a:cs typeface="Liberation Sans"/>
              </a:rPr>
              <a:t>Finding produced</a:t>
            </a:r>
          </a:p>
        </p:txBody>
      </p:sp>
      <p:sp>
        <p:nvSpPr>
          <p:cNvPr id="23" name="">
            <a:extLst xmlns:a="http://schemas.openxmlformats.org/drawingml/2006/main">
              <a:ext uri="{FF2B5EF4-FFF2-40B4-BE49-F238E27FC236}">
                <a16:creationId xmlns:a16="http://schemas.microsoft.com/office/drawing/2014/main" id="{76FBD9ED-0F6D-481E-8E12-C22506014486}"/>
              </a:ext>
            </a:extLst>
          </p:cNvPr>
          <p:cNvSpPr>
            <a:spLocks xmlns:a="http://schemas.openxmlformats.org/drawingml/2006/main" noGrp="1"/>
          </p:cNvSpPr>
          <p:nvPr/>
        </p:nvSpPr>
        <p:spPr>
          <a:xfrm xmlns:a="http://schemas.openxmlformats.org/drawingml/2006/main">
            <a:off x="9144000" y="1943100"/>
            <a:ext cx="171450" cy="171450"/>
          </a:xfrm>
          <a:prstGeom xmlns:a="http://schemas.openxmlformats.org/drawingml/2006/main" prst="ellipse">
            <a:avLst/>
          </a:prstGeom>
          <a:solidFill xmlns:a="http://schemas.openxmlformats.org/drawingml/2006/main">
            <a:srgbClr val="54D6F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0C4EB82-C4EB-4C09-9E35-5BCBCF3AAF57}"/>
              </a:ext>
            </a:extLst>
          </p:cNvPr>
          <p:cNvSpPr>
            <a:spLocks xmlns:a="http://schemas.openxmlformats.org/drawingml/2006/main" noGrp="1"/>
          </p:cNvSpPr>
          <p:nvPr/>
        </p:nvSpPr>
        <p:spPr>
          <a:xfrm xmlns:a="http://schemas.openxmlformats.org/drawingml/2006/main">
            <a:off x="9144000" y="2209800"/>
            <a:ext cx="800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0">
                <a:solidFill>
                  <a:srgbClr val="54D6FF"/>
                </a:solidFill>
                <a:latin typeface="Liberation Sans"/>
                <a:ea typeface="Liberation Sans"/>
                <a:cs typeface="Liberation Sans"/>
              </a:defRPr>
            </a:pPr>
            <a:r>
              <a:rPr sz="900" b="0">
                <a:solidFill>
                  <a:srgbClr val="54D6FF"/>
                </a:solidFill>
                <a:latin typeface="Liberation Sans"/>
                <a:ea typeface="Liberation Sans"/>
                <a:cs typeface="Liberation Sans"/>
              </a:rPr>
              <a:t>14:07</a:t>
            </a:r>
          </a:p>
        </p:txBody>
      </p:sp>
      <p:sp>
        <p:nvSpPr>
          <p:cNvPr id="25" name="">
            <a:extLst xmlns:a="http://schemas.openxmlformats.org/drawingml/2006/main">
              <a:ext uri="{FF2B5EF4-FFF2-40B4-BE49-F238E27FC236}">
                <a16:creationId xmlns:a16="http://schemas.microsoft.com/office/drawing/2014/main" id="{9EA4AAB7-476C-44F3-AFDB-2ABBA18DAE28}"/>
              </a:ext>
            </a:extLst>
          </p:cNvPr>
          <p:cNvSpPr>
            <a:spLocks xmlns:a="http://schemas.openxmlformats.org/drawingml/2006/main" noGrp="1"/>
          </p:cNvSpPr>
          <p:nvPr/>
        </p:nvSpPr>
        <p:spPr>
          <a:xfrm xmlns:a="http://schemas.openxmlformats.org/drawingml/2006/main">
            <a:off x="9144000" y="2419350"/>
            <a:ext cx="1676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F4F8FC"/>
                </a:solidFill>
                <a:latin typeface="Liberation Sans"/>
                <a:ea typeface="Liberation Sans"/>
                <a:cs typeface="Liberation Sans"/>
              </a:defRPr>
            </a:pPr>
            <a:r>
              <a:rPr sz="1125" b="1">
                <a:solidFill>
                  <a:srgbClr val="F4F8FC"/>
                </a:solidFill>
                <a:latin typeface="Liberation Sans"/>
                <a:ea typeface="Liberation Sans"/>
                <a:cs typeface="Liberation Sans"/>
              </a:rPr>
              <a:t>Decision recorded</a:t>
            </a:r>
          </a:p>
        </p:txBody>
      </p:sp>
      <p:sp>
        <p:nvSpPr>
          <p:cNvPr id="26" name="">
            <a:extLst xmlns:a="http://schemas.openxmlformats.org/drawingml/2006/main">
              <a:ext uri="{FF2B5EF4-FFF2-40B4-BE49-F238E27FC236}">
                <a16:creationId xmlns:a16="http://schemas.microsoft.com/office/drawing/2014/main" id="{A57804E5-0DD3-4C6E-9694-E3D63C3B45B1}"/>
              </a:ext>
            </a:extLst>
          </p:cNvPr>
          <p:cNvSpPr>
            <a:spLocks xmlns:a="http://schemas.openxmlformats.org/drawingml/2006/main" noGrp="1"/>
          </p:cNvSpPr>
          <p:nvPr/>
        </p:nvSpPr>
        <p:spPr>
          <a:xfrm xmlns:a="http://schemas.openxmlformats.org/drawingml/2006/main">
            <a:off x="781050" y="34480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54D6FF"/>
                </a:solidFill>
                <a:latin typeface="Liberation Sans"/>
                <a:ea typeface="Liberation Sans"/>
                <a:cs typeface="Liberation Sans"/>
              </a:defRPr>
            </a:pPr>
            <a:r>
              <a:rPr sz="900" b="1">
                <a:solidFill>
                  <a:srgbClr val="54D6FF"/>
                </a:solidFill>
                <a:latin typeface="Liberation Sans"/>
                <a:ea typeface="Liberation Sans"/>
                <a:cs typeface="Liberation Sans"/>
              </a:rPr>
              <a:t>OWNERSHIP</a:t>
            </a:r>
          </a:p>
        </p:txBody>
      </p:sp>
      <p:sp>
        <p:nvSpPr>
          <p:cNvPr id="27" name="">
            <a:extLst xmlns:a="http://schemas.openxmlformats.org/drawingml/2006/main">
              <a:ext uri="{FF2B5EF4-FFF2-40B4-BE49-F238E27FC236}">
                <a16:creationId xmlns:a16="http://schemas.microsoft.com/office/drawing/2014/main" id="{67F25ABF-711D-4BDA-9A35-D8329420B362}"/>
              </a:ext>
            </a:extLst>
          </p:cNvPr>
          <p:cNvSpPr>
            <a:spLocks xmlns:a="http://schemas.openxmlformats.org/drawingml/2006/main" noGrp="1"/>
          </p:cNvSpPr>
          <p:nvPr/>
        </p:nvSpPr>
        <p:spPr>
          <a:xfrm xmlns:a="http://schemas.openxmlformats.org/drawingml/2006/main">
            <a:off x="781050" y="3829050"/>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F4F8FC"/>
                </a:solidFill>
                <a:latin typeface="Liberation Sans"/>
                <a:ea typeface="Liberation Sans"/>
                <a:cs typeface="Liberation Sans"/>
              </a:defRPr>
            </a:pPr>
            <a:r>
              <a:rPr sz="1500" b="0">
                <a:solidFill>
                  <a:srgbClr val="F4F8FC"/>
                </a:solidFill>
                <a:latin typeface="Liberation Sans"/>
                <a:ea typeface="Liberation Sans"/>
                <a:cs typeface="Liberation Sans"/>
              </a:rPr>
              <a:t>Who owns this agent and workflow?</a:t>
            </a:r>
          </a:p>
        </p:txBody>
      </p:sp>
      <p:sp>
        <p:nvSpPr>
          <p:cNvPr id="28" name="">
            <a:extLst xmlns:a="http://schemas.openxmlformats.org/drawingml/2006/main">
              <a:ext uri="{FF2B5EF4-FFF2-40B4-BE49-F238E27FC236}">
                <a16:creationId xmlns:a16="http://schemas.microsoft.com/office/drawing/2014/main" id="{14E8DCDD-4AEF-4F48-8242-6CA58BE4DCE2}"/>
              </a:ext>
            </a:extLst>
          </p:cNvPr>
          <p:cNvSpPr>
            <a:spLocks xmlns:a="http://schemas.openxmlformats.org/drawingml/2006/main" noGrp="1"/>
          </p:cNvSpPr>
          <p:nvPr/>
        </p:nvSpPr>
        <p:spPr>
          <a:xfrm xmlns:a="http://schemas.openxmlformats.org/drawingml/2006/main">
            <a:off x="3429000" y="34480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9A7BFF"/>
                </a:solidFill>
                <a:latin typeface="Liberation Sans"/>
                <a:ea typeface="Liberation Sans"/>
                <a:cs typeface="Liberation Sans"/>
              </a:defRPr>
            </a:pPr>
            <a:r>
              <a:rPr sz="900" b="1">
                <a:solidFill>
                  <a:srgbClr val="9A7BFF"/>
                </a:solidFill>
                <a:latin typeface="Liberation Sans"/>
                <a:ea typeface="Liberation Sans"/>
                <a:cs typeface="Liberation Sans"/>
              </a:rPr>
              <a:t>ACCESS</a:t>
            </a:r>
          </a:p>
        </p:txBody>
      </p:sp>
      <p:sp>
        <p:nvSpPr>
          <p:cNvPr id="29" name="">
            <a:extLst xmlns:a="http://schemas.openxmlformats.org/drawingml/2006/main">
              <a:ext uri="{FF2B5EF4-FFF2-40B4-BE49-F238E27FC236}">
                <a16:creationId xmlns:a16="http://schemas.microsoft.com/office/drawing/2014/main" id="{33668192-BF76-42D7-ACE4-2EAF04DC75E1}"/>
              </a:ext>
            </a:extLst>
          </p:cNvPr>
          <p:cNvSpPr>
            <a:spLocks xmlns:a="http://schemas.openxmlformats.org/drawingml/2006/main" noGrp="1"/>
          </p:cNvSpPr>
          <p:nvPr/>
        </p:nvSpPr>
        <p:spPr>
          <a:xfrm xmlns:a="http://schemas.openxmlformats.org/drawingml/2006/main">
            <a:off x="3429000" y="3829050"/>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F4F8FC"/>
                </a:solidFill>
                <a:latin typeface="Liberation Sans"/>
                <a:ea typeface="Liberation Sans"/>
                <a:cs typeface="Liberation Sans"/>
              </a:defRPr>
            </a:pPr>
            <a:r>
              <a:rPr sz="1500" b="0">
                <a:solidFill>
                  <a:srgbClr val="F4F8FC"/>
                </a:solidFill>
                <a:latin typeface="Liberation Sans"/>
                <a:ea typeface="Liberation Sans"/>
                <a:cs typeface="Liberation Sans"/>
              </a:rPr>
              <a:t>What could the agent read or change?</a:t>
            </a:r>
          </a:p>
        </p:txBody>
      </p:sp>
      <p:sp>
        <p:nvSpPr>
          <p:cNvPr id="30" name="">
            <a:extLst xmlns:a="http://schemas.openxmlformats.org/drawingml/2006/main">
              <a:ext uri="{FF2B5EF4-FFF2-40B4-BE49-F238E27FC236}">
                <a16:creationId xmlns:a16="http://schemas.microsoft.com/office/drawing/2014/main" id="{6D961EE8-1DD4-433E-B11A-3091D9E11A4F}"/>
              </a:ext>
            </a:extLst>
          </p:cNvPr>
          <p:cNvSpPr>
            <a:spLocks xmlns:a="http://schemas.openxmlformats.org/drawingml/2006/main" noGrp="1"/>
          </p:cNvSpPr>
          <p:nvPr/>
        </p:nvSpPr>
        <p:spPr>
          <a:xfrm xmlns:a="http://schemas.openxmlformats.org/drawingml/2006/main">
            <a:off x="6076950" y="34480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68E1C4"/>
                </a:solidFill>
                <a:latin typeface="Liberation Sans"/>
                <a:ea typeface="Liberation Sans"/>
                <a:cs typeface="Liberation Sans"/>
              </a:defRPr>
            </a:pPr>
            <a:r>
              <a:rPr sz="900" b="1">
                <a:solidFill>
                  <a:srgbClr val="68E1C4"/>
                </a:solidFill>
                <a:latin typeface="Liberation Sans"/>
                <a:ea typeface="Liberation Sans"/>
                <a:cs typeface="Liberation Sans"/>
              </a:rPr>
              <a:t>EVIDENCE</a:t>
            </a:r>
          </a:p>
        </p:txBody>
      </p:sp>
      <p:sp>
        <p:nvSpPr>
          <p:cNvPr id="31" name="">
            <a:extLst xmlns:a="http://schemas.openxmlformats.org/drawingml/2006/main">
              <a:ext uri="{FF2B5EF4-FFF2-40B4-BE49-F238E27FC236}">
                <a16:creationId xmlns:a16="http://schemas.microsoft.com/office/drawing/2014/main" id="{DA934F4B-0E95-4F8D-814E-2975A9B0E49E}"/>
              </a:ext>
            </a:extLst>
          </p:cNvPr>
          <p:cNvSpPr>
            <a:spLocks xmlns:a="http://schemas.openxmlformats.org/drawingml/2006/main" noGrp="1"/>
          </p:cNvSpPr>
          <p:nvPr/>
        </p:nvSpPr>
        <p:spPr>
          <a:xfrm xmlns:a="http://schemas.openxmlformats.org/drawingml/2006/main">
            <a:off x="6076950" y="3829050"/>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F4F8FC"/>
                </a:solidFill>
                <a:latin typeface="Liberation Sans"/>
                <a:ea typeface="Liberation Sans"/>
                <a:cs typeface="Liberation Sans"/>
              </a:defRPr>
            </a:pPr>
            <a:r>
              <a:rPr sz="1500" b="0">
                <a:solidFill>
                  <a:srgbClr val="F4F8FC"/>
                </a:solidFill>
                <a:latin typeface="Liberation Sans"/>
                <a:ea typeface="Liberation Sans"/>
                <a:cs typeface="Liberation Sans"/>
              </a:rPr>
              <a:t>Which inputs and tool calls support the result?</a:t>
            </a:r>
          </a:p>
        </p:txBody>
      </p:sp>
      <p:sp>
        <p:nvSpPr>
          <p:cNvPr id="32" name="">
            <a:extLst xmlns:a="http://schemas.openxmlformats.org/drawingml/2006/main">
              <a:ext uri="{FF2B5EF4-FFF2-40B4-BE49-F238E27FC236}">
                <a16:creationId xmlns:a16="http://schemas.microsoft.com/office/drawing/2014/main" id="{E4D8541C-3095-4605-96D4-DF8A50995CBD}"/>
              </a:ext>
            </a:extLst>
          </p:cNvPr>
          <p:cNvSpPr>
            <a:spLocks xmlns:a="http://schemas.openxmlformats.org/drawingml/2006/main" noGrp="1"/>
          </p:cNvSpPr>
          <p:nvPr/>
        </p:nvSpPr>
        <p:spPr>
          <a:xfrm xmlns:a="http://schemas.openxmlformats.org/drawingml/2006/main">
            <a:off x="8724900" y="34480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FFCA6B"/>
                </a:solidFill>
                <a:latin typeface="Liberation Sans"/>
                <a:ea typeface="Liberation Sans"/>
                <a:cs typeface="Liberation Sans"/>
              </a:defRPr>
            </a:pPr>
            <a:r>
              <a:rPr sz="900" b="1">
                <a:solidFill>
                  <a:srgbClr val="FFCA6B"/>
                </a:solidFill>
                <a:latin typeface="Liberation Sans"/>
                <a:ea typeface="Liberation Sans"/>
                <a:cs typeface="Liberation Sans"/>
              </a:rPr>
              <a:t>ECONOMICS</a:t>
            </a:r>
          </a:p>
        </p:txBody>
      </p:sp>
      <p:sp>
        <p:nvSpPr>
          <p:cNvPr id="33" name="">
            <a:extLst xmlns:a="http://schemas.openxmlformats.org/drawingml/2006/main">
              <a:ext uri="{FF2B5EF4-FFF2-40B4-BE49-F238E27FC236}">
                <a16:creationId xmlns:a16="http://schemas.microsoft.com/office/drawing/2014/main" id="{0B69A1F9-EE61-49DD-A550-42B8E6C8CFF1}"/>
              </a:ext>
            </a:extLst>
          </p:cNvPr>
          <p:cNvSpPr>
            <a:spLocks xmlns:a="http://schemas.openxmlformats.org/drawingml/2006/main" noGrp="1"/>
          </p:cNvSpPr>
          <p:nvPr/>
        </p:nvSpPr>
        <p:spPr>
          <a:xfrm xmlns:a="http://schemas.openxmlformats.org/drawingml/2006/main">
            <a:off x="8724900" y="3829050"/>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F4F8FC"/>
                </a:solidFill>
                <a:latin typeface="Liberation Sans"/>
                <a:ea typeface="Liberation Sans"/>
                <a:cs typeface="Liberation Sans"/>
              </a:defRPr>
            </a:pPr>
            <a:r>
              <a:rPr sz="1500" b="0">
                <a:solidFill>
                  <a:srgbClr val="F4F8FC"/>
                </a:solidFill>
                <a:latin typeface="Liberation Sans"/>
                <a:ea typeface="Liberation Sans"/>
                <a:cs typeface="Liberation Sans"/>
              </a:rPr>
              <a:t>How much did the run consume?</a:t>
            </a:r>
          </a:p>
        </p:txBody>
      </p:sp>
      <p:sp>
        <p:nvSpPr>
          <p:cNvPr id="34" name="">
            <a:extLst xmlns:a="http://schemas.openxmlformats.org/drawingml/2006/main">
              <a:ext uri="{FF2B5EF4-FFF2-40B4-BE49-F238E27FC236}">
                <a16:creationId xmlns:a16="http://schemas.microsoft.com/office/drawing/2014/main" id="{838B45C5-5651-42A0-9232-13F8DCE84A54}"/>
              </a:ext>
            </a:extLst>
          </p:cNvPr>
          <p:cNvSpPr>
            <a:spLocks xmlns:a="http://schemas.openxmlformats.org/drawingml/2006/main" noGrp="1"/>
          </p:cNvSpPr>
          <p:nvPr/>
        </p:nvSpPr>
        <p:spPr>
          <a:xfrm xmlns:a="http://schemas.openxmlformats.org/drawingml/2006/main">
            <a:off x="1714500" y="5257800"/>
            <a:ext cx="8667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F4F8FC"/>
                </a:solidFill>
                <a:latin typeface="Liberation Sans"/>
                <a:ea typeface="Liberation Sans"/>
                <a:cs typeface="Liberation Sans"/>
              </a:defRPr>
            </a:pPr>
            <a:r>
              <a:rPr sz="1875" b="1">
                <a:solidFill>
                  <a:srgbClr val="F4F8FC"/>
                </a:solidFill>
                <a:latin typeface="Liberation Sans"/>
                <a:ea typeface="Liberation Sans"/>
                <a:cs typeface="Liberation Sans"/>
              </a:rPr>
              <a:t>The run record makes every action attributable</a:t>
            </a:r>
          </a:p>
        </p:txBody>
      </p:sp>
    </p:spTree>
    <p:extLst>
      <p:ext uri="{BB962C8B-B14F-4D97-AF65-F5344CB8AC3E}">
        <p14:creationId xmlns:p14="http://schemas.microsoft.com/office/powerpoint/2010/main" val="1664198654"/>
      </p:ext>
    </p:extLst>
  </p:cSld>
</p:sld>
</file>

<file path=ppt/slides/slide8.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EC4D8AB-9407-4A73-8516-88EFA94CA97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54D6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CE430E9-4727-4133-963C-C3DF691521D6}"/>
              </a:ext>
            </a:extLst>
          </p:cNvPr>
          <p:cNvSpPr>
            <a:spLocks xmlns:a="http://schemas.openxmlformats.org/drawingml/2006/main" noGrp="1"/>
          </p:cNvSpPr>
          <p:nvPr/>
        </p:nvSpPr>
        <p:spPr>
          <a:xfrm xmlns:a="http://schemas.openxmlformats.org/drawingml/2006/main">
            <a:off x="590550" y="400050"/>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F4F8FC"/>
                </a:solidFill>
                <a:latin typeface="Liberation Sans"/>
                <a:ea typeface="Liberation Sans"/>
                <a:cs typeface="Liberation Sans"/>
              </a:defRPr>
            </a:pPr>
            <a:r>
              <a:rPr sz="2550" b="1">
                <a:solidFill>
                  <a:srgbClr val="F4F8FC"/>
                </a:solidFill>
                <a:latin typeface="Liberation Sans"/>
                <a:ea typeface="Liberation Sans"/>
                <a:cs typeface="Liberation Sans"/>
              </a:rPr>
              <a:t>Live platform tour</a:t>
            </a:r>
          </a:p>
        </p:txBody>
      </p:sp>
      <p:sp>
        <p:nvSpPr>
          <p:cNvPr id="3" name="">
            <a:extLst xmlns:a="http://schemas.openxmlformats.org/drawingml/2006/main">
              <a:ext uri="{FF2B5EF4-FFF2-40B4-BE49-F238E27FC236}">
                <a16:creationId xmlns:a16="http://schemas.microsoft.com/office/drawing/2014/main" id="{0E39D1AD-6A2F-4524-A06F-F7C5A927EA72}"/>
              </a:ext>
            </a:extLst>
          </p:cNvPr>
          <p:cNvSpPr>
            <a:spLocks xmlns:a="http://schemas.openxmlformats.org/drawingml/2006/main" noGrp="1"/>
          </p:cNvSpPr>
          <p:nvPr/>
        </p:nvSpPr>
        <p:spPr>
          <a:xfrm xmlns:a="http://schemas.openxmlformats.org/drawingml/2006/main">
            <a:off x="60960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A6B7C8"/>
                </a:solidFill>
                <a:latin typeface="Liberation Sans"/>
                <a:ea typeface="Liberation Sans"/>
                <a:cs typeface="Liberation Sans"/>
              </a:defRPr>
            </a:pPr>
            <a:r>
              <a:rPr sz="1275" b="0">
                <a:solidFill>
                  <a:srgbClr val="A6B7C8"/>
                </a:solidFill>
                <a:latin typeface="Liberation Sans"/>
                <a:ea typeface="Liberation Sans"/>
                <a:cs typeface="Liberation Sans"/>
              </a:rPr>
              <a:t>The demo starts with controls, then follows live evidence across three systems</a:t>
            </a:r>
          </a:p>
        </p:txBody>
      </p:sp>
      <p:sp>
        <p:nvSpPr>
          <p:cNvPr id="4" name="">
            <a:extLst xmlns:a="http://schemas.openxmlformats.org/drawingml/2006/main">
              <a:ext uri="{FF2B5EF4-FFF2-40B4-BE49-F238E27FC236}">
                <a16:creationId xmlns:a16="http://schemas.microsoft.com/office/drawing/2014/main" id="{011BF0C8-2E5B-4165-8A0E-FEC566897735}"/>
              </a:ext>
            </a:extLst>
          </p:cNvPr>
          <p:cNvSpPr>
            <a:spLocks xmlns:a="http://schemas.openxmlformats.org/drawingml/2006/main" noGrp="1"/>
          </p:cNvSpPr>
          <p:nvPr/>
        </p:nvSpPr>
        <p:spPr>
          <a:xfrm xmlns:a="http://schemas.openxmlformats.org/drawingml/2006/main">
            <a:off x="11258550" y="62293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A6B7C8"/>
                </a:solidFill>
                <a:latin typeface="Liberation Sans"/>
                <a:ea typeface="Liberation Sans"/>
                <a:cs typeface="Liberation Sans"/>
              </a:defRPr>
            </a:pPr>
            <a:r>
              <a:rPr sz="900" b="0">
                <a:solidFill>
                  <a:srgbClr val="A6B7C8"/>
                </a:solidFill>
                <a:latin typeface="Liberation Sans"/>
                <a:ea typeface="Liberation Sans"/>
                <a:cs typeface="Liberation Sans"/>
              </a:rPr>
              <a:t>08</a:t>
            </a:r>
          </a:p>
        </p:txBody>
      </p:sp>
      <p:sp>
        <p:nvSpPr>
          <p:cNvPr id="5" name="">
            <a:extLst xmlns:a="http://schemas.openxmlformats.org/drawingml/2006/main">
              <a:ext uri="{FF2B5EF4-FFF2-40B4-BE49-F238E27FC236}">
                <a16:creationId xmlns:a16="http://schemas.microsoft.com/office/drawing/2014/main" id="{19DBB6FF-238A-459F-BAE5-8A71E99D497D}"/>
              </a:ext>
            </a:extLst>
          </p:cNvPr>
          <p:cNvSpPr>
            <a:spLocks xmlns:a="http://schemas.openxmlformats.org/drawingml/2006/main" noGrp="1"/>
          </p:cNvSpPr>
          <p:nvPr/>
        </p:nvSpPr>
        <p:spPr>
          <a:xfrm xmlns:a="http://schemas.openxmlformats.org/drawingml/2006/main">
            <a:off x="590550" y="62293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A6B7C8"/>
                </a:solidFill>
                <a:latin typeface="Liberation Sans"/>
                <a:ea typeface="Liberation Sans"/>
                <a:cs typeface="Liberation Sans"/>
              </a:defRPr>
            </a:pPr>
            <a:r>
              <a:rPr sz="900" b="0">
                <a:solidFill>
                  <a:srgbClr val="A6B7C8"/>
                </a:solidFill>
                <a:latin typeface="Liberation Sans"/>
                <a:ea typeface="Liberation Sans"/>
                <a:cs typeface="Liberation Sans"/>
              </a:rPr>
              <a:t>KAOP by Nirit Terehovsky</a:t>
            </a:r>
          </a:p>
        </p:txBody>
      </p:sp>
      <p:sp>
        <p:nvSpPr>
          <p:cNvPr id="6" name="">
            <a:extLst xmlns:a="http://schemas.openxmlformats.org/drawingml/2006/main">
              <a:ext uri="{FF2B5EF4-FFF2-40B4-BE49-F238E27FC236}">
                <a16:creationId xmlns:a16="http://schemas.microsoft.com/office/drawing/2014/main" id="{5F6B1237-CA2D-4E06-AAEE-5CF816B00D09}"/>
              </a:ext>
            </a:extLst>
          </p:cNvPr>
          <p:cNvSpPr>
            <a:spLocks xmlns:a="http://schemas.openxmlformats.org/drawingml/2006/main" noGrp="1"/>
          </p:cNvSpPr>
          <p:nvPr/>
        </p:nvSpPr>
        <p:spPr>
          <a:xfrm xmlns:a="http://schemas.openxmlformats.org/drawingml/2006/main">
            <a:off x="723900" y="1581150"/>
            <a:ext cx="3333750" cy="2686050"/>
          </a:xfrm>
          <a:prstGeom xmlns:a="http://schemas.openxmlformats.org/drawingml/2006/main" prst="roundRect">
            <a:avLst>
              <a:gd name="adj" fmla="val 7092"/>
            </a:avLst>
          </a:prstGeom>
          <a:solidFill xmlns:a="http://schemas.openxmlformats.org/drawingml/2006/main">
            <a:srgbClr val="102338"/>
          </a:solidFill>
          <a:ln xmlns:a="http://schemas.openxmlformats.org/drawingml/2006/main" w="14288">
            <a:solidFill>
              <a:srgbClr val="9A7BFF"/>
            </a:solidFill>
            <a:prstDash val="solid"/>
          </a:ln>
        </p:spPr>
      </p:sp>
      <p:sp>
        <p:nvSpPr>
          <p:cNvPr id="7" name="">
            <a:extLst xmlns:a="http://schemas.openxmlformats.org/drawingml/2006/main">
              <a:ext uri="{FF2B5EF4-FFF2-40B4-BE49-F238E27FC236}">
                <a16:creationId xmlns:a16="http://schemas.microsoft.com/office/drawing/2014/main" id="{DDFF06DA-5210-4BB8-A503-39CA33E4900A}"/>
              </a:ext>
            </a:extLst>
          </p:cNvPr>
          <p:cNvSpPr>
            <a:spLocks xmlns:a="http://schemas.openxmlformats.org/drawingml/2006/main" noGrp="1"/>
          </p:cNvSpPr>
          <p:nvPr/>
        </p:nvSpPr>
        <p:spPr>
          <a:xfrm xmlns:a="http://schemas.openxmlformats.org/drawingml/2006/main">
            <a:off x="990600" y="184785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9A7BFF"/>
                </a:solidFill>
                <a:latin typeface="Liberation Sans"/>
                <a:ea typeface="Liberation Sans"/>
                <a:cs typeface="Liberation Sans"/>
              </a:defRPr>
            </a:pPr>
            <a:r>
              <a:rPr sz="900" b="1">
                <a:solidFill>
                  <a:srgbClr val="9A7BFF"/>
                </a:solidFill>
                <a:latin typeface="Liberation Sans"/>
                <a:ea typeface="Liberation Sans"/>
                <a:cs typeface="Liberation Sans"/>
              </a:rPr>
              <a:t>KAOP</a:t>
            </a:r>
          </a:p>
        </p:txBody>
      </p:sp>
      <p:sp>
        <p:nvSpPr>
          <p:cNvPr id="8" name="">
            <a:extLst xmlns:a="http://schemas.openxmlformats.org/drawingml/2006/main">
              <a:ext uri="{FF2B5EF4-FFF2-40B4-BE49-F238E27FC236}">
                <a16:creationId xmlns:a16="http://schemas.microsoft.com/office/drawing/2014/main" id="{1C4758C7-0982-457D-BAB2-E7CCFA3E01A6}"/>
              </a:ext>
            </a:extLst>
          </p:cNvPr>
          <p:cNvSpPr>
            <a:spLocks xmlns:a="http://schemas.openxmlformats.org/drawingml/2006/main" noGrp="1"/>
          </p:cNvSpPr>
          <p:nvPr/>
        </p:nvSpPr>
        <p:spPr>
          <a:xfrm xmlns:a="http://schemas.openxmlformats.org/drawingml/2006/main">
            <a:off x="990600" y="2343150"/>
            <a:ext cx="2781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b="0">
                <a:solidFill>
                  <a:srgbClr val="F4F8FC"/>
                </a:solidFill>
                <a:latin typeface="Liberation Sans"/>
                <a:ea typeface="Liberation Sans"/>
                <a:cs typeface="Liberation Sans"/>
              </a:defRPr>
            </a:pPr>
            <a:r>
              <a:rPr sz="1575" b="0">
                <a:solidFill>
                  <a:srgbClr val="F4F8FC"/>
                </a:solidFill>
                <a:latin typeface="Liberation Sans"/>
                <a:ea typeface="Liberation Sans"/>
                <a:cs typeface="Liberation Sans"/>
              </a:rPr>
              <a:t>Inventory, workflow, permissions, run history</a:t>
            </a:r>
          </a:p>
        </p:txBody>
      </p:sp>
      <p:sp>
        <p:nvSpPr>
          <p:cNvPr id="9" name="">
            <a:extLst xmlns:a="http://schemas.openxmlformats.org/drawingml/2006/main">
              <a:ext uri="{FF2B5EF4-FFF2-40B4-BE49-F238E27FC236}">
                <a16:creationId xmlns:a16="http://schemas.microsoft.com/office/drawing/2014/main" id="{EFEE4B5F-2DFE-41CB-A42B-56FB31ABF1FB}"/>
              </a:ext>
            </a:extLst>
          </p:cNvPr>
          <p:cNvSpPr>
            <a:spLocks xmlns:a="http://schemas.openxmlformats.org/drawingml/2006/main" noGrp="1"/>
          </p:cNvSpPr>
          <p:nvPr/>
        </p:nvSpPr>
        <p:spPr>
          <a:xfrm xmlns:a="http://schemas.openxmlformats.org/drawingml/2006/main">
            <a:off x="990600" y="3409950"/>
            <a:ext cx="2800350" cy="19050"/>
          </a:xfrm>
          <a:prstGeom xmlns:a="http://schemas.openxmlformats.org/drawingml/2006/main" prst="rect">
            <a:avLst/>
          </a:prstGeom>
          <a:solidFill xmlns:a="http://schemas.openxmlformats.org/drawingml/2006/main">
            <a:srgbClr val="29445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491094C-FA19-47A3-82C3-1590D34BFD77}"/>
              </a:ext>
            </a:extLst>
          </p:cNvPr>
          <p:cNvSpPr>
            <a:spLocks xmlns:a="http://schemas.openxmlformats.org/drawingml/2006/main" noGrp="1"/>
          </p:cNvSpPr>
          <p:nvPr/>
        </p:nvSpPr>
        <p:spPr>
          <a:xfrm xmlns:a="http://schemas.openxmlformats.org/drawingml/2006/main">
            <a:off x="990600" y="3600450"/>
            <a:ext cx="2781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b="0">
                <a:solidFill>
                  <a:srgbClr val="A6B7C8"/>
                </a:solidFill>
                <a:latin typeface="Liberation Sans"/>
                <a:ea typeface="Liberation Sans"/>
                <a:cs typeface="Liberation Sans"/>
              </a:defRPr>
            </a:pPr>
            <a:r>
              <a:rPr sz="1125" b="0">
                <a:solidFill>
                  <a:srgbClr val="A6B7C8"/>
                </a:solidFill>
                <a:latin typeface="Liberation Sans"/>
                <a:ea typeface="Liberation Sans"/>
                <a:cs typeface="Liberation Sans"/>
              </a:rPr>
              <a:t>Show the boundary before the run</a:t>
            </a:r>
          </a:p>
        </p:txBody>
      </p:sp>
      <p:sp>
        <p:nvSpPr>
          <p:cNvPr id="11" name="">
            <a:extLst xmlns:a="http://schemas.openxmlformats.org/drawingml/2006/main">
              <a:ext uri="{FF2B5EF4-FFF2-40B4-BE49-F238E27FC236}">
                <a16:creationId xmlns:a16="http://schemas.microsoft.com/office/drawing/2014/main" id="{CA588FA5-8B95-4131-A297-8971088FD72F}"/>
              </a:ext>
            </a:extLst>
          </p:cNvPr>
          <p:cNvSpPr>
            <a:spLocks xmlns:a="http://schemas.openxmlformats.org/drawingml/2006/main" noGrp="1"/>
          </p:cNvSpPr>
          <p:nvPr/>
        </p:nvSpPr>
        <p:spPr>
          <a:xfrm xmlns:a="http://schemas.openxmlformats.org/drawingml/2006/main">
            <a:off x="4438650" y="1581150"/>
            <a:ext cx="3333750" cy="2686050"/>
          </a:xfrm>
          <a:prstGeom xmlns:a="http://schemas.openxmlformats.org/drawingml/2006/main" prst="roundRect">
            <a:avLst>
              <a:gd name="adj" fmla="val 7092"/>
            </a:avLst>
          </a:prstGeom>
          <a:solidFill xmlns:a="http://schemas.openxmlformats.org/drawingml/2006/main">
            <a:srgbClr val="102338"/>
          </a:solidFill>
          <a:ln xmlns:a="http://schemas.openxmlformats.org/drawingml/2006/main" w="14288">
            <a:solidFill>
              <a:srgbClr val="FFCA6B"/>
            </a:solidFill>
            <a:prstDash val="solid"/>
          </a:ln>
        </p:spPr>
      </p:sp>
      <p:sp>
        <p:nvSpPr>
          <p:cNvPr id="12" name="">
            <a:extLst xmlns:a="http://schemas.openxmlformats.org/drawingml/2006/main">
              <a:ext uri="{FF2B5EF4-FFF2-40B4-BE49-F238E27FC236}">
                <a16:creationId xmlns:a16="http://schemas.microsoft.com/office/drawing/2014/main" id="{E84ECB15-B8E7-41FA-B6FA-3E0500D8EF7C}"/>
              </a:ext>
            </a:extLst>
          </p:cNvPr>
          <p:cNvSpPr>
            <a:spLocks xmlns:a="http://schemas.openxmlformats.org/drawingml/2006/main" noGrp="1"/>
          </p:cNvSpPr>
          <p:nvPr/>
        </p:nvSpPr>
        <p:spPr>
          <a:xfrm xmlns:a="http://schemas.openxmlformats.org/drawingml/2006/main">
            <a:off x="4705350" y="184785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FFCA6B"/>
                </a:solidFill>
                <a:latin typeface="Liberation Sans"/>
                <a:ea typeface="Liberation Sans"/>
                <a:cs typeface="Liberation Sans"/>
              </a:defRPr>
            </a:pPr>
            <a:r>
              <a:rPr sz="900" b="1">
                <a:solidFill>
                  <a:srgbClr val="FFCA6B"/>
                </a:solidFill>
                <a:latin typeface="Liberation Sans"/>
                <a:ea typeface="Liberation Sans"/>
                <a:cs typeface="Liberation Sans"/>
              </a:rPr>
              <a:t>GRAFANA</a:t>
            </a:r>
          </a:p>
        </p:txBody>
      </p:sp>
      <p:sp>
        <p:nvSpPr>
          <p:cNvPr id="13" name="">
            <a:extLst xmlns:a="http://schemas.openxmlformats.org/drawingml/2006/main">
              <a:ext uri="{FF2B5EF4-FFF2-40B4-BE49-F238E27FC236}">
                <a16:creationId xmlns:a16="http://schemas.microsoft.com/office/drawing/2014/main" id="{0ED9479F-1476-4282-AE00-A69FBB07D333}"/>
              </a:ext>
            </a:extLst>
          </p:cNvPr>
          <p:cNvSpPr>
            <a:spLocks xmlns:a="http://schemas.openxmlformats.org/drawingml/2006/main" noGrp="1"/>
          </p:cNvSpPr>
          <p:nvPr/>
        </p:nvSpPr>
        <p:spPr>
          <a:xfrm xmlns:a="http://schemas.openxmlformats.org/drawingml/2006/main">
            <a:off x="4705350" y="2343150"/>
            <a:ext cx="2781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b="0">
                <a:solidFill>
                  <a:srgbClr val="F4F8FC"/>
                </a:solidFill>
                <a:latin typeface="Liberation Sans"/>
                <a:ea typeface="Liberation Sans"/>
                <a:cs typeface="Liberation Sans"/>
              </a:defRPr>
            </a:pPr>
            <a:r>
              <a:rPr sz="1575" b="0">
                <a:solidFill>
                  <a:srgbClr val="F4F8FC"/>
                </a:solidFill>
                <a:latin typeface="Liberation Sans"/>
                <a:ea typeface="Liberation Sans"/>
                <a:cs typeface="Liberation Sans"/>
              </a:rPr>
              <a:t>Alert evaluation and webhook delivery</a:t>
            </a:r>
          </a:p>
        </p:txBody>
      </p:sp>
      <p:sp>
        <p:nvSpPr>
          <p:cNvPr id="14" name="">
            <a:extLst xmlns:a="http://schemas.openxmlformats.org/drawingml/2006/main">
              <a:ext uri="{FF2B5EF4-FFF2-40B4-BE49-F238E27FC236}">
                <a16:creationId xmlns:a16="http://schemas.microsoft.com/office/drawing/2014/main" id="{22390C48-B703-4200-B080-1A6CE4B26E6E}"/>
              </a:ext>
            </a:extLst>
          </p:cNvPr>
          <p:cNvSpPr>
            <a:spLocks xmlns:a="http://schemas.openxmlformats.org/drawingml/2006/main" noGrp="1"/>
          </p:cNvSpPr>
          <p:nvPr/>
        </p:nvSpPr>
        <p:spPr>
          <a:xfrm xmlns:a="http://schemas.openxmlformats.org/drawingml/2006/main">
            <a:off x="4705350" y="3409950"/>
            <a:ext cx="2800350" cy="19050"/>
          </a:xfrm>
          <a:prstGeom xmlns:a="http://schemas.openxmlformats.org/drawingml/2006/main" prst="rect">
            <a:avLst/>
          </a:prstGeom>
          <a:solidFill xmlns:a="http://schemas.openxmlformats.org/drawingml/2006/main">
            <a:srgbClr val="29445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FB6BE4A-AD35-4C16-A48F-370A27E4F872}"/>
              </a:ext>
            </a:extLst>
          </p:cNvPr>
          <p:cNvSpPr>
            <a:spLocks xmlns:a="http://schemas.openxmlformats.org/drawingml/2006/main" noGrp="1"/>
          </p:cNvSpPr>
          <p:nvPr/>
        </p:nvSpPr>
        <p:spPr>
          <a:xfrm xmlns:a="http://schemas.openxmlformats.org/drawingml/2006/main">
            <a:off x="4705350" y="3600450"/>
            <a:ext cx="2781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b="0">
                <a:solidFill>
                  <a:srgbClr val="A6B7C8"/>
                </a:solidFill>
                <a:latin typeface="Liberation Sans"/>
                <a:ea typeface="Liberation Sans"/>
                <a:cs typeface="Liberation Sans"/>
              </a:defRPr>
            </a:pPr>
            <a:r>
              <a:rPr sz="1125" b="0">
                <a:solidFill>
                  <a:srgbClr val="A6B7C8"/>
                </a:solidFill>
                <a:latin typeface="Liberation Sans"/>
                <a:ea typeface="Liberation Sans"/>
                <a:cs typeface="Liberation Sans"/>
              </a:rPr>
              <a:t>Prove the trigger was automatic</a:t>
            </a:r>
          </a:p>
        </p:txBody>
      </p:sp>
      <p:sp>
        <p:nvSpPr>
          <p:cNvPr id="16" name="">
            <a:extLst xmlns:a="http://schemas.openxmlformats.org/drawingml/2006/main">
              <a:ext uri="{FF2B5EF4-FFF2-40B4-BE49-F238E27FC236}">
                <a16:creationId xmlns:a16="http://schemas.microsoft.com/office/drawing/2014/main" id="{38E25696-599A-415D-AE46-DA6CB4FD1668}"/>
              </a:ext>
            </a:extLst>
          </p:cNvPr>
          <p:cNvSpPr>
            <a:spLocks xmlns:a="http://schemas.openxmlformats.org/drawingml/2006/main" noGrp="1"/>
          </p:cNvSpPr>
          <p:nvPr/>
        </p:nvSpPr>
        <p:spPr>
          <a:xfrm xmlns:a="http://schemas.openxmlformats.org/drawingml/2006/main">
            <a:off x="8153400" y="1581150"/>
            <a:ext cx="3333750" cy="2686050"/>
          </a:xfrm>
          <a:prstGeom xmlns:a="http://schemas.openxmlformats.org/drawingml/2006/main" prst="roundRect">
            <a:avLst>
              <a:gd name="adj" fmla="val 7092"/>
            </a:avLst>
          </a:prstGeom>
          <a:solidFill xmlns:a="http://schemas.openxmlformats.org/drawingml/2006/main">
            <a:srgbClr val="102338"/>
          </a:solidFill>
          <a:ln xmlns:a="http://schemas.openxmlformats.org/drawingml/2006/main" w="14288">
            <a:solidFill>
              <a:srgbClr val="54D6FF"/>
            </a:solidFill>
            <a:prstDash val="solid"/>
          </a:ln>
        </p:spPr>
      </p:sp>
      <p:sp>
        <p:nvSpPr>
          <p:cNvPr id="17" name="">
            <a:extLst xmlns:a="http://schemas.openxmlformats.org/drawingml/2006/main">
              <a:ext uri="{FF2B5EF4-FFF2-40B4-BE49-F238E27FC236}">
                <a16:creationId xmlns:a16="http://schemas.microsoft.com/office/drawing/2014/main" id="{E8316375-7399-4EA0-9008-2343092979FB}"/>
              </a:ext>
            </a:extLst>
          </p:cNvPr>
          <p:cNvSpPr>
            <a:spLocks xmlns:a="http://schemas.openxmlformats.org/drawingml/2006/main" noGrp="1"/>
          </p:cNvSpPr>
          <p:nvPr/>
        </p:nvSpPr>
        <p:spPr>
          <a:xfrm xmlns:a="http://schemas.openxmlformats.org/drawingml/2006/main">
            <a:off x="8420100" y="184785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54D6FF"/>
                </a:solidFill>
                <a:latin typeface="Liberation Sans"/>
                <a:ea typeface="Liberation Sans"/>
                <a:cs typeface="Liberation Sans"/>
              </a:defRPr>
            </a:pPr>
            <a:r>
              <a:rPr sz="900" b="1">
                <a:solidFill>
                  <a:srgbClr val="54D6FF"/>
                </a:solidFill>
                <a:latin typeface="Liberation Sans"/>
                <a:ea typeface="Liberation Sans"/>
                <a:cs typeface="Liberation Sans"/>
              </a:rPr>
              <a:t>GITHUB</a:t>
            </a:r>
          </a:p>
        </p:txBody>
      </p:sp>
      <p:sp>
        <p:nvSpPr>
          <p:cNvPr id="18" name="">
            <a:extLst xmlns:a="http://schemas.openxmlformats.org/drawingml/2006/main">
              <a:ext uri="{FF2B5EF4-FFF2-40B4-BE49-F238E27FC236}">
                <a16:creationId xmlns:a16="http://schemas.microsoft.com/office/drawing/2014/main" id="{82BCB6BD-7D44-4A37-8AC7-EE57647D79FD}"/>
              </a:ext>
            </a:extLst>
          </p:cNvPr>
          <p:cNvSpPr>
            <a:spLocks xmlns:a="http://schemas.openxmlformats.org/drawingml/2006/main" noGrp="1"/>
          </p:cNvSpPr>
          <p:nvPr/>
        </p:nvSpPr>
        <p:spPr>
          <a:xfrm xmlns:a="http://schemas.openxmlformats.org/drawingml/2006/main">
            <a:off x="8420100" y="2343150"/>
            <a:ext cx="2781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b="0">
                <a:solidFill>
                  <a:srgbClr val="F4F8FC"/>
                </a:solidFill>
                <a:latin typeface="Liberation Sans"/>
                <a:ea typeface="Liberation Sans"/>
                <a:cs typeface="Liberation Sans"/>
              </a:defRPr>
            </a:pPr>
            <a:r>
              <a:rPr sz="1575" b="0">
                <a:solidFill>
                  <a:srgbClr val="F4F8FC"/>
                </a:solidFill>
                <a:latin typeface="Liberation Sans"/>
                <a:ea typeface="Liberation Sans"/>
                <a:cs typeface="Liberation Sans"/>
              </a:rPr>
              <a:t>Repair diff and automated review</a:t>
            </a:r>
          </a:p>
        </p:txBody>
      </p:sp>
      <p:sp>
        <p:nvSpPr>
          <p:cNvPr id="19" name="">
            <a:extLst xmlns:a="http://schemas.openxmlformats.org/drawingml/2006/main">
              <a:ext uri="{FF2B5EF4-FFF2-40B4-BE49-F238E27FC236}">
                <a16:creationId xmlns:a16="http://schemas.microsoft.com/office/drawing/2014/main" id="{0C2328F1-F7A4-4CC0-9728-D27B3C668BA1}"/>
              </a:ext>
            </a:extLst>
          </p:cNvPr>
          <p:cNvSpPr>
            <a:spLocks xmlns:a="http://schemas.openxmlformats.org/drawingml/2006/main" noGrp="1"/>
          </p:cNvSpPr>
          <p:nvPr/>
        </p:nvSpPr>
        <p:spPr>
          <a:xfrm xmlns:a="http://schemas.openxmlformats.org/drawingml/2006/main">
            <a:off x="8420100" y="3409950"/>
            <a:ext cx="2800350" cy="19050"/>
          </a:xfrm>
          <a:prstGeom xmlns:a="http://schemas.openxmlformats.org/drawingml/2006/main" prst="rect">
            <a:avLst/>
          </a:prstGeom>
          <a:solidFill xmlns:a="http://schemas.openxmlformats.org/drawingml/2006/main">
            <a:srgbClr val="29445D"/>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6651931-6A10-4EDF-8539-14675974D747}"/>
              </a:ext>
            </a:extLst>
          </p:cNvPr>
          <p:cNvSpPr>
            <a:spLocks xmlns:a="http://schemas.openxmlformats.org/drawingml/2006/main" noGrp="1"/>
          </p:cNvSpPr>
          <p:nvPr/>
        </p:nvSpPr>
        <p:spPr>
          <a:xfrm xmlns:a="http://schemas.openxmlformats.org/drawingml/2006/main">
            <a:off x="8420100" y="3600450"/>
            <a:ext cx="2781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b="0">
                <a:solidFill>
                  <a:srgbClr val="A6B7C8"/>
                </a:solidFill>
                <a:latin typeface="Liberation Sans"/>
                <a:ea typeface="Liberation Sans"/>
                <a:cs typeface="Liberation Sans"/>
              </a:defRPr>
            </a:pPr>
            <a:r>
              <a:rPr sz="1125" b="0">
                <a:solidFill>
                  <a:srgbClr val="A6B7C8"/>
                </a:solidFill>
                <a:latin typeface="Liberation Sans"/>
                <a:ea typeface="Liberation Sans"/>
                <a:cs typeface="Liberation Sans"/>
              </a:rPr>
              <a:t>Prove the reviewer stayed comment only</a:t>
            </a:r>
          </a:p>
        </p:txBody>
      </p:sp>
      <p:sp>
        <p:nvSpPr>
          <p:cNvPr id="21" name="">
            <a:extLst xmlns:a="http://schemas.openxmlformats.org/drawingml/2006/main">
              <a:ext uri="{FF2B5EF4-FFF2-40B4-BE49-F238E27FC236}">
                <a16:creationId xmlns:a16="http://schemas.microsoft.com/office/drawing/2014/main" id="{C7B9C5AF-2F4D-401D-A642-528BA225044B}"/>
              </a:ext>
            </a:extLst>
          </p:cNvPr>
          <p:cNvSpPr>
            <a:spLocks xmlns:a="http://schemas.openxmlformats.org/drawingml/2006/main" noGrp="1"/>
          </p:cNvSpPr>
          <p:nvPr/>
        </p:nvSpPr>
        <p:spPr>
          <a:xfrm xmlns:a="http://schemas.openxmlformats.org/drawingml/2006/main">
            <a:off x="1905000" y="4686300"/>
            <a:ext cx="8382000" cy="914400"/>
          </a:xfrm>
          <a:prstGeom xmlns:a="http://schemas.openxmlformats.org/drawingml/2006/main" prst="roundRect">
            <a:avLst>
              <a:gd name="adj" fmla="val 16667"/>
            </a:avLst>
          </a:prstGeom>
          <a:solidFill xmlns:a="http://schemas.openxmlformats.org/drawingml/2006/main">
            <a:srgbClr val="142B42"/>
          </a:solidFill>
          <a:ln xmlns:a="http://schemas.openxmlformats.org/drawingml/2006/main" w="14288">
            <a:solidFill>
              <a:srgbClr val="29445D"/>
            </a:solidFill>
            <a:prstDash val="solid"/>
          </a:ln>
        </p:spPr>
      </p:sp>
      <p:sp>
        <p:nvSpPr>
          <p:cNvPr id="22" name="">
            <a:extLst xmlns:a="http://schemas.openxmlformats.org/drawingml/2006/main">
              <a:ext uri="{FF2B5EF4-FFF2-40B4-BE49-F238E27FC236}">
                <a16:creationId xmlns:a16="http://schemas.microsoft.com/office/drawing/2014/main" id="{81D06CB8-14C0-4298-A789-1952A86E27D7}"/>
              </a:ext>
            </a:extLst>
          </p:cNvPr>
          <p:cNvSpPr>
            <a:spLocks xmlns:a="http://schemas.openxmlformats.org/drawingml/2006/main" noGrp="1"/>
          </p:cNvSpPr>
          <p:nvPr/>
        </p:nvSpPr>
        <p:spPr>
          <a:xfrm xmlns:a="http://schemas.openxmlformats.org/drawingml/2006/main">
            <a:off x="2228850" y="491490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FF7285"/>
                </a:solidFill>
                <a:latin typeface="Liberation Sans"/>
                <a:ea typeface="Liberation Sans"/>
                <a:cs typeface="Liberation Sans"/>
              </a:defRPr>
            </a:pPr>
            <a:r>
              <a:rPr sz="1350" b="1">
                <a:solidFill>
                  <a:srgbClr val="FF7285"/>
                </a:solidFill>
                <a:latin typeface="Liberation Sans"/>
                <a:ea typeface="Liberation Sans"/>
                <a:cs typeface="Liberation Sans"/>
              </a:rPr>
              <a:t>Live trigger</a:t>
            </a:r>
          </a:p>
        </p:txBody>
      </p:sp>
      <p:sp>
        <p:nvSpPr>
          <p:cNvPr id="23" name="">
            <a:extLst xmlns:a="http://schemas.openxmlformats.org/drawingml/2006/main">
              <a:ext uri="{FF2B5EF4-FFF2-40B4-BE49-F238E27FC236}">
                <a16:creationId xmlns:a16="http://schemas.microsoft.com/office/drawing/2014/main" id="{6BFA27E0-77C3-4E3D-8009-0D3C56CC15B5}"/>
              </a:ext>
            </a:extLst>
          </p:cNvPr>
          <p:cNvSpPr>
            <a:spLocks xmlns:a="http://schemas.openxmlformats.org/drawingml/2006/main" noGrp="1"/>
          </p:cNvSpPr>
          <p:nvPr/>
        </p:nvSpPr>
        <p:spPr>
          <a:xfrm xmlns:a="http://schemas.openxmlformats.org/drawingml/2006/main">
            <a:off x="4000500" y="4857750"/>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F4F8FC"/>
                </a:solidFill>
                <a:latin typeface="Liberation Sans"/>
                <a:ea typeface="Liberation Sans"/>
                <a:cs typeface="Liberation Sans"/>
              </a:defRPr>
            </a:pPr>
            <a:r>
              <a:rPr sz="1800" b="1">
                <a:solidFill>
                  <a:srgbClr val="F4F8FC"/>
                </a:solidFill>
                <a:latin typeface="Liberation Sans"/>
                <a:ea typeface="Liberation Sans"/>
                <a:cs typeface="Liberation Sans"/>
              </a:rPr>
              <a:t>make incident</a:t>
            </a:r>
          </a:p>
        </p:txBody>
      </p:sp>
      <p:sp>
        <p:nvSpPr>
          <p:cNvPr id="24" name="">
            <a:extLst xmlns:a="http://schemas.openxmlformats.org/drawingml/2006/main">
              <a:ext uri="{FF2B5EF4-FFF2-40B4-BE49-F238E27FC236}">
                <a16:creationId xmlns:a16="http://schemas.microsoft.com/office/drawing/2014/main" id="{B2C7AACB-CA9E-491C-B543-972C952CC98C}"/>
              </a:ext>
            </a:extLst>
          </p:cNvPr>
          <p:cNvSpPr>
            <a:spLocks xmlns:a="http://schemas.openxmlformats.org/drawingml/2006/main" noGrp="1"/>
          </p:cNvSpPr>
          <p:nvPr/>
        </p:nvSpPr>
        <p:spPr>
          <a:xfrm xmlns:a="http://schemas.openxmlformats.org/drawingml/2006/main">
            <a:off x="6477000" y="4857750"/>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314"/>
          </a:bodyPr>
          <a:lstStyle xmlns:a="http://schemas.openxmlformats.org/drawingml/2006/main"/>
          <a:p xmlns:a="http://schemas.openxmlformats.org/drawingml/2006/main">
            <a:pPr>
              <a:defRPr sz="1275" b="0">
                <a:solidFill>
                  <a:srgbClr val="A6B7C8"/>
                </a:solidFill>
                <a:latin typeface="Liberation Sans"/>
                <a:ea typeface="Liberation Sans"/>
                <a:cs typeface="Liberation Sans"/>
              </a:defRPr>
            </a:pPr>
            <a:r>
              <a:rPr sz="1275" b="0">
                <a:solidFill>
                  <a:srgbClr val="A6B7C8"/>
                </a:solidFill>
                <a:latin typeface="Liberation Sans"/>
                <a:ea typeface="Liberation Sans"/>
                <a:cs typeface="Liberation Sans"/>
              </a:rPr>
              <a:t>Redis endpoints disappear, probes fail, and restarts rise</a:t>
            </a:r>
          </a:p>
        </p:txBody>
      </p:sp>
    </p:spTree>
    <p:extLst>
      <p:ext uri="{BB962C8B-B14F-4D97-AF65-F5344CB8AC3E}">
        <p14:creationId xmlns:p14="http://schemas.microsoft.com/office/powerpoint/2010/main" val="1303619741"/>
      </p:ext>
    </p:extLst>
  </p:cSld>
</p:sld>
</file>

<file path=ppt/slides/slide9.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0202433-6FA3-4DA2-B63E-CD70E135190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54D6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E547128-D0FE-4E26-B06E-CD6FC21E2A3E}"/>
              </a:ext>
            </a:extLst>
          </p:cNvPr>
          <p:cNvSpPr>
            <a:spLocks xmlns:a="http://schemas.openxmlformats.org/drawingml/2006/main" noGrp="1"/>
          </p:cNvSpPr>
          <p:nvPr/>
        </p:nvSpPr>
        <p:spPr>
          <a:xfrm xmlns:a="http://schemas.openxmlformats.org/drawingml/2006/main">
            <a:off x="590550" y="400050"/>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F4F8FC"/>
                </a:solidFill>
                <a:latin typeface="Liberation Sans"/>
                <a:ea typeface="Liberation Sans"/>
                <a:cs typeface="Liberation Sans"/>
              </a:defRPr>
            </a:pPr>
            <a:r>
              <a:rPr sz="2550" b="1">
                <a:solidFill>
                  <a:srgbClr val="F4F8FC"/>
                </a:solidFill>
                <a:latin typeface="Liberation Sans"/>
                <a:ea typeface="Liberation Sans"/>
                <a:cs typeface="Liberation Sans"/>
              </a:rPr>
              <a:t>A governed path to agent adoption</a:t>
            </a:r>
          </a:p>
        </p:txBody>
      </p:sp>
      <p:sp>
        <p:nvSpPr>
          <p:cNvPr id="3" name="">
            <a:extLst xmlns:a="http://schemas.openxmlformats.org/drawingml/2006/main">
              <a:ext uri="{FF2B5EF4-FFF2-40B4-BE49-F238E27FC236}">
                <a16:creationId xmlns:a16="http://schemas.microsoft.com/office/drawing/2014/main" id="{2895CBBD-08BF-4DC7-8256-E479BA3EEC7C}"/>
              </a:ext>
            </a:extLst>
          </p:cNvPr>
          <p:cNvSpPr>
            <a:spLocks xmlns:a="http://schemas.openxmlformats.org/drawingml/2006/main" noGrp="1"/>
          </p:cNvSpPr>
          <p:nvPr/>
        </p:nvSpPr>
        <p:spPr>
          <a:xfrm xmlns:a="http://schemas.openxmlformats.org/drawingml/2006/main">
            <a:off x="60960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A6B7C8"/>
                </a:solidFill>
                <a:latin typeface="Liberation Sans"/>
                <a:ea typeface="Liberation Sans"/>
                <a:cs typeface="Liberation Sans"/>
              </a:defRPr>
            </a:pPr>
            <a:r>
              <a:rPr sz="1275" b="0">
                <a:solidFill>
                  <a:srgbClr val="A6B7C8"/>
                </a:solidFill>
                <a:latin typeface="Liberation Sans"/>
                <a:ea typeface="Liberation Sans"/>
                <a:cs typeface="Liberation Sans"/>
              </a:rPr>
              <a:t>Autonomy expands only after the organization has evidence that the workflow is reliable</a:t>
            </a:r>
          </a:p>
        </p:txBody>
      </p:sp>
      <p:sp>
        <p:nvSpPr>
          <p:cNvPr id="4" name="">
            <a:extLst xmlns:a="http://schemas.openxmlformats.org/drawingml/2006/main">
              <a:ext uri="{FF2B5EF4-FFF2-40B4-BE49-F238E27FC236}">
                <a16:creationId xmlns:a16="http://schemas.microsoft.com/office/drawing/2014/main" id="{480752F8-B608-4721-B4B4-CAC7BDC4A5DA}"/>
              </a:ext>
            </a:extLst>
          </p:cNvPr>
          <p:cNvSpPr>
            <a:spLocks xmlns:a="http://schemas.openxmlformats.org/drawingml/2006/main" noGrp="1"/>
          </p:cNvSpPr>
          <p:nvPr/>
        </p:nvSpPr>
        <p:spPr>
          <a:xfrm xmlns:a="http://schemas.openxmlformats.org/drawingml/2006/main">
            <a:off x="11258550" y="62293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A6B7C8"/>
                </a:solidFill>
                <a:latin typeface="Liberation Sans"/>
                <a:ea typeface="Liberation Sans"/>
                <a:cs typeface="Liberation Sans"/>
              </a:defRPr>
            </a:pPr>
            <a:r>
              <a:rPr sz="900" b="0">
                <a:solidFill>
                  <a:srgbClr val="A6B7C8"/>
                </a:solidFill>
                <a:latin typeface="Liberation Sans"/>
                <a:ea typeface="Liberation Sans"/>
                <a:cs typeface="Liberation Sans"/>
              </a:rPr>
              <a:t>09</a:t>
            </a:r>
          </a:p>
        </p:txBody>
      </p:sp>
      <p:sp>
        <p:nvSpPr>
          <p:cNvPr id="5" name="">
            <a:extLst xmlns:a="http://schemas.openxmlformats.org/drawingml/2006/main">
              <a:ext uri="{FF2B5EF4-FFF2-40B4-BE49-F238E27FC236}">
                <a16:creationId xmlns:a16="http://schemas.microsoft.com/office/drawing/2014/main" id="{56EE0550-420D-4A26-822C-933286BB3A1D}"/>
              </a:ext>
            </a:extLst>
          </p:cNvPr>
          <p:cNvSpPr>
            <a:spLocks xmlns:a="http://schemas.openxmlformats.org/drawingml/2006/main" noGrp="1"/>
          </p:cNvSpPr>
          <p:nvPr/>
        </p:nvSpPr>
        <p:spPr>
          <a:xfrm xmlns:a="http://schemas.openxmlformats.org/drawingml/2006/main">
            <a:off x="590550" y="62293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A6B7C8"/>
                </a:solidFill>
                <a:latin typeface="Liberation Sans"/>
                <a:ea typeface="Liberation Sans"/>
                <a:cs typeface="Liberation Sans"/>
              </a:defRPr>
            </a:pPr>
            <a:r>
              <a:rPr sz="900" b="0">
                <a:solidFill>
                  <a:srgbClr val="A6B7C8"/>
                </a:solidFill>
                <a:latin typeface="Liberation Sans"/>
                <a:ea typeface="Liberation Sans"/>
                <a:cs typeface="Liberation Sans"/>
              </a:rPr>
              <a:t>KAOP by Nirit Terehovsky</a:t>
            </a:r>
          </a:p>
        </p:txBody>
      </p:sp>
      <p:sp>
        <p:nvSpPr>
          <p:cNvPr id="6" name="">
            <a:extLst xmlns:a="http://schemas.openxmlformats.org/drawingml/2006/main">
              <a:ext uri="{FF2B5EF4-FFF2-40B4-BE49-F238E27FC236}">
                <a16:creationId xmlns:a16="http://schemas.microsoft.com/office/drawing/2014/main" id="{D0DBB7B0-F636-4212-8D78-FA91980A631D}"/>
              </a:ext>
            </a:extLst>
          </p:cNvPr>
          <p:cNvSpPr>
            <a:spLocks xmlns:a="http://schemas.openxmlformats.org/drawingml/2006/main" noGrp="1"/>
          </p:cNvSpPr>
          <p:nvPr/>
        </p:nvSpPr>
        <p:spPr>
          <a:xfrm xmlns:a="http://schemas.openxmlformats.org/drawingml/2006/main">
            <a:off x="1200150" y="4000500"/>
            <a:ext cx="2133600" cy="1447800"/>
          </a:xfrm>
          <a:prstGeom xmlns:a="http://schemas.openxmlformats.org/drawingml/2006/main" prst="roundRect">
            <a:avLst>
              <a:gd name="adj" fmla="val 11842"/>
            </a:avLst>
          </a:prstGeom>
          <a:solidFill xmlns:a="http://schemas.openxmlformats.org/drawingml/2006/main">
            <a:srgbClr val="102338"/>
          </a:solidFill>
          <a:ln xmlns:a="http://schemas.openxmlformats.org/drawingml/2006/main" w="14288">
            <a:solidFill>
              <a:srgbClr val="54D6FF"/>
            </a:solidFill>
            <a:prstDash val="solid"/>
          </a:ln>
        </p:spPr>
      </p:sp>
      <p:sp>
        <p:nvSpPr>
          <p:cNvPr id="7" name="">
            <a:extLst xmlns:a="http://schemas.openxmlformats.org/drawingml/2006/main">
              <a:ext uri="{FF2B5EF4-FFF2-40B4-BE49-F238E27FC236}">
                <a16:creationId xmlns:a16="http://schemas.microsoft.com/office/drawing/2014/main" id="{3A50C139-97E7-43AC-9507-AC861C03BAA1}"/>
              </a:ext>
            </a:extLst>
          </p:cNvPr>
          <p:cNvSpPr>
            <a:spLocks xmlns:a="http://schemas.openxmlformats.org/drawingml/2006/main" noGrp="1"/>
          </p:cNvSpPr>
          <p:nvPr/>
        </p:nvSpPr>
        <p:spPr>
          <a:xfrm xmlns:a="http://schemas.openxmlformats.org/drawingml/2006/main">
            <a:off x="1390650" y="41529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800" b="1">
                <a:solidFill>
                  <a:srgbClr val="54D6FF"/>
                </a:solidFill>
                <a:latin typeface="Liberation Sans"/>
                <a:ea typeface="Liberation Sans"/>
                <a:cs typeface="Liberation Sans"/>
              </a:defRPr>
            </a:pPr>
            <a:r>
              <a:rPr sz="1800" b="1">
                <a:solidFill>
                  <a:srgbClr val="54D6FF"/>
                </a:solidFill>
                <a:latin typeface="Liberation Sans"/>
                <a:ea typeface="Liberation Sans"/>
                <a:cs typeface="Liberation Sans"/>
              </a:rPr>
              <a:t>1</a:t>
            </a:r>
          </a:p>
        </p:txBody>
      </p:sp>
      <p:sp>
        <p:nvSpPr>
          <p:cNvPr id="8" name="">
            <a:extLst xmlns:a="http://schemas.openxmlformats.org/drawingml/2006/main">
              <a:ext uri="{FF2B5EF4-FFF2-40B4-BE49-F238E27FC236}">
                <a16:creationId xmlns:a16="http://schemas.microsoft.com/office/drawing/2014/main" id="{5429A252-0823-441D-987A-0656E5D4F490}"/>
              </a:ext>
            </a:extLst>
          </p:cNvPr>
          <p:cNvSpPr>
            <a:spLocks xmlns:a="http://schemas.openxmlformats.org/drawingml/2006/main" noGrp="1"/>
          </p:cNvSpPr>
          <p:nvPr/>
        </p:nvSpPr>
        <p:spPr>
          <a:xfrm xmlns:a="http://schemas.openxmlformats.org/drawingml/2006/main">
            <a:off x="1828800" y="4152900"/>
            <a:ext cx="123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F4F8FC"/>
                </a:solidFill>
                <a:latin typeface="Liberation Sans"/>
                <a:ea typeface="Liberation Sans"/>
                <a:cs typeface="Liberation Sans"/>
              </a:defRPr>
            </a:pPr>
            <a:r>
              <a:rPr sz="1650" b="1">
                <a:solidFill>
                  <a:srgbClr val="F4F8FC"/>
                </a:solidFill>
                <a:latin typeface="Liberation Sans"/>
                <a:ea typeface="Liberation Sans"/>
                <a:cs typeface="Liberation Sans"/>
              </a:rPr>
              <a:t>Observe</a:t>
            </a:r>
          </a:p>
        </p:txBody>
      </p:sp>
      <p:sp>
        <p:nvSpPr>
          <p:cNvPr id="9" name="">
            <a:extLst xmlns:a="http://schemas.openxmlformats.org/drawingml/2006/main">
              <a:ext uri="{FF2B5EF4-FFF2-40B4-BE49-F238E27FC236}">
                <a16:creationId xmlns:a16="http://schemas.microsoft.com/office/drawing/2014/main" id="{E7EF68FE-9371-47B7-9D45-3F700A8C8220}"/>
              </a:ext>
            </a:extLst>
          </p:cNvPr>
          <p:cNvSpPr>
            <a:spLocks xmlns:a="http://schemas.openxmlformats.org/drawingml/2006/main" noGrp="1"/>
          </p:cNvSpPr>
          <p:nvPr/>
        </p:nvSpPr>
        <p:spPr>
          <a:xfrm xmlns:a="http://schemas.openxmlformats.org/drawingml/2006/main">
            <a:off x="1390650" y="4610100"/>
            <a:ext cx="1714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0">
                <a:solidFill>
                  <a:srgbClr val="A6B7C8"/>
                </a:solidFill>
                <a:latin typeface="Liberation Sans"/>
                <a:ea typeface="Liberation Sans"/>
                <a:cs typeface="Liberation Sans"/>
              </a:defRPr>
            </a:pPr>
            <a:r>
              <a:rPr sz="1200" b="0">
                <a:solidFill>
                  <a:srgbClr val="A6B7C8"/>
                </a:solidFill>
                <a:latin typeface="Liberation Sans"/>
                <a:ea typeface="Liberation Sans"/>
                <a:cs typeface="Liberation Sans"/>
              </a:rPr>
              <a:t>Read only access</a:t>
            </a:r>
          </a:p>
          <a:p xmlns:a="http://schemas.openxmlformats.org/drawingml/2006/main">
            <a:pPr>
              <a:defRPr sz="1200" b="0">
                <a:solidFill>
                  <a:srgbClr val="A6B7C8"/>
                </a:solidFill>
                <a:latin typeface="Liberation Sans"/>
                <a:ea typeface="Liberation Sans"/>
                <a:cs typeface="Liberation Sans"/>
              </a:defRPr>
            </a:pPr>
            <a:r>
              <a:rPr sz="1200" b="0">
                <a:solidFill>
                  <a:srgbClr val="A6B7C8"/>
                </a:solidFill>
                <a:latin typeface="Liberation Sans"/>
                <a:ea typeface="Liberation Sans"/>
                <a:cs typeface="Liberation Sans"/>
              </a:rPr>
              <a:t>Structured findings</a:t>
            </a:r>
          </a:p>
        </p:txBody>
      </p:sp>
      <p:sp>
        <p:nvSpPr>
          <p:cNvPr id="10" name="">
            <a:extLst xmlns:a="http://schemas.openxmlformats.org/drawingml/2006/main">
              <a:ext uri="{FF2B5EF4-FFF2-40B4-BE49-F238E27FC236}">
                <a16:creationId xmlns:a16="http://schemas.microsoft.com/office/drawing/2014/main" id="{24FD236B-F707-49EF-BF8F-AE87BDCC682C}"/>
              </a:ext>
            </a:extLst>
          </p:cNvPr>
          <p:cNvSpPr>
            <a:spLocks xmlns:a="http://schemas.openxmlformats.org/drawingml/2006/main" noGrp="1"/>
          </p:cNvSpPr>
          <p:nvPr/>
        </p:nvSpPr>
        <p:spPr>
          <a:xfrm xmlns:a="http://schemas.openxmlformats.org/drawingml/2006/main">
            <a:off x="3390900" y="3257550"/>
            <a:ext cx="2133600" cy="1447800"/>
          </a:xfrm>
          <a:prstGeom xmlns:a="http://schemas.openxmlformats.org/drawingml/2006/main" prst="roundRect">
            <a:avLst>
              <a:gd name="adj" fmla="val 11842"/>
            </a:avLst>
          </a:prstGeom>
          <a:solidFill xmlns:a="http://schemas.openxmlformats.org/drawingml/2006/main">
            <a:srgbClr val="102338"/>
          </a:solidFill>
          <a:ln xmlns:a="http://schemas.openxmlformats.org/drawingml/2006/main" w="14288">
            <a:solidFill>
              <a:srgbClr val="9A7BFF"/>
            </a:solidFill>
            <a:prstDash val="solid"/>
          </a:ln>
        </p:spPr>
      </p:sp>
      <p:sp>
        <p:nvSpPr>
          <p:cNvPr id="11" name="">
            <a:extLst xmlns:a="http://schemas.openxmlformats.org/drawingml/2006/main">
              <a:ext uri="{FF2B5EF4-FFF2-40B4-BE49-F238E27FC236}">
                <a16:creationId xmlns:a16="http://schemas.microsoft.com/office/drawing/2014/main" id="{3016422D-4278-4099-9A5A-BB25C826C0EC}"/>
              </a:ext>
            </a:extLst>
          </p:cNvPr>
          <p:cNvSpPr>
            <a:spLocks xmlns:a="http://schemas.openxmlformats.org/drawingml/2006/main" noGrp="1"/>
          </p:cNvSpPr>
          <p:nvPr/>
        </p:nvSpPr>
        <p:spPr>
          <a:xfrm xmlns:a="http://schemas.openxmlformats.org/drawingml/2006/main">
            <a:off x="3581400" y="340995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800" b="1">
                <a:solidFill>
                  <a:srgbClr val="9A7BFF"/>
                </a:solidFill>
                <a:latin typeface="Liberation Sans"/>
                <a:ea typeface="Liberation Sans"/>
                <a:cs typeface="Liberation Sans"/>
              </a:defRPr>
            </a:pPr>
            <a:r>
              <a:rPr sz="1800" b="1">
                <a:solidFill>
                  <a:srgbClr val="9A7BFF"/>
                </a:solidFill>
                <a:latin typeface="Liberation Sans"/>
                <a:ea typeface="Liberation Sans"/>
                <a:cs typeface="Liberation Sans"/>
              </a:rPr>
              <a:t>2</a:t>
            </a:r>
          </a:p>
        </p:txBody>
      </p:sp>
      <p:sp>
        <p:nvSpPr>
          <p:cNvPr id="12" name="">
            <a:extLst xmlns:a="http://schemas.openxmlformats.org/drawingml/2006/main">
              <a:ext uri="{FF2B5EF4-FFF2-40B4-BE49-F238E27FC236}">
                <a16:creationId xmlns:a16="http://schemas.microsoft.com/office/drawing/2014/main" id="{AD8574B1-EC90-4719-8555-5797FA32E26D}"/>
              </a:ext>
            </a:extLst>
          </p:cNvPr>
          <p:cNvSpPr>
            <a:spLocks xmlns:a="http://schemas.openxmlformats.org/drawingml/2006/main" noGrp="1"/>
          </p:cNvSpPr>
          <p:nvPr/>
        </p:nvSpPr>
        <p:spPr>
          <a:xfrm xmlns:a="http://schemas.openxmlformats.org/drawingml/2006/main">
            <a:off x="4019550" y="3409950"/>
            <a:ext cx="123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F4F8FC"/>
                </a:solidFill>
                <a:latin typeface="Liberation Sans"/>
                <a:ea typeface="Liberation Sans"/>
                <a:cs typeface="Liberation Sans"/>
              </a:defRPr>
            </a:pPr>
            <a:r>
              <a:rPr sz="1650" b="1">
                <a:solidFill>
                  <a:srgbClr val="F4F8FC"/>
                </a:solidFill>
                <a:latin typeface="Liberation Sans"/>
                <a:ea typeface="Liberation Sans"/>
                <a:cs typeface="Liberation Sans"/>
              </a:rPr>
              <a:t>Assist</a:t>
            </a:r>
          </a:p>
        </p:txBody>
      </p:sp>
      <p:sp>
        <p:nvSpPr>
          <p:cNvPr id="13" name="">
            <a:extLst xmlns:a="http://schemas.openxmlformats.org/drawingml/2006/main">
              <a:ext uri="{FF2B5EF4-FFF2-40B4-BE49-F238E27FC236}">
                <a16:creationId xmlns:a16="http://schemas.microsoft.com/office/drawing/2014/main" id="{1B65AC6B-E576-4345-98CA-E47D14ADA347}"/>
              </a:ext>
            </a:extLst>
          </p:cNvPr>
          <p:cNvSpPr>
            <a:spLocks xmlns:a="http://schemas.openxmlformats.org/drawingml/2006/main" noGrp="1"/>
          </p:cNvSpPr>
          <p:nvPr/>
        </p:nvSpPr>
        <p:spPr>
          <a:xfrm xmlns:a="http://schemas.openxmlformats.org/drawingml/2006/main">
            <a:off x="3581400" y="3867150"/>
            <a:ext cx="1714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0">
                <a:solidFill>
                  <a:srgbClr val="A6B7C8"/>
                </a:solidFill>
                <a:latin typeface="Liberation Sans"/>
                <a:ea typeface="Liberation Sans"/>
                <a:cs typeface="Liberation Sans"/>
              </a:defRPr>
            </a:pPr>
            <a:r>
              <a:rPr sz="1200" b="0">
                <a:solidFill>
                  <a:srgbClr val="A6B7C8"/>
                </a:solidFill>
                <a:latin typeface="Liberation Sans"/>
                <a:ea typeface="Liberation Sans"/>
                <a:cs typeface="Liberation Sans"/>
              </a:rPr>
              <a:t>Recommendations</a:t>
            </a:r>
          </a:p>
          <a:p xmlns:a="http://schemas.openxmlformats.org/drawingml/2006/main">
            <a:pPr>
              <a:defRPr sz="1200" b="0">
                <a:solidFill>
                  <a:srgbClr val="A6B7C8"/>
                </a:solidFill>
                <a:latin typeface="Liberation Sans"/>
                <a:ea typeface="Liberation Sans"/>
                <a:cs typeface="Liberation Sans"/>
              </a:defRPr>
            </a:pPr>
            <a:r>
              <a:rPr sz="1200" b="0">
                <a:solidFill>
                  <a:srgbClr val="A6B7C8"/>
                </a:solidFill>
                <a:latin typeface="Liberation Sans"/>
                <a:ea typeface="Liberation Sans"/>
                <a:cs typeface="Liberation Sans"/>
              </a:rPr>
              <a:t>Human execution</a:t>
            </a:r>
          </a:p>
        </p:txBody>
      </p:sp>
      <p:sp>
        <p:nvSpPr>
          <p:cNvPr id="14" name="">
            <a:extLst xmlns:a="http://schemas.openxmlformats.org/drawingml/2006/main">
              <a:ext uri="{FF2B5EF4-FFF2-40B4-BE49-F238E27FC236}">
                <a16:creationId xmlns:a16="http://schemas.microsoft.com/office/drawing/2014/main" id="{E2309B51-AEB0-47F6-99DF-60C080A0B073}"/>
              </a:ext>
            </a:extLst>
          </p:cNvPr>
          <p:cNvSpPr>
            <a:spLocks xmlns:a="http://schemas.openxmlformats.org/drawingml/2006/main" noGrp="1"/>
          </p:cNvSpPr>
          <p:nvPr/>
        </p:nvSpPr>
        <p:spPr>
          <a:xfrm xmlns:a="http://schemas.openxmlformats.org/drawingml/2006/main">
            <a:off x="5581650" y="2514600"/>
            <a:ext cx="2133600" cy="1447800"/>
          </a:xfrm>
          <a:prstGeom xmlns:a="http://schemas.openxmlformats.org/drawingml/2006/main" prst="roundRect">
            <a:avLst>
              <a:gd name="adj" fmla="val 11842"/>
            </a:avLst>
          </a:prstGeom>
          <a:solidFill xmlns:a="http://schemas.openxmlformats.org/drawingml/2006/main">
            <a:srgbClr val="102338"/>
          </a:solidFill>
          <a:ln xmlns:a="http://schemas.openxmlformats.org/drawingml/2006/main" w="14288">
            <a:solidFill>
              <a:srgbClr val="68E1C4"/>
            </a:solidFill>
            <a:prstDash val="solid"/>
          </a:ln>
        </p:spPr>
      </p:sp>
      <p:sp>
        <p:nvSpPr>
          <p:cNvPr id="15" name="">
            <a:extLst xmlns:a="http://schemas.openxmlformats.org/drawingml/2006/main">
              <a:ext uri="{FF2B5EF4-FFF2-40B4-BE49-F238E27FC236}">
                <a16:creationId xmlns:a16="http://schemas.microsoft.com/office/drawing/2014/main" id="{D6A1A99A-5889-412B-882C-A9472584BDCD}"/>
              </a:ext>
            </a:extLst>
          </p:cNvPr>
          <p:cNvSpPr>
            <a:spLocks xmlns:a="http://schemas.openxmlformats.org/drawingml/2006/main" noGrp="1"/>
          </p:cNvSpPr>
          <p:nvPr/>
        </p:nvSpPr>
        <p:spPr>
          <a:xfrm xmlns:a="http://schemas.openxmlformats.org/drawingml/2006/main">
            <a:off x="5772150" y="26670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800" b="1">
                <a:solidFill>
                  <a:srgbClr val="68E1C4"/>
                </a:solidFill>
                <a:latin typeface="Liberation Sans"/>
                <a:ea typeface="Liberation Sans"/>
                <a:cs typeface="Liberation Sans"/>
              </a:defRPr>
            </a:pPr>
            <a:r>
              <a:rPr sz="1800" b="1">
                <a:solidFill>
                  <a:srgbClr val="68E1C4"/>
                </a:solidFill>
                <a:latin typeface="Liberation Sans"/>
                <a:ea typeface="Liberation Sans"/>
                <a:cs typeface="Liberation Sans"/>
              </a:rPr>
              <a:t>3</a:t>
            </a:r>
          </a:p>
        </p:txBody>
      </p:sp>
      <p:sp>
        <p:nvSpPr>
          <p:cNvPr id="16" name="">
            <a:extLst xmlns:a="http://schemas.openxmlformats.org/drawingml/2006/main">
              <a:ext uri="{FF2B5EF4-FFF2-40B4-BE49-F238E27FC236}">
                <a16:creationId xmlns:a16="http://schemas.microsoft.com/office/drawing/2014/main" id="{7078FF7A-366E-4ABD-85F3-3D209A26BBD2}"/>
              </a:ext>
            </a:extLst>
          </p:cNvPr>
          <p:cNvSpPr>
            <a:spLocks xmlns:a="http://schemas.openxmlformats.org/drawingml/2006/main" noGrp="1"/>
          </p:cNvSpPr>
          <p:nvPr/>
        </p:nvSpPr>
        <p:spPr>
          <a:xfrm xmlns:a="http://schemas.openxmlformats.org/drawingml/2006/main">
            <a:off x="6210300" y="2667000"/>
            <a:ext cx="123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F4F8FC"/>
                </a:solidFill>
                <a:latin typeface="Liberation Sans"/>
                <a:ea typeface="Liberation Sans"/>
                <a:cs typeface="Liberation Sans"/>
              </a:defRPr>
            </a:pPr>
            <a:r>
              <a:rPr sz="1650" b="1">
                <a:solidFill>
                  <a:srgbClr val="F4F8FC"/>
                </a:solidFill>
                <a:latin typeface="Liberation Sans"/>
                <a:ea typeface="Liberation Sans"/>
                <a:cs typeface="Liberation Sans"/>
              </a:rPr>
              <a:t>Approve</a:t>
            </a:r>
          </a:p>
        </p:txBody>
      </p:sp>
      <p:sp>
        <p:nvSpPr>
          <p:cNvPr id="17" name="">
            <a:extLst xmlns:a="http://schemas.openxmlformats.org/drawingml/2006/main">
              <a:ext uri="{FF2B5EF4-FFF2-40B4-BE49-F238E27FC236}">
                <a16:creationId xmlns:a16="http://schemas.microsoft.com/office/drawing/2014/main" id="{4CAF3D89-F8EF-490C-9AE1-907C5B1DA78F}"/>
              </a:ext>
            </a:extLst>
          </p:cNvPr>
          <p:cNvSpPr>
            <a:spLocks xmlns:a="http://schemas.openxmlformats.org/drawingml/2006/main" noGrp="1"/>
          </p:cNvSpPr>
          <p:nvPr/>
        </p:nvSpPr>
        <p:spPr>
          <a:xfrm xmlns:a="http://schemas.openxmlformats.org/drawingml/2006/main">
            <a:off x="5772150" y="3124200"/>
            <a:ext cx="1714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0">
                <a:solidFill>
                  <a:srgbClr val="A6B7C8"/>
                </a:solidFill>
                <a:latin typeface="Liberation Sans"/>
                <a:ea typeface="Liberation Sans"/>
                <a:cs typeface="Liberation Sans"/>
              </a:defRPr>
            </a:pPr>
            <a:r>
              <a:rPr sz="1200" b="0">
                <a:solidFill>
                  <a:srgbClr val="A6B7C8"/>
                </a:solidFill>
                <a:latin typeface="Liberation Sans"/>
                <a:ea typeface="Liberation Sans"/>
                <a:cs typeface="Liberation Sans"/>
              </a:rPr>
              <a:t>Proposed writes</a:t>
            </a:r>
          </a:p>
          <a:p xmlns:a="http://schemas.openxmlformats.org/drawingml/2006/main">
            <a:pPr>
              <a:defRPr sz="1200" b="0">
                <a:solidFill>
                  <a:srgbClr val="A6B7C8"/>
                </a:solidFill>
                <a:latin typeface="Liberation Sans"/>
                <a:ea typeface="Liberation Sans"/>
                <a:cs typeface="Liberation Sans"/>
              </a:defRPr>
            </a:pPr>
            <a:r>
              <a:rPr sz="1200" b="0">
                <a:solidFill>
                  <a:srgbClr val="A6B7C8"/>
                </a:solidFill>
                <a:latin typeface="Liberation Sans"/>
                <a:ea typeface="Liberation Sans"/>
                <a:cs typeface="Liberation Sans"/>
              </a:rPr>
              <a:t>Required approval</a:t>
            </a:r>
          </a:p>
        </p:txBody>
      </p:sp>
      <p:sp>
        <p:nvSpPr>
          <p:cNvPr id="18" name="">
            <a:extLst xmlns:a="http://schemas.openxmlformats.org/drawingml/2006/main">
              <a:ext uri="{FF2B5EF4-FFF2-40B4-BE49-F238E27FC236}">
                <a16:creationId xmlns:a16="http://schemas.microsoft.com/office/drawing/2014/main" id="{28330A57-35F9-4055-9836-2897F5B8F11A}"/>
              </a:ext>
            </a:extLst>
          </p:cNvPr>
          <p:cNvSpPr>
            <a:spLocks xmlns:a="http://schemas.openxmlformats.org/drawingml/2006/main" noGrp="1"/>
          </p:cNvSpPr>
          <p:nvPr/>
        </p:nvSpPr>
        <p:spPr>
          <a:xfrm xmlns:a="http://schemas.openxmlformats.org/drawingml/2006/main">
            <a:off x="7772400" y="1771650"/>
            <a:ext cx="2133600" cy="1447800"/>
          </a:xfrm>
          <a:prstGeom xmlns:a="http://schemas.openxmlformats.org/drawingml/2006/main" prst="roundRect">
            <a:avLst>
              <a:gd name="adj" fmla="val 11842"/>
            </a:avLst>
          </a:prstGeom>
          <a:solidFill xmlns:a="http://schemas.openxmlformats.org/drawingml/2006/main">
            <a:srgbClr val="102338"/>
          </a:solidFill>
          <a:ln xmlns:a="http://schemas.openxmlformats.org/drawingml/2006/main" w="14288">
            <a:solidFill>
              <a:srgbClr val="FFCA6B"/>
            </a:solidFill>
            <a:prstDash val="solid"/>
          </a:ln>
        </p:spPr>
      </p:sp>
      <p:sp>
        <p:nvSpPr>
          <p:cNvPr id="19" name="">
            <a:extLst xmlns:a="http://schemas.openxmlformats.org/drawingml/2006/main">
              <a:ext uri="{FF2B5EF4-FFF2-40B4-BE49-F238E27FC236}">
                <a16:creationId xmlns:a16="http://schemas.microsoft.com/office/drawing/2014/main" id="{A85C32B9-F28E-4D7C-8DB4-4431E03785AF}"/>
              </a:ext>
            </a:extLst>
          </p:cNvPr>
          <p:cNvSpPr>
            <a:spLocks xmlns:a="http://schemas.openxmlformats.org/drawingml/2006/main" noGrp="1"/>
          </p:cNvSpPr>
          <p:nvPr/>
        </p:nvSpPr>
        <p:spPr>
          <a:xfrm xmlns:a="http://schemas.openxmlformats.org/drawingml/2006/main">
            <a:off x="7962900" y="192405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800" b="1">
                <a:solidFill>
                  <a:srgbClr val="FFCA6B"/>
                </a:solidFill>
                <a:latin typeface="Liberation Sans"/>
                <a:ea typeface="Liberation Sans"/>
                <a:cs typeface="Liberation Sans"/>
              </a:defRPr>
            </a:pPr>
            <a:r>
              <a:rPr sz="1800" b="1">
                <a:solidFill>
                  <a:srgbClr val="FFCA6B"/>
                </a:solidFill>
                <a:latin typeface="Liberation Sans"/>
                <a:ea typeface="Liberation Sans"/>
                <a:cs typeface="Liberation Sans"/>
              </a:rPr>
              <a:t>4</a:t>
            </a:r>
          </a:p>
        </p:txBody>
      </p:sp>
      <p:sp>
        <p:nvSpPr>
          <p:cNvPr id="20" name="">
            <a:extLst xmlns:a="http://schemas.openxmlformats.org/drawingml/2006/main">
              <a:ext uri="{FF2B5EF4-FFF2-40B4-BE49-F238E27FC236}">
                <a16:creationId xmlns:a16="http://schemas.microsoft.com/office/drawing/2014/main" id="{F64C57A4-B1F1-4A6D-899B-BBB1DEE354BE}"/>
              </a:ext>
            </a:extLst>
          </p:cNvPr>
          <p:cNvSpPr>
            <a:spLocks xmlns:a="http://schemas.openxmlformats.org/drawingml/2006/main" noGrp="1"/>
          </p:cNvSpPr>
          <p:nvPr/>
        </p:nvSpPr>
        <p:spPr>
          <a:xfrm xmlns:a="http://schemas.openxmlformats.org/drawingml/2006/main">
            <a:off x="8401050" y="1924050"/>
            <a:ext cx="123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F4F8FC"/>
                </a:solidFill>
                <a:latin typeface="Liberation Sans"/>
                <a:ea typeface="Liberation Sans"/>
                <a:cs typeface="Liberation Sans"/>
              </a:defRPr>
            </a:pPr>
            <a:r>
              <a:rPr sz="1650" b="1">
                <a:solidFill>
                  <a:srgbClr val="F4F8FC"/>
                </a:solidFill>
                <a:latin typeface="Liberation Sans"/>
                <a:ea typeface="Liberation Sans"/>
                <a:cs typeface="Liberation Sans"/>
              </a:rPr>
              <a:t>Automate</a:t>
            </a:r>
          </a:p>
        </p:txBody>
      </p:sp>
      <p:sp>
        <p:nvSpPr>
          <p:cNvPr id="21" name="">
            <a:extLst xmlns:a="http://schemas.openxmlformats.org/drawingml/2006/main">
              <a:ext uri="{FF2B5EF4-FFF2-40B4-BE49-F238E27FC236}">
                <a16:creationId xmlns:a16="http://schemas.microsoft.com/office/drawing/2014/main" id="{E3BA1C59-4C20-40F6-9EF8-6790C0177CAC}"/>
              </a:ext>
            </a:extLst>
          </p:cNvPr>
          <p:cNvSpPr>
            <a:spLocks xmlns:a="http://schemas.openxmlformats.org/drawingml/2006/main" noGrp="1"/>
          </p:cNvSpPr>
          <p:nvPr/>
        </p:nvSpPr>
        <p:spPr>
          <a:xfrm xmlns:a="http://schemas.openxmlformats.org/drawingml/2006/main">
            <a:off x="7962900" y="2381250"/>
            <a:ext cx="1714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0">
                <a:solidFill>
                  <a:srgbClr val="A6B7C8"/>
                </a:solidFill>
                <a:latin typeface="Liberation Sans"/>
                <a:ea typeface="Liberation Sans"/>
                <a:cs typeface="Liberation Sans"/>
              </a:defRPr>
            </a:pPr>
            <a:r>
              <a:rPr sz="1200" b="0">
                <a:solidFill>
                  <a:srgbClr val="A6B7C8"/>
                </a:solidFill>
                <a:latin typeface="Liberation Sans"/>
                <a:ea typeface="Liberation Sans"/>
                <a:cs typeface="Liberation Sans"/>
              </a:rPr>
              <a:t>Narrow writes</a:t>
            </a:r>
          </a:p>
          <a:p xmlns:a="http://schemas.openxmlformats.org/drawingml/2006/main">
            <a:pPr>
              <a:defRPr sz="1200" b="0">
                <a:solidFill>
                  <a:srgbClr val="A6B7C8"/>
                </a:solidFill>
                <a:latin typeface="Liberation Sans"/>
                <a:ea typeface="Liberation Sans"/>
                <a:cs typeface="Liberation Sans"/>
              </a:defRPr>
            </a:pPr>
            <a:r>
              <a:rPr sz="1200" b="0">
                <a:solidFill>
                  <a:srgbClr val="A6B7C8"/>
                </a:solidFill>
                <a:latin typeface="Liberation Sans"/>
                <a:ea typeface="Liberation Sans"/>
                <a:cs typeface="Liberation Sans"/>
              </a:rPr>
              <a:t>Measured outcomes</a:t>
            </a:r>
          </a:p>
        </p:txBody>
      </p:sp>
      <p:sp>
        <p:nvSpPr>
          <p:cNvPr id="22" name="">
            <a:extLst xmlns:a="http://schemas.openxmlformats.org/drawingml/2006/main">
              <a:ext uri="{FF2B5EF4-FFF2-40B4-BE49-F238E27FC236}">
                <a16:creationId xmlns:a16="http://schemas.microsoft.com/office/drawing/2014/main" id="{6637AE4F-A469-4E11-94AC-87DDE434E4E0}"/>
              </a:ext>
            </a:extLst>
          </p:cNvPr>
          <p:cNvSpPr>
            <a:spLocks xmlns:a="http://schemas.openxmlformats.org/drawingml/2006/main" noGrp="1"/>
          </p:cNvSpPr>
          <p:nvPr/>
        </p:nvSpPr>
        <p:spPr>
          <a:xfrm xmlns:a="http://schemas.openxmlformats.org/drawingml/2006/main">
            <a:off x="1524000" y="5695950"/>
            <a:ext cx="904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406"/>
          </a:bodyPr>
          <a:lstStyle xmlns:a="http://schemas.openxmlformats.org/drawingml/2006/main"/>
          <a:p xmlns:a="http://schemas.openxmlformats.org/drawingml/2006/main">
            <a:pPr>
              <a:defRPr sz="1725" b="1">
                <a:solidFill>
                  <a:srgbClr val="F4F8FC"/>
                </a:solidFill>
                <a:latin typeface="Liberation Sans"/>
                <a:ea typeface="Liberation Sans"/>
                <a:cs typeface="Liberation Sans"/>
              </a:defRPr>
            </a:pPr>
            <a:r>
              <a:rPr sz="1725" b="1">
                <a:solidFill>
                  <a:srgbClr val="F4F8FC"/>
                </a:solidFill>
                <a:latin typeface="Liberation Sans"/>
                <a:ea typeface="Liberation Sans"/>
                <a:cs typeface="Liberation Sans"/>
              </a:rPr>
              <a:t>Start where the blast radius is clear and the outcome is measurable</a:t>
            </a:r>
          </a:p>
        </p:txBody>
      </p:sp>
    </p:spTree>
    <p:extLst>
      <p:ext uri="{BB962C8B-B14F-4D97-AF65-F5344CB8AC3E}">
        <p14:creationId xmlns:p14="http://schemas.microsoft.com/office/powerpoint/2010/main" val="288118655"/>
      </p:ext>
    </p:extLst>
  </p:cSld>
</p:sld>
</file>

<file path=ppt/slides/slide10.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9C2186C-A3BF-4403-9606-D45694407C8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54D6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7AD4D2D-BD04-45AA-BDA2-C7A872653EA1}"/>
              </a:ext>
            </a:extLst>
          </p:cNvPr>
          <p:cNvSpPr>
            <a:spLocks xmlns:a="http://schemas.openxmlformats.org/drawingml/2006/main" noGrp="1"/>
          </p:cNvSpPr>
          <p:nvPr/>
        </p:nvSpPr>
        <p:spPr>
          <a:xfrm xmlns:a="http://schemas.openxmlformats.org/drawingml/2006/main">
            <a:off x="590550" y="400050"/>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F4F8FC"/>
                </a:solidFill>
                <a:latin typeface="Liberation Sans"/>
                <a:ea typeface="Liberation Sans"/>
                <a:cs typeface="Liberation Sans"/>
              </a:defRPr>
            </a:pPr>
            <a:r>
              <a:rPr sz="2550" b="1">
                <a:solidFill>
                  <a:srgbClr val="F4F8FC"/>
                </a:solidFill>
                <a:latin typeface="Liberation Sans"/>
                <a:ea typeface="Liberation Sans"/>
                <a:cs typeface="Liberation Sans"/>
              </a:rPr>
              <a:t>Demo architecture</a:t>
            </a:r>
          </a:p>
        </p:txBody>
      </p:sp>
      <p:sp>
        <p:nvSpPr>
          <p:cNvPr id="3" name="">
            <a:extLst xmlns:a="http://schemas.openxmlformats.org/drawingml/2006/main">
              <a:ext uri="{FF2B5EF4-FFF2-40B4-BE49-F238E27FC236}">
                <a16:creationId xmlns:a16="http://schemas.microsoft.com/office/drawing/2014/main" id="{CB206DC6-EB49-446B-86B7-E25A635DADC9}"/>
              </a:ext>
            </a:extLst>
          </p:cNvPr>
          <p:cNvSpPr>
            <a:spLocks xmlns:a="http://schemas.openxmlformats.org/drawingml/2006/main" noGrp="1"/>
          </p:cNvSpPr>
          <p:nvPr/>
        </p:nvSpPr>
        <p:spPr>
          <a:xfrm xmlns:a="http://schemas.openxmlformats.org/drawingml/2006/main">
            <a:off x="60960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A6B7C8"/>
                </a:solidFill>
                <a:latin typeface="Liberation Sans"/>
                <a:ea typeface="Liberation Sans"/>
                <a:cs typeface="Liberation Sans"/>
              </a:defRPr>
            </a:pPr>
            <a:r>
              <a:rPr sz="1275" b="0">
                <a:solidFill>
                  <a:srgbClr val="A6B7C8"/>
                </a:solidFill>
                <a:latin typeface="Liberation Sans"/>
                <a:ea typeface="Liberation Sans"/>
                <a:cs typeface="Liberation Sans"/>
              </a:rPr>
              <a:t>One application and one fault connect the incident and code review workflows</a:t>
            </a:r>
          </a:p>
        </p:txBody>
      </p:sp>
      <p:sp>
        <p:nvSpPr>
          <p:cNvPr id="4" name="">
            <a:extLst xmlns:a="http://schemas.openxmlformats.org/drawingml/2006/main">
              <a:ext uri="{FF2B5EF4-FFF2-40B4-BE49-F238E27FC236}">
                <a16:creationId xmlns:a16="http://schemas.microsoft.com/office/drawing/2014/main" id="{51DEECC6-AFBD-46E3-B6AE-B25E345CE92A}"/>
              </a:ext>
            </a:extLst>
          </p:cNvPr>
          <p:cNvSpPr>
            <a:spLocks xmlns:a="http://schemas.openxmlformats.org/drawingml/2006/main" noGrp="1"/>
          </p:cNvSpPr>
          <p:nvPr/>
        </p:nvSpPr>
        <p:spPr>
          <a:xfrm xmlns:a="http://schemas.openxmlformats.org/drawingml/2006/main">
            <a:off x="11258550" y="62293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A6B7C8"/>
                </a:solidFill>
                <a:latin typeface="Liberation Sans"/>
                <a:ea typeface="Liberation Sans"/>
                <a:cs typeface="Liberation Sans"/>
              </a:defRPr>
            </a:pPr>
            <a:r>
              <a:rPr sz="900" b="0">
                <a:solidFill>
                  <a:srgbClr val="A6B7C8"/>
                </a:solidFill>
                <a:latin typeface="Liberation Sans"/>
                <a:ea typeface="Liberation Sans"/>
                <a:cs typeface="Liberation Sans"/>
              </a:rPr>
              <a:t>10</a:t>
            </a:r>
          </a:p>
        </p:txBody>
      </p:sp>
      <p:sp>
        <p:nvSpPr>
          <p:cNvPr id="5" name="">
            <a:extLst xmlns:a="http://schemas.openxmlformats.org/drawingml/2006/main">
              <a:ext uri="{FF2B5EF4-FFF2-40B4-BE49-F238E27FC236}">
                <a16:creationId xmlns:a16="http://schemas.microsoft.com/office/drawing/2014/main" id="{6A4F0E48-D692-4945-8254-323988BB2247}"/>
              </a:ext>
            </a:extLst>
          </p:cNvPr>
          <p:cNvSpPr>
            <a:spLocks xmlns:a="http://schemas.openxmlformats.org/drawingml/2006/main" noGrp="1"/>
          </p:cNvSpPr>
          <p:nvPr/>
        </p:nvSpPr>
        <p:spPr>
          <a:xfrm xmlns:a="http://schemas.openxmlformats.org/drawingml/2006/main">
            <a:off x="590550" y="62293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A6B7C8"/>
                </a:solidFill>
                <a:latin typeface="Liberation Sans"/>
                <a:ea typeface="Liberation Sans"/>
                <a:cs typeface="Liberation Sans"/>
              </a:defRPr>
            </a:pPr>
            <a:r>
              <a:rPr sz="900" b="0">
                <a:solidFill>
                  <a:srgbClr val="A6B7C8"/>
                </a:solidFill>
                <a:latin typeface="Liberation Sans"/>
                <a:ea typeface="Liberation Sans"/>
                <a:cs typeface="Liberation Sans"/>
              </a:rPr>
              <a:t>KAOP by Nirit Terehovsky</a:t>
            </a:r>
          </a:p>
        </p:txBody>
      </p:sp>
      <p:sp>
        <p:nvSpPr>
          <p:cNvPr id="6" name="">
            <a:extLst xmlns:a="http://schemas.openxmlformats.org/drawingml/2006/main">
              <a:ext uri="{FF2B5EF4-FFF2-40B4-BE49-F238E27FC236}">
                <a16:creationId xmlns:a16="http://schemas.microsoft.com/office/drawing/2014/main" id="{9B07E54B-7D46-459E-A3AF-C7B33983F0BC}"/>
              </a:ext>
            </a:extLst>
          </p:cNvPr>
          <p:cNvSpPr>
            <a:spLocks xmlns:a="http://schemas.openxmlformats.org/drawingml/2006/main" noGrp="1"/>
          </p:cNvSpPr>
          <p:nvPr/>
        </p:nvSpPr>
        <p:spPr>
          <a:xfrm xmlns:a="http://schemas.openxmlformats.org/drawingml/2006/main">
            <a:off x="762000" y="1619250"/>
            <a:ext cx="2857500" cy="1200150"/>
          </a:xfrm>
          <a:prstGeom xmlns:a="http://schemas.openxmlformats.org/drawingml/2006/main" prst="roundRect">
            <a:avLst>
              <a:gd name="adj" fmla="val 15873"/>
            </a:avLst>
          </a:prstGeom>
          <a:solidFill xmlns:a="http://schemas.openxmlformats.org/drawingml/2006/main">
            <a:srgbClr val="102338"/>
          </a:solidFill>
          <a:ln xmlns:a="http://schemas.openxmlformats.org/drawingml/2006/main" w="14288">
            <a:solidFill>
              <a:srgbClr val="FFCA6B"/>
            </a:solidFill>
            <a:prstDash val="solid"/>
          </a:ln>
        </p:spPr>
      </p:sp>
      <p:sp>
        <p:nvSpPr>
          <p:cNvPr id="7" name="">
            <a:extLst xmlns:a="http://schemas.openxmlformats.org/drawingml/2006/main">
              <a:ext uri="{FF2B5EF4-FFF2-40B4-BE49-F238E27FC236}">
                <a16:creationId xmlns:a16="http://schemas.microsoft.com/office/drawing/2014/main" id="{2760A301-CF9D-428F-B479-12182F72AC38}"/>
              </a:ext>
            </a:extLst>
          </p:cNvPr>
          <p:cNvSpPr>
            <a:spLocks xmlns:a="http://schemas.openxmlformats.org/drawingml/2006/main" noGrp="1"/>
          </p:cNvSpPr>
          <p:nvPr/>
        </p:nvSpPr>
        <p:spPr>
          <a:xfrm xmlns:a="http://schemas.openxmlformats.org/drawingml/2006/main">
            <a:off x="1028700" y="1809750"/>
            <a:ext cx="2324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defRPr sz="1800" b="1">
                <a:solidFill>
                  <a:srgbClr val="FFCA6B"/>
                </a:solidFill>
                <a:latin typeface="Liberation Sans"/>
                <a:ea typeface="Liberation Sans"/>
                <a:cs typeface="Liberation Sans"/>
              </a:defRPr>
            </a:pPr>
            <a:r>
              <a:rPr sz="1800" b="1">
                <a:solidFill>
                  <a:srgbClr val="FFCA6B"/>
                </a:solidFill>
                <a:latin typeface="Liberation Sans"/>
                <a:ea typeface="Liberation Sans"/>
                <a:cs typeface="Liberation Sans"/>
              </a:rPr>
              <a:t>Grafana Cloud</a:t>
            </a:r>
          </a:p>
        </p:txBody>
      </p:sp>
      <p:sp>
        <p:nvSpPr>
          <p:cNvPr id="8" name="">
            <a:extLst xmlns:a="http://schemas.openxmlformats.org/drawingml/2006/main">
              <a:ext uri="{FF2B5EF4-FFF2-40B4-BE49-F238E27FC236}">
                <a16:creationId xmlns:a16="http://schemas.microsoft.com/office/drawing/2014/main" id="{6B77CA9C-A2E3-499D-B068-ECA9F920D05D}"/>
              </a:ext>
            </a:extLst>
          </p:cNvPr>
          <p:cNvSpPr>
            <a:spLocks xmlns:a="http://schemas.openxmlformats.org/drawingml/2006/main" noGrp="1"/>
          </p:cNvSpPr>
          <p:nvPr/>
        </p:nvSpPr>
        <p:spPr>
          <a:xfrm xmlns:a="http://schemas.openxmlformats.org/drawingml/2006/main">
            <a:off x="1028700" y="2228850"/>
            <a:ext cx="2324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A6B7C8"/>
                </a:solidFill>
                <a:latin typeface="Liberation Sans"/>
                <a:ea typeface="Liberation Sans"/>
                <a:cs typeface="Liberation Sans"/>
              </a:defRPr>
            </a:pPr>
            <a:r>
              <a:rPr sz="1200" b="0">
                <a:solidFill>
                  <a:srgbClr val="A6B7C8"/>
                </a:solidFill>
                <a:latin typeface="Liberation Sans"/>
                <a:ea typeface="Liberation Sans"/>
                <a:cs typeface="Liberation Sans"/>
              </a:rPr>
              <a:t>Metrics and alert</a:t>
            </a:r>
          </a:p>
        </p:txBody>
      </p:sp>
      <p:sp>
        <p:nvSpPr>
          <p:cNvPr id="9" name="">
            <a:extLst xmlns:a="http://schemas.openxmlformats.org/drawingml/2006/main">
              <a:ext uri="{FF2B5EF4-FFF2-40B4-BE49-F238E27FC236}">
                <a16:creationId xmlns:a16="http://schemas.microsoft.com/office/drawing/2014/main" id="{437407ED-A592-41CB-9317-8B8D1CE9860F}"/>
              </a:ext>
            </a:extLst>
          </p:cNvPr>
          <p:cNvSpPr>
            <a:spLocks xmlns:a="http://schemas.openxmlformats.org/drawingml/2006/main" noGrp="1"/>
          </p:cNvSpPr>
          <p:nvPr/>
        </p:nvSpPr>
        <p:spPr>
          <a:xfrm xmlns:a="http://schemas.openxmlformats.org/drawingml/2006/main">
            <a:off x="4476750" y="1619250"/>
            <a:ext cx="2857500" cy="1200150"/>
          </a:xfrm>
          <a:prstGeom xmlns:a="http://schemas.openxmlformats.org/drawingml/2006/main" prst="roundRect">
            <a:avLst>
              <a:gd name="adj" fmla="val 15873"/>
            </a:avLst>
          </a:prstGeom>
          <a:solidFill xmlns:a="http://schemas.openxmlformats.org/drawingml/2006/main">
            <a:srgbClr val="102338"/>
          </a:solidFill>
          <a:ln xmlns:a="http://schemas.openxmlformats.org/drawingml/2006/main" w="14288">
            <a:solidFill>
              <a:srgbClr val="9A7BFF"/>
            </a:solidFill>
            <a:prstDash val="solid"/>
          </a:ln>
        </p:spPr>
      </p:sp>
      <p:sp>
        <p:nvSpPr>
          <p:cNvPr id="10" name="">
            <a:extLst xmlns:a="http://schemas.openxmlformats.org/drawingml/2006/main">
              <a:ext uri="{FF2B5EF4-FFF2-40B4-BE49-F238E27FC236}">
                <a16:creationId xmlns:a16="http://schemas.microsoft.com/office/drawing/2014/main" id="{A3067453-67E8-48CB-BEDE-C2E507975D18}"/>
              </a:ext>
            </a:extLst>
          </p:cNvPr>
          <p:cNvSpPr>
            <a:spLocks xmlns:a="http://schemas.openxmlformats.org/drawingml/2006/main" noGrp="1"/>
          </p:cNvSpPr>
          <p:nvPr/>
        </p:nvSpPr>
        <p:spPr>
          <a:xfrm xmlns:a="http://schemas.openxmlformats.org/drawingml/2006/main">
            <a:off x="4743450" y="1809750"/>
            <a:ext cx="2324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defRPr sz="1800" b="1">
                <a:solidFill>
                  <a:srgbClr val="9A7BFF"/>
                </a:solidFill>
                <a:latin typeface="Liberation Sans"/>
                <a:ea typeface="Liberation Sans"/>
                <a:cs typeface="Liberation Sans"/>
              </a:defRPr>
            </a:pPr>
            <a:r>
              <a:rPr sz="1800" b="1">
                <a:solidFill>
                  <a:srgbClr val="9A7BFF"/>
                </a:solidFill>
                <a:latin typeface="Liberation Sans"/>
                <a:ea typeface="Liberation Sans"/>
                <a:cs typeface="Liberation Sans"/>
              </a:rPr>
              <a:t>KAOP</a:t>
            </a:r>
          </a:p>
        </p:txBody>
      </p:sp>
      <p:sp>
        <p:nvSpPr>
          <p:cNvPr id="11" name="">
            <a:extLst xmlns:a="http://schemas.openxmlformats.org/drawingml/2006/main">
              <a:ext uri="{FF2B5EF4-FFF2-40B4-BE49-F238E27FC236}">
                <a16:creationId xmlns:a16="http://schemas.microsoft.com/office/drawing/2014/main" id="{8E794DC0-58F2-4458-9FFE-AC80329F2754}"/>
              </a:ext>
            </a:extLst>
          </p:cNvPr>
          <p:cNvSpPr>
            <a:spLocks xmlns:a="http://schemas.openxmlformats.org/drawingml/2006/main" noGrp="1"/>
          </p:cNvSpPr>
          <p:nvPr/>
        </p:nvSpPr>
        <p:spPr>
          <a:xfrm xmlns:a="http://schemas.openxmlformats.org/drawingml/2006/main">
            <a:off x="4743450" y="2228850"/>
            <a:ext cx="2324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A6B7C8"/>
                </a:solidFill>
                <a:latin typeface="Liberation Sans"/>
                <a:ea typeface="Liberation Sans"/>
                <a:cs typeface="Liberation Sans"/>
              </a:defRPr>
            </a:pPr>
            <a:r>
              <a:rPr sz="1200" b="0">
                <a:solidFill>
                  <a:srgbClr val="A6B7C8"/>
                </a:solidFill>
                <a:latin typeface="Liberation Sans"/>
                <a:ea typeface="Liberation Sans"/>
                <a:cs typeface="Liberation Sans"/>
              </a:rPr>
              <a:t>Webhook and RCA workflow</a:t>
            </a:r>
          </a:p>
        </p:txBody>
      </p:sp>
      <p:sp>
        <p:nvSpPr>
          <p:cNvPr id="12" name="">
            <a:extLst xmlns:a="http://schemas.openxmlformats.org/drawingml/2006/main">
              <a:ext uri="{FF2B5EF4-FFF2-40B4-BE49-F238E27FC236}">
                <a16:creationId xmlns:a16="http://schemas.microsoft.com/office/drawing/2014/main" id="{75A259D7-213A-4341-8A02-17E2A50DF1EA}"/>
              </a:ext>
            </a:extLst>
          </p:cNvPr>
          <p:cNvSpPr>
            <a:spLocks xmlns:a="http://schemas.openxmlformats.org/drawingml/2006/main" noGrp="1"/>
          </p:cNvSpPr>
          <p:nvPr/>
        </p:nvSpPr>
        <p:spPr>
          <a:xfrm xmlns:a="http://schemas.openxmlformats.org/drawingml/2006/main">
            <a:off x="8191500" y="1619250"/>
            <a:ext cx="2857500" cy="1200150"/>
          </a:xfrm>
          <a:prstGeom xmlns:a="http://schemas.openxmlformats.org/drawingml/2006/main" prst="roundRect">
            <a:avLst>
              <a:gd name="adj" fmla="val 15873"/>
            </a:avLst>
          </a:prstGeom>
          <a:solidFill xmlns:a="http://schemas.openxmlformats.org/drawingml/2006/main">
            <a:srgbClr val="102338"/>
          </a:solidFill>
          <a:ln xmlns:a="http://schemas.openxmlformats.org/drawingml/2006/main" w="14288">
            <a:solidFill>
              <a:srgbClr val="54D6FF"/>
            </a:solidFill>
            <a:prstDash val="solid"/>
          </a:ln>
        </p:spPr>
      </p:sp>
      <p:sp>
        <p:nvSpPr>
          <p:cNvPr id="13" name="">
            <a:extLst xmlns:a="http://schemas.openxmlformats.org/drawingml/2006/main">
              <a:ext uri="{FF2B5EF4-FFF2-40B4-BE49-F238E27FC236}">
                <a16:creationId xmlns:a16="http://schemas.microsoft.com/office/drawing/2014/main" id="{1B9D5B4F-6EB0-4007-A235-555BC44C9A03}"/>
              </a:ext>
            </a:extLst>
          </p:cNvPr>
          <p:cNvSpPr>
            <a:spLocks xmlns:a="http://schemas.openxmlformats.org/drawingml/2006/main" noGrp="1"/>
          </p:cNvSpPr>
          <p:nvPr/>
        </p:nvSpPr>
        <p:spPr>
          <a:xfrm xmlns:a="http://schemas.openxmlformats.org/drawingml/2006/main">
            <a:off x="8458200" y="1809750"/>
            <a:ext cx="2324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defRPr sz="1800" b="1">
                <a:solidFill>
                  <a:srgbClr val="54D6FF"/>
                </a:solidFill>
                <a:latin typeface="Liberation Sans"/>
                <a:ea typeface="Liberation Sans"/>
                <a:cs typeface="Liberation Sans"/>
              </a:defRPr>
            </a:pPr>
            <a:r>
              <a:rPr sz="1800" b="1">
                <a:solidFill>
                  <a:srgbClr val="54D6FF"/>
                </a:solidFill>
                <a:latin typeface="Liberation Sans"/>
                <a:ea typeface="Liberation Sans"/>
                <a:cs typeface="Liberation Sans"/>
              </a:rPr>
              <a:t>k3d cluster</a:t>
            </a:r>
          </a:p>
        </p:txBody>
      </p:sp>
      <p:sp>
        <p:nvSpPr>
          <p:cNvPr id="14" name="">
            <a:extLst xmlns:a="http://schemas.openxmlformats.org/drawingml/2006/main">
              <a:ext uri="{FF2B5EF4-FFF2-40B4-BE49-F238E27FC236}">
                <a16:creationId xmlns:a16="http://schemas.microsoft.com/office/drawing/2014/main" id="{7CA8E94F-85B6-4722-B000-B845854AE4EA}"/>
              </a:ext>
            </a:extLst>
          </p:cNvPr>
          <p:cNvSpPr>
            <a:spLocks xmlns:a="http://schemas.openxmlformats.org/drawingml/2006/main" noGrp="1"/>
          </p:cNvSpPr>
          <p:nvPr/>
        </p:nvSpPr>
        <p:spPr>
          <a:xfrm xmlns:a="http://schemas.openxmlformats.org/drawingml/2006/main">
            <a:off x="8458200" y="2228850"/>
            <a:ext cx="2324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A6B7C8"/>
                </a:solidFill>
                <a:latin typeface="Liberation Sans"/>
                <a:ea typeface="Liberation Sans"/>
                <a:cs typeface="Liberation Sans"/>
              </a:defRPr>
            </a:pPr>
            <a:r>
              <a:rPr sz="1200" b="0">
                <a:solidFill>
                  <a:srgbClr val="A6B7C8"/>
                </a:solidFill>
                <a:latin typeface="Liberation Sans"/>
                <a:ea typeface="Liberation Sans"/>
                <a:cs typeface="Liberation Sans"/>
              </a:rPr>
              <a:t>Go frontend and Redis</a:t>
            </a:r>
          </a:p>
        </p:txBody>
      </p:sp>
      <p:sp>
        <p:nvSpPr>
          <p:cNvPr id="15" name="">
            <a:extLst xmlns:a="http://schemas.openxmlformats.org/drawingml/2006/main">
              <a:ext uri="{FF2B5EF4-FFF2-40B4-BE49-F238E27FC236}">
                <a16:creationId xmlns:a16="http://schemas.microsoft.com/office/drawing/2014/main" id="{947D38CC-57E7-4A45-8DB1-1F16F2A5F48C}"/>
              </a:ext>
            </a:extLst>
          </p:cNvPr>
          <p:cNvSpPr>
            <a:spLocks xmlns:a="http://schemas.openxmlformats.org/drawingml/2006/main" noGrp="1"/>
          </p:cNvSpPr>
          <p:nvPr/>
        </p:nvSpPr>
        <p:spPr>
          <a:xfrm xmlns:a="http://schemas.openxmlformats.org/drawingml/2006/main">
            <a:off x="4476750" y="4095750"/>
            <a:ext cx="2857500" cy="1200150"/>
          </a:xfrm>
          <a:prstGeom xmlns:a="http://schemas.openxmlformats.org/drawingml/2006/main" prst="roundRect">
            <a:avLst>
              <a:gd name="adj" fmla="val 15873"/>
            </a:avLst>
          </a:prstGeom>
          <a:solidFill xmlns:a="http://schemas.openxmlformats.org/drawingml/2006/main">
            <a:srgbClr val="102338"/>
          </a:solidFill>
          <a:ln xmlns:a="http://schemas.openxmlformats.org/drawingml/2006/main" w="14288">
            <a:solidFill>
              <a:srgbClr val="68E1C4"/>
            </a:solidFill>
            <a:prstDash val="solid"/>
          </a:ln>
        </p:spPr>
      </p:sp>
      <p:sp>
        <p:nvSpPr>
          <p:cNvPr id="16" name="">
            <a:extLst xmlns:a="http://schemas.openxmlformats.org/drawingml/2006/main">
              <a:ext uri="{FF2B5EF4-FFF2-40B4-BE49-F238E27FC236}">
                <a16:creationId xmlns:a16="http://schemas.microsoft.com/office/drawing/2014/main" id="{AA1C6010-8E60-46F2-BB6F-ACBD49CDE02B}"/>
              </a:ext>
            </a:extLst>
          </p:cNvPr>
          <p:cNvSpPr>
            <a:spLocks xmlns:a="http://schemas.openxmlformats.org/drawingml/2006/main" noGrp="1"/>
          </p:cNvSpPr>
          <p:nvPr/>
        </p:nvSpPr>
        <p:spPr>
          <a:xfrm xmlns:a="http://schemas.openxmlformats.org/drawingml/2006/main">
            <a:off x="4743450" y="4286250"/>
            <a:ext cx="2324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defRPr sz="1800" b="1">
                <a:solidFill>
                  <a:srgbClr val="68E1C4"/>
                </a:solidFill>
                <a:latin typeface="Liberation Sans"/>
                <a:ea typeface="Liberation Sans"/>
                <a:cs typeface="Liberation Sans"/>
              </a:defRPr>
            </a:pPr>
            <a:r>
              <a:rPr sz="1800" b="1">
                <a:solidFill>
                  <a:srgbClr val="68E1C4"/>
                </a:solidFill>
                <a:latin typeface="Liberation Sans"/>
                <a:ea typeface="Liberation Sans"/>
                <a:cs typeface="Liberation Sans"/>
              </a:rPr>
              <a:t>GitHub</a:t>
            </a:r>
          </a:p>
        </p:txBody>
      </p:sp>
      <p:sp>
        <p:nvSpPr>
          <p:cNvPr id="17" name="">
            <a:extLst xmlns:a="http://schemas.openxmlformats.org/drawingml/2006/main">
              <a:ext uri="{FF2B5EF4-FFF2-40B4-BE49-F238E27FC236}">
                <a16:creationId xmlns:a16="http://schemas.microsoft.com/office/drawing/2014/main" id="{C52DB0FA-B098-407A-B47D-C7C9CF8C558F}"/>
              </a:ext>
            </a:extLst>
          </p:cNvPr>
          <p:cNvSpPr>
            <a:spLocks xmlns:a="http://schemas.openxmlformats.org/drawingml/2006/main" noGrp="1"/>
          </p:cNvSpPr>
          <p:nvPr/>
        </p:nvSpPr>
        <p:spPr>
          <a:xfrm xmlns:a="http://schemas.openxmlformats.org/drawingml/2006/main">
            <a:off x="4743450" y="4705350"/>
            <a:ext cx="2324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A6B7C8"/>
                </a:solidFill>
                <a:latin typeface="Liberation Sans"/>
                <a:ea typeface="Liberation Sans"/>
                <a:cs typeface="Liberation Sans"/>
              </a:defRPr>
            </a:pPr>
            <a:r>
              <a:rPr sz="1200" b="0">
                <a:solidFill>
                  <a:srgbClr val="A6B7C8"/>
                </a:solidFill>
                <a:latin typeface="Liberation Sans"/>
                <a:ea typeface="Liberation Sans"/>
                <a:cs typeface="Liberation Sans"/>
              </a:rPr>
              <a:t>Open repair PR</a:t>
            </a:r>
          </a:p>
        </p:txBody>
      </p:sp>
      <p:sp>
        <p:nvSpPr>
          <p:cNvPr id="18" name="">
            <a:extLst xmlns:a="http://schemas.openxmlformats.org/drawingml/2006/main">
              <a:ext uri="{FF2B5EF4-FFF2-40B4-BE49-F238E27FC236}">
                <a16:creationId xmlns:a16="http://schemas.microsoft.com/office/drawing/2014/main" id="{08489739-DE6C-4FDC-AD54-413DFEE188F8}"/>
              </a:ext>
            </a:extLst>
          </p:cNvPr>
          <p:cNvSpPr>
            <a:spLocks xmlns:a="http://schemas.openxmlformats.org/drawingml/2006/main" noGrp="1"/>
          </p:cNvSpPr>
          <p:nvPr/>
        </p:nvSpPr>
        <p:spPr>
          <a:xfrm xmlns:a="http://schemas.openxmlformats.org/drawingml/2006/main">
            <a:off x="3619500" y="2219325"/>
            <a:ext cx="857250" cy="0"/>
          </a:xfrm>
          <a:prstGeom xmlns:a="http://schemas.openxmlformats.org/drawingml/2006/main" prst="line">
            <a:avLst/>
          </a:prstGeom>
          <a:noFill xmlns:a="http://schemas.openxmlformats.org/drawingml/2006/main"/>
          <a:ln xmlns:a="http://schemas.openxmlformats.org/drawingml/2006/main" w="14288">
            <a:solidFill>
              <a:srgbClr val="29445D"/>
            </a:solidFill>
            <a:prstDash val="solid"/>
          </a:ln>
        </p:spPr>
      </p:sp>
      <p:sp>
        <p:nvSpPr>
          <p:cNvPr id="19" name="">
            <a:extLst xmlns:a="http://schemas.openxmlformats.org/drawingml/2006/main">
              <a:ext uri="{FF2B5EF4-FFF2-40B4-BE49-F238E27FC236}">
                <a16:creationId xmlns:a16="http://schemas.microsoft.com/office/drawing/2014/main" id="{CB48B7FD-47A3-4793-983D-DC7A7F7B29DF}"/>
              </a:ext>
            </a:extLst>
          </p:cNvPr>
          <p:cNvSpPr>
            <a:spLocks xmlns:a="http://schemas.openxmlformats.org/drawingml/2006/main" noGrp="1"/>
          </p:cNvSpPr>
          <p:nvPr/>
        </p:nvSpPr>
        <p:spPr>
          <a:xfrm xmlns:a="http://schemas.openxmlformats.org/drawingml/2006/main">
            <a:off x="7334250" y="2219325"/>
            <a:ext cx="857250" cy="0"/>
          </a:xfrm>
          <a:prstGeom xmlns:a="http://schemas.openxmlformats.org/drawingml/2006/main" prst="line">
            <a:avLst/>
          </a:prstGeom>
          <a:noFill xmlns:a="http://schemas.openxmlformats.org/drawingml/2006/main"/>
          <a:ln xmlns:a="http://schemas.openxmlformats.org/drawingml/2006/main" w="14288">
            <a:solidFill>
              <a:srgbClr val="29445D"/>
            </a:solidFill>
            <a:prstDash val="solid"/>
          </a:ln>
        </p:spPr>
      </p:sp>
      <p:sp>
        <p:nvSpPr>
          <p:cNvPr id="20" name="">
            <a:extLst xmlns:a="http://schemas.openxmlformats.org/drawingml/2006/main">
              <a:ext uri="{FF2B5EF4-FFF2-40B4-BE49-F238E27FC236}">
                <a16:creationId xmlns:a16="http://schemas.microsoft.com/office/drawing/2014/main" id="{DCFE90CA-51E6-430A-AFB0-D25FF8E7D1AE}"/>
              </a:ext>
            </a:extLst>
          </p:cNvPr>
          <p:cNvSpPr>
            <a:spLocks xmlns:a="http://schemas.openxmlformats.org/drawingml/2006/main" noGrp="1"/>
          </p:cNvSpPr>
          <p:nvPr/>
        </p:nvSpPr>
        <p:spPr>
          <a:xfrm xmlns:a="http://schemas.openxmlformats.org/drawingml/2006/main">
            <a:off x="5905500" y="2819400"/>
            <a:ext cx="0" cy="1276350"/>
          </a:xfrm>
          <a:prstGeom xmlns:a="http://schemas.openxmlformats.org/drawingml/2006/main" prst="line">
            <a:avLst/>
          </a:prstGeom>
          <a:noFill xmlns:a="http://schemas.openxmlformats.org/drawingml/2006/main"/>
          <a:ln xmlns:a="http://schemas.openxmlformats.org/drawingml/2006/main" w="14288">
            <a:solidFill>
              <a:srgbClr val="29445D"/>
            </a:solidFill>
            <a:prstDash val="solid"/>
          </a:ln>
        </p:spPr>
      </p:sp>
      <p:sp>
        <p:nvSpPr>
          <p:cNvPr id="21" name="">
            <a:extLst xmlns:a="http://schemas.openxmlformats.org/drawingml/2006/main">
              <a:ext uri="{FF2B5EF4-FFF2-40B4-BE49-F238E27FC236}">
                <a16:creationId xmlns:a16="http://schemas.microsoft.com/office/drawing/2014/main" id="{10D9B56F-A71D-4921-9947-8873CE80FCDC}"/>
              </a:ext>
            </a:extLst>
          </p:cNvPr>
          <p:cNvSpPr>
            <a:spLocks xmlns:a="http://schemas.openxmlformats.org/drawingml/2006/main" noGrp="1"/>
          </p:cNvSpPr>
          <p:nvPr/>
        </p:nvSpPr>
        <p:spPr>
          <a:xfrm xmlns:a="http://schemas.openxmlformats.org/drawingml/2006/main">
            <a:off x="3752850" y="1905000"/>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A6B7C8"/>
                </a:solidFill>
                <a:latin typeface="Liberation Sans"/>
                <a:ea typeface="Liberation Sans"/>
                <a:cs typeface="Liberation Sans"/>
              </a:defRPr>
            </a:pPr>
            <a:r>
              <a:rPr sz="900" b="0">
                <a:solidFill>
                  <a:srgbClr val="A6B7C8"/>
                </a:solidFill>
                <a:latin typeface="Liberation Sans"/>
                <a:ea typeface="Liberation Sans"/>
                <a:cs typeface="Liberation Sans"/>
              </a:rPr>
              <a:t>alert</a:t>
            </a:r>
          </a:p>
        </p:txBody>
      </p:sp>
      <p:sp>
        <p:nvSpPr>
          <p:cNvPr id="22" name="">
            <a:extLst xmlns:a="http://schemas.openxmlformats.org/drawingml/2006/main">
              <a:ext uri="{FF2B5EF4-FFF2-40B4-BE49-F238E27FC236}">
                <a16:creationId xmlns:a16="http://schemas.microsoft.com/office/drawing/2014/main" id="{08A31305-56AD-4742-BD73-FA41ABFC3E21}"/>
              </a:ext>
            </a:extLst>
          </p:cNvPr>
          <p:cNvSpPr>
            <a:spLocks xmlns:a="http://schemas.openxmlformats.org/drawingml/2006/main" noGrp="1"/>
          </p:cNvSpPr>
          <p:nvPr/>
        </p:nvSpPr>
        <p:spPr>
          <a:xfrm xmlns:a="http://schemas.openxmlformats.org/drawingml/2006/main">
            <a:off x="7467600" y="1905000"/>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12"/>
          </a:bodyPr>
          <a:lstStyle xmlns:a="http://schemas.openxmlformats.org/drawingml/2006/main"/>
          <a:p xmlns:a="http://schemas.openxmlformats.org/drawingml/2006/main">
            <a:pPr>
              <a:defRPr sz="900" b="0">
                <a:solidFill>
                  <a:srgbClr val="A6B7C8"/>
                </a:solidFill>
                <a:latin typeface="Liberation Sans"/>
                <a:ea typeface="Liberation Sans"/>
                <a:cs typeface="Liberation Sans"/>
              </a:defRPr>
            </a:pPr>
            <a:r>
              <a:rPr sz="900" b="0">
                <a:solidFill>
                  <a:srgbClr val="A6B7C8"/>
                </a:solidFill>
                <a:latin typeface="Liberation Sans"/>
                <a:ea typeface="Liberation Sans"/>
                <a:cs typeface="Liberation Sans"/>
              </a:rPr>
              <a:t>read only</a:t>
            </a:r>
          </a:p>
        </p:txBody>
      </p:sp>
      <p:sp>
        <p:nvSpPr>
          <p:cNvPr id="23" name="">
            <a:extLst xmlns:a="http://schemas.openxmlformats.org/drawingml/2006/main">
              <a:ext uri="{FF2B5EF4-FFF2-40B4-BE49-F238E27FC236}">
                <a16:creationId xmlns:a16="http://schemas.microsoft.com/office/drawing/2014/main" id="{BEC0DE3A-3348-4157-8612-D1FA1CD367E9}"/>
              </a:ext>
            </a:extLst>
          </p:cNvPr>
          <p:cNvSpPr>
            <a:spLocks xmlns:a="http://schemas.openxmlformats.org/drawingml/2006/main" noGrp="1"/>
          </p:cNvSpPr>
          <p:nvPr/>
        </p:nvSpPr>
        <p:spPr>
          <a:xfrm xmlns:a="http://schemas.openxmlformats.org/drawingml/2006/main">
            <a:off x="6076950" y="3333750"/>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A6B7C8"/>
                </a:solidFill>
                <a:latin typeface="Liberation Sans"/>
                <a:ea typeface="Liberation Sans"/>
                <a:cs typeface="Liberation Sans"/>
              </a:defRPr>
            </a:pPr>
            <a:r>
              <a:rPr sz="900" b="0">
                <a:solidFill>
                  <a:srgbClr val="A6B7C8"/>
                </a:solidFill>
                <a:latin typeface="Liberation Sans"/>
                <a:ea typeface="Liberation Sans"/>
                <a:cs typeface="Liberation Sans"/>
              </a:rPr>
              <a:t>review</a:t>
            </a:r>
          </a:p>
        </p:txBody>
      </p:sp>
      <p:sp>
        <p:nvSpPr>
          <p:cNvPr id="24" name="">
            <a:extLst xmlns:a="http://schemas.openxmlformats.org/drawingml/2006/main">
              <a:ext uri="{FF2B5EF4-FFF2-40B4-BE49-F238E27FC236}">
                <a16:creationId xmlns:a16="http://schemas.microsoft.com/office/drawing/2014/main" id="{20DBC57A-7311-4E00-B53E-A7A0C3BB86BF}"/>
              </a:ext>
            </a:extLst>
          </p:cNvPr>
          <p:cNvSpPr>
            <a:spLocks xmlns:a="http://schemas.openxmlformats.org/drawingml/2006/main" noGrp="1"/>
          </p:cNvSpPr>
          <p:nvPr/>
        </p:nvSpPr>
        <p:spPr>
          <a:xfrm xmlns:a="http://schemas.openxmlformats.org/drawingml/2006/main">
            <a:off x="2095500" y="5619750"/>
            <a:ext cx="800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FF7285"/>
                </a:solidFill>
                <a:latin typeface="Liberation Sans"/>
                <a:ea typeface="Liberation Sans"/>
                <a:cs typeface="Liberation Sans"/>
              </a:defRPr>
            </a:pPr>
            <a:r>
              <a:rPr sz="1650" b="1">
                <a:solidFill>
                  <a:srgbClr val="FF7285"/>
                </a:solidFill>
                <a:latin typeface="Liberation Sans"/>
                <a:ea typeface="Liberation Sans"/>
                <a:cs typeface="Liberation Sans"/>
              </a:rPr>
              <a:t>Fault: Redis Service selector matches no Pods</a:t>
            </a:r>
          </a:p>
        </p:txBody>
      </p:sp>
    </p:spTree>
    <p:extLst>
      <p:ext uri="{BB962C8B-B14F-4D97-AF65-F5344CB8AC3E}">
        <p14:creationId xmlns:p14="http://schemas.microsoft.com/office/powerpoint/2010/main" val="307942301"/>
      </p:ext>
    </p:extLst>
  </p:cSld>
</p:sld>
</file>

<file path=ppt/slides/slide11.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03A5277-FBC5-4ED9-A268-31F8539C5F9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54D6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7EE6F9A-9B42-4E12-B266-3E4B096C1AA6}"/>
              </a:ext>
            </a:extLst>
          </p:cNvPr>
          <p:cNvSpPr>
            <a:spLocks xmlns:a="http://schemas.openxmlformats.org/drawingml/2006/main" noGrp="1"/>
          </p:cNvSpPr>
          <p:nvPr/>
        </p:nvSpPr>
        <p:spPr>
          <a:xfrm xmlns:a="http://schemas.openxmlformats.org/drawingml/2006/main">
            <a:off x="590550" y="400050"/>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F4F8FC"/>
                </a:solidFill>
                <a:latin typeface="Liberation Sans"/>
                <a:ea typeface="Liberation Sans"/>
                <a:cs typeface="Liberation Sans"/>
              </a:defRPr>
            </a:pPr>
            <a:r>
              <a:rPr sz="2550" b="1">
                <a:solidFill>
                  <a:srgbClr val="F4F8FC"/>
                </a:solidFill>
                <a:latin typeface="Liberation Sans"/>
                <a:ea typeface="Liberation Sans"/>
                <a:cs typeface="Liberation Sans"/>
              </a:rPr>
              <a:t>Permission matrix</a:t>
            </a:r>
          </a:p>
        </p:txBody>
      </p:sp>
      <p:sp>
        <p:nvSpPr>
          <p:cNvPr id="3" name="">
            <a:extLst xmlns:a="http://schemas.openxmlformats.org/drawingml/2006/main">
              <a:ext uri="{FF2B5EF4-FFF2-40B4-BE49-F238E27FC236}">
                <a16:creationId xmlns:a16="http://schemas.microsoft.com/office/drawing/2014/main" id="{1361AAF3-5178-4297-AA36-78B1F81BF9C7}"/>
              </a:ext>
            </a:extLst>
          </p:cNvPr>
          <p:cNvSpPr>
            <a:spLocks xmlns:a="http://schemas.openxmlformats.org/drawingml/2006/main" noGrp="1"/>
          </p:cNvSpPr>
          <p:nvPr/>
        </p:nvSpPr>
        <p:spPr>
          <a:xfrm xmlns:a="http://schemas.openxmlformats.org/drawingml/2006/main">
            <a:off x="60960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A6B7C8"/>
                </a:solidFill>
                <a:latin typeface="Liberation Sans"/>
                <a:ea typeface="Liberation Sans"/>
                <a:cs typeface="Liberation Sans"/>
              </a:defRPr>
            </a:pPr>
            <a:r>
              <a:rPr sz="1275" b="0">
                <a:solidFill>
                  <a:srgbClr val="A6B7C8"/>
                </a:solidFill>
                <a:latin typeface="Liberation Sans"/>
                <a:ea typeface="Liberation Sans"/>
                <a:cs typeface="Liberation Sans"/>
              </a:rPr>
              <a:t>The demo uses the minimum access required for investigation and review</a:t>
            </a:r>
          </a:p>
        </p:txBody>
      </p:sp>
      <p:sp>
        <p:nvSpPr>
          <p:cNvPr id="4" name="">
            <a:extLst xmlns:a="http://schemas.openxmlformats.org/drawingml/2006/main">
              <a:ext uri="{FF2B5EF4-FFF2-40B4-BE49-F238E27FC236}">
                <a16:creationId xmlns:a16="http://schemas.microsoft.com/office/drawing/2014/main" id="{711BCCBD-32FC-4FB6-84FE-C0EEDFB1D7EA}"/>
              </a:ext>
            </a:extLst>
          </p:cNvPr>
          <p:cNvSpPr>
            <a:spLocks xmlns:a="http://schemas.openxmlformats.org/drawingml/2006/main" noGrp="1"/>
          </p:cNvSpPr>
          <p:nvPr/>
        </p:nvSpPr>
        <p:spPr>
          <a:xfrm xmlns:a="http://schemas.openxmlformats.org/drawingml/2006/main">
            <a:off x="11258550" y="62293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A6B7C8"/>
                </a:solidFill>
                <a:latin typeface="Liberation Sans"/>
                <a:ea typeface="Liberation Sans"/>
                <a:cs typeface="Liberation Sans"/>
              </a:defRPr>
            </a:pPr>
            <a:r>
              <a:rPr sz="900" b="0">
                <a:solidFill>
                  <a:srgbClr val="A6B7C8"/>
                </a:solidFill>
                <a:latin typeface="Liberation Sans"/>
                <a:ea typeface="Liberation Sans"/>
                <a:cs typeface="Liberation Sans"/>
              </a:rPr>
              <a:t>11</a:t>
            </a:r>
          </a:p>
        </p:txBody>
      </p:sp>
      <p:sp>
        <p:nvSpPr>
          <p:cNvPr id="5" name="">
            <a:extLst xmlns:a="http://schemas.openxmlformats.org/drawingml/2006/main">
              <a:ext uri="{FF2B5EF4-FFF2-40B4-BE49-F238E27FC236}">
                <a16:creationId xmlns:a16="http://schemas.microsoft.com/office/drawing/2014/main" id="{3777EC7D-8F94-4142-A7BC-D96D6315AE85}"/>
              </a:ext>
            </a:extLst>
          </p:cNvPr>
          <p:cNvSpPr>
            <a:spLocks xmlns:a="http://schemas.openxmlformats.org/drawingml/2006/main" noGrp="1"/>
          </p:cNvSpPr>
          <p:nvPr/>
        </p:nvSpPr>
        <p:spPr>
          <a:xfrm xmlns:a="http://schemas.openxmlformats.org/drawingml/2006/main">
            <a:off x="590550" y="62293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A6B7C8"/>
                </a:solidFill>
                <a:latin typeface="Liberation Sans"/>
                <a:ea typeface="Liberation Sans"/>
                <a:cs typeface="Liberation Sans"/>
              </a:defRPr>
            </a:pPr>
            <a:r>
              <a:rPr sz="900" b="0">
                <a:solidFill>
                  <a:srgbClr val="A6B7C8"/>
                </a:solidFill>
                <a:latin typeface="Liberation Sans"/>
                <a:ea typeface="Liberation Sans"/>
                <a:cs typeface="Liberation Sans"/>
              </a:rPr>
              <a:t>KAOP by Nirit Terehovsky</a:t>
            </a:r>
          </a:p>
        </p:txBody>
      </p:sp>
      <p:graphicFrame>
        <p:nvGraphicFramePr>
          <p:cNvPr id="13" name=""/>
          <p:cNvGraphicFramePr/>
          <p:nvPr/>
        </p:nvGraphicFramePr>
        <p:xfrm>
          <a:off xmlns:a="http://schemas.openxmlformats.org/drawingml/2006/main" x="685800" y="1524000"/>
          <a:ext xmlns:a="http://schemas.openxmlformats.org/drawingml/2006/main" cx="10820400" cy="3905250"/>
        </p:xfrm>
        <a:graphic xmlns:a="http://schemas.openxmlformats.org/drawingml/2006/main">
          <a:graphicData uri="http://schemas.openxmlformats.org/drawingml/2006/table">
            <a:tbl>
              <a:tblPr firstRow="1" bandRow="0"/>
              <a:tblGrid>
                <a:gridCol w="2705100"/>
                <a:gridCol w="2705100"/>
                <a:gridCol w="2705100"/>
                <a:gridCol w="2705100"/>
              </a:tblGrid>
              <a:tr h="650875">
                <a:tc>
                  <a:txBody>
                    <a:bodyPr/>
                    <a:lstStyle/>
                    <a:p>
                      <a:r>
                        <a:rPr sz="1275" b="1">
                          <a:solidFill>
                            <a:srgbClr val="F4F8FC"/>
                          </a:solidFill>
                          <a:latin typeface="Liberation Sans"/>
                          <a:ea typeface="Liberation Sans"/>
                          <a:cs typeface="Liberation Sans"/>
                        </a:rPr>
                        <a:t>Integration</a:t>
                      </a:r>
                    </a:p>
                  </a:txBody>
                  <a:tcPr marL="133350" marR="133350" marT="76200" marB="76200">
                    <a:solidFill>
                      <a:srgbClr val="142B42"/>
                    </a:solidFill>
                  </a:tcPr>
                </a:tc>
                <a:tc>
                  <a:txBody>
                    <a:bodyPr/>
                    <a:lstStyle/>
                    <a:p>
                      <a:r>
                        <a:rPr sz="1275" b="1">
                          <a:solidFill>
                            <a:srgbClr val="F4F8FC"/>
                          </a:solidFill>
                          <a:latin typeface="Liberation Sans"/>
                          <a:ea typeface="Liberation Sans"/>
                          <a:cs typeface="Liberation Sans"/>
                        </a:rPr>
                        <a:t>Capability</a:t>
                      </a:r>
                    </a:p>
                  </a:txBody>
                  <a:tcPr marL="133350" marR="133350" marT="76200" marB="76200">
                    <a:solidFill>
                      <a:srgbClr val="142B42"/>
                    </a:solidFill>
                  </a:tcPr>
                </a:tc>
                <a:tc>
                  <a:txBody>
                    <a:bodyPr/>
                    <a:lstStyle/>
                    <a:p>
                      <a:r>
                        <a:rPr sz="1275" b="1">
                          <a:solidFill>
                            <a:srgbClr val="F4F8FC"/>
                          </a:solidFill>
                          <a:latin typeface="Liberation Sans"/>
                          <a:ea typeface="Liberation Sans"/>
                          <a:cs typeface="Liberation Sans"/>
                        </a:rPr>
                        <a:t>Allowed</a:t>
                      </a:r>
                    </a:p>
                  </a:txBody>
                  <a:tcPr marL="133350" marR="133350" marT="76200" marB="76200">
                    <a:solidFill>
                      <a:srgbClr val="142B42"/>
                    </a:solidFill>
                  </a:tcPr>
                </a:tc>
                <a:tc>
                  <a:txBody>
                    <a:bodyPr/>
                    <a:lstStyle/>
                    <a:p>
                      <a:r>
                        <a:rPr sz="1275" b="1">
                          <a:solidFill>
                            <a:srgbClr val="F4F8FC"/>
                          </a:solidFill>
                          <a:latin typeface="Liberation Sans"/>
                          <a:ea typeface="Liberation Sans"/>
                          <a:cs typeface="Liberation Sans"/>
                        </a:rPr>
                        <a:t>Enforcement</a:t>
                      </a:r>
                    </a:p>
                  </a:txBody>
                  <a:tcPr marL="133350" marR="133350" marT="76200" marB="76200">
                    <a:solidFill>
                      <a:srgbClr val="142B42"/>
                    </a:solidFill>
                  </a:tcPr>
                </a:tc>
              </a:tr>
              <a:tr h="650875">
                <a:tc>
                  <a:txBody>
                    <a:bodyPr/>
                    <a:lstStyle/>
                    <a:p>
                      <a:r>
                        <a:rPr sz="1200">
                          <a:solidFill>
                            <a:srgbClr val="F4F8FC"/>
                          </a:solidFill>
                          <a:latin typeface="Liberation Sans"/>
                          <a:ea typeface="Liberation Sans"/>
                          <a:cs typeface="Liberation Sans"/>
                        </a:rPr>
                        <a:t>Kubernetes</a:t>
                      </a:r>
                    </a:p>
                  </a:txBody>
                  <a:tcPr marL="133350" marR="133350" marT="76200" marB="76200">
                    <a:solidFill>
                      <a:srgbClr val="102338"/>
                    </a:solidFill>
                  </a:tcPr>
                </a:tc>
                <a:tc>
                  <a:txBody>
                    <a:bodyPr/>
                    <a:lstStyle/>
                    <a:p>
                      <a:r>
                        <a:rPr sz="1200">
                          <a:solidFill>
                            <a:srgbClr val="F4F8FC"/>
                          </a:solidFill>
                          <a:latin typeface="Liberation Sans"/>
                          <a:ea typeface="Liberation Sans"/>
                          <a:cs typeface="Liberation Sans"/>
                        </a:rPr>
                        <a:t>Pods, logs, events</a:t>
                      </a:r>
                    </a:p>
                  </a:txBody>
                  <a:tcPr marL="133350" marR="133350" marT="76200" marB="76200">
                    <a:solidFill>
                      <a:srgbClr val="102338"/>
                    </a:solidFill>
                  </a:tcPr>
                </a:tc>
                <a:tc>
                  <a:txBody>
                    <a:bodyPr/>
                    <a:lstStyle/>
                    <a:p>
                      <a:r>
                        <a:rPr sz="1200">
                          <a:solidFill>
                            <a:srgbClr val="F4F8FC"/>
                          </a:solidFill>
                          <a:latin typeface="Liberation Sans"/>
                          <a:ea typeface="Liberation Sans"/>
                          <a:cs typeface="Liberation Sans"/>
                        </a:rPr>
                        <a:t>Read</a:t>
                      </a:r>
                    </a:p>
                  </a:txBody>
                  <a:tcPr marL="133350" marR="133350" marT="76200" marB="76200">
                    <a:solidFill>
                      <a:srgbClr val="102338"/>
                    </a:solidFill>
                  </a:tcPr>
                </a:tc>
                <a:tc>
                  <a:txBody>
                    <a:bodyPr/>
                    <a:lstStyle/>
                    <a:p>
                      <a:r>
                        <a:rPr sz="1200">
                          <a:solidFill>
                            <a:srgbClr val="F4F8FC"/>
                          </a:solidFill>
                          <a:latin typeface="Liberation Sans"/>
                          <a:ea typeface="Liberation Sans"/>
                          <a:cs typeface="Liberation Sans"/>
                        </a:rPr>
                        <a:t>Namespace Role</a:t>
                      </a:r>
                    </a:p>
                  </a:txBody>
                  <a:tcPr marL="133350" marR="133350" marT="76200" marB="76200">
                    <a:solidFill>
                      <a:srgbClr val="102338"/>
                    </a:solidFill>
                  </a:tcPr>
                </a:tc>
              </a:tr>
              <a:tr h="650875">
                <a:tc>
                  <a:txBody>
                    <a:bodyPr/>
                    <a:lstStyle/>
                    <a:p>
                      <a:r>
                        <a:rPr sz="1200">
                          <a:solidFill>
                            <a:srgbClr val="F4F8FC"/>
                          </a:solidFill>
                          <a:latin typeface="Liberation Sans"/>
                          <a:ea typeface="Liberation Sans"/>
                          <a:cs typeface="Liberation Sans"/>
                        </a:rPr>
                        <a:t>Kubernetes</a:t>
                      </a:r>
                    </a:p>
                  </a:txBody>
                  <a:tcPr marL="133350" marR="133350" marT="76200" marB="76200">
                    <a:solidFill>
                      <a:srgbClr val="102338"/>
                    </a:solidFill>
                  </a:tcPr>
                </a:tc>
                <a:tc>
                  <a:txBody>
                    <a:bodyPr/>
                    <a:lstStyle/>
                    <a:p>
                      <a:r>
                        <a:rPr sz="1200">
                          <a:solidFill>
                            <a:srgbClr val="F4F8FC"/>
                          </a:solidFill>
                          <a:latin typeface="Liberation Sans"/>
                          <a:ea typeface="Liberation Sans"/>
                          <a:cs typeface="Liberation Sans"/>
                        </a:rPr>
                        <a:t>Services, endpoints, workloads</a:t>
                      </a:r>
                    </a:p>
                  </a:txBody>
                  <a:tcPr marL="133350" marR="133350" marT="76200" marB="76200">
                    <a:solidFill>
                      <a:srgbClr val="102338"/>
                    </a:solidFill>
                  </a:tcPr>
                </a:tc>
                <a:tc>
                  <a:txBody>
                    <a:bodyPr/>
                    <a:lstStyle/>
                    <a:p>
                      <a:r>
                        <a:rPr sz="1200">
                          <a:solidFill>
                            <a:srgbClr val="F4F8FC"/>
                          </a:solidFill>
                          <a:latin typeface="Liberation Sans"/>
                          <a:ea typeface="Liberation Sans"/>
                          <a:cs typeface="Liberation Sans"/>
                        </a:rPr>
                        <a:t>Read</a:t>
                      </a:r>
                    </a:p>
                  </a:txBody>
                  <a:tcPr marL="133350" marR="133350" marT="76200" marB="76200">
                    <a:solidFill>
                      <a:srgbClr val="102338"/>
                    </a:solidFill>
                  </a:tcPr>
                </a:tc>
                <a:tc>
                  <a:txBody>
                    <a:bodyPr/>
                    <a:lstStyle/>
                    <a:p>
                      <a:r>
                        <a:rPr sz="1200">
                          <a:solidFill>
                            <a:srgbClr val="F4F8FC"/>
                          </a:solidFill>
                          <a:latin typeface="Liberation Sans"/>
                          <a:ea typeface="Liberation Sans"/>
                          <a:cs typeface="Liberation Sans"/>
                        </a:rPr>
                        <a:t>Namespace Role</a:t>
                      </a:r>
                    </a:p>
                  </a:txBody>
                  <a:tcPr marL="133350" marR="133350" marT="76200" marB="76200">
                    <a:solidFill>
                      <a:srgbClr val="102338"/>
                    </a:solidFill>
                  </a:tcPr>
                </a:tc>
              </a:tr>
              <a:tr h="650875">
                <a:tc>
                  <a:txBody>
                    <a:bodyPr/>
                    <a:lstStyle/>
                    <a:p>
                      <a:r>
                        <a:rPr sz="1200">
                          <a:solidFill>
                            <a:srgbClr val="F4F8FC"/>
                          </a:solidFill>
                          <a:latin typeface="Liberation Sans"/>
                          <a:ea typeface="Liberation Sans"/>
                          <a:cs typeface="Liberation Sans"/>
                        </a:rPr>
                        <a:t>Kubernetes</a:t>
                      </a:r>
                    </a:p>
                  </a:txBody>
                  <a:tcPr marL="133350" marR="133350" marT="76200" marB="76200">
                    <a:solidFill>
                      <a:srgbClr val="102338"/>
                    </a:solidFill>
                  </a:tcPr>
                </a:tc>
                <a:tc>
                  <a:txBody>
                    <a:bodyPr/>
                    <a:lstStyle/>
                    <a:p>
                      <a:r>
                        <a:rPr sz="1200">
                          <a:solidFill>
                            <a:srgbClr val="F4F8FC"/>
                          </a:solidFill>
                          <a:latin typeface="Liberation Sans"/>
                          <a:ea typeface="Liberation Sans"/>
                          <a:cs typeface="Liberation Sans"/>
                        </a:rPr>
                        <a:t>Secrets and writes</a:t>
                      </a:r>
                    </a:p>
                  </a:txBody>
                  <a:tcPr marL="133350" marR="133350" marT="76200" marB="76200">
                    <a:solidFill>
                      <a:srgbClr val="102338"/>
                    </a:solidFill>
                  </a:tcPr>
                </a:tc>
                <a:tc>
                  <a:txBody>
                    <a:bodyPr/>
                    <a:lstStyle/>
                    <a:p>
                      <a:r>
                        <a:rPr sz="1200" b="1">
                          <a:solidFill>
                            <a:srgbClr val="FF7285"/>
                          </a:solidFill>
                          <a:latin typeface="Liberation Sans"/>
                          <a:ea typeface="Liberation Sans"/>
                          <a:cs typeface="Liberation Sans"/>
                        </a:rPr>
                        <a:t>Denied</a:t>
                      </a:r>
                    </a:p>
                  </a:txBody>
                  <a:tcPr marL="133350" marR="133350" marT="76200" marB="76200">
                    <a:solidFill>
                      <a:srgbClr val="3A1B29"/>
                    </a:solidFill>
                  </a:tcPr>
                </a:tc>
                <a:tc>
                  <a:txBody>
                    <a:bodyPr/>
                    <a:lstStyle/>
                    <a:p>
                      <a:r>
                        <a:rPr sz="1200">
                          <a:solidFill>
                            <a:srgbClr val="F4F8FC"/>
                          </a:solidFill>
                          <a:latin typeface="Liberation Sans"/>
                          <a:ea typeface="Liberation Sans"/>
                          <a:cs typeface="Liberation Sans"/>
                        </a:rPr>
                        <a:t>RBAC</a:t>
                      </a:r>
                    </a:p>
                  </a:txBody>
                  <a:tcPr marL="133350" marR="133350" marT="76200" marB="76200">
                    <a:solidFill>
                      <a:srgbClr val="102338"/>
                    </a:solidFill>
                  </a:tcPr>
                </a:tc>
              </a:tr>
              <a:tr h="650875">
                <a:tc>
                  <a:txBody>
                    <a:bodyPr/>
                    <a:lstStyle/>
                    <a:p>
                      <a:r>
                        <a:rPr sz="1200">
                          <a:solidFill>
                            <a:srgbClr val="F4F8FC"/>
                          </a:solidFill>
                          <a:latin typeface="Liberation Sans"/>
                          <a:ea typeface="Liberation Sans"/>
                          <a:cs typeface="Liberation Sans"/>
                        </a:rPr>
                        <a:t>GitHub</a:t>
                      </a:r>
                    </a:p>
                  </a:txBody>
                  <a:tcPr marL="133350" marR="133350" marT="76200" marB="76200">
                    <a:solidFill>
                      <a:srgbClr val="102338"/>
                    </a:solidFill>
                  </a:tcPr>
                </a:tc>
                <a:tc>
                  <a:txBody>
                    <a:bodyPr/>
                    <a:lstStyle/>
                    <a:p>
                      <a:r>
                        <a:rPr sz="1200">
                          <a:solidFill>
                            <a:srgbClr val="F4F8FC"/>
                          </a:solidFill>
                          <a:latin typeface="Liberation Sans"/>
                          <a:ea typeface="Liberation Sans"/>
                          <a:cs typeface="Liberation Sans"/>
                        </a:rPr>
                        <a:t>Repository and PR diff</a:t>
                      </a:r>
                    </a:p>
                  </a:txBody>
                  <a:tcPr marL="133350" marR="133350" marT="76200" marB="76200">
                    <a:solidFill>
                      <a:srgbClr val="102338"/>
                    </a:solidFill>
                  </a:tcPr>
                </a:tc>
                <a:tc>
                  <a:txBody>
                    <a:bodyPr/>
                    <a:lstStyle/>
                    <a:p>
                      <a:r>
                        <a:rPr sz="1200">
                          <a:solidFill>
                            <a:srgbClr val="F4F8FC"/>
                          </a:solidFill>
                          <a:latin typeface="Liberation Sans"/>
                          <a:ea typeface="Liberation Sans"/>
                          <a:cs typeface="Liberation Sans"/>
                        </a:rPr>
                        <a:t>Read</a:t>
                      </a:r>
                    </a:p>
                  </a:txBody>
                  <a:tcPr marL="133350" marR="133350" marT="76200" marB="76200">
                    <a:solidFill>
                      <a:srgbClr val="102338"/>
                    </a:solidFill>
                  </a:tcPr>
                </a:tc>
                <a:tc>
                  <a:txBody>
                    <a:bodyPr/>
                    <a:lstStyle/>
                    <a:p>
                      <a:r>
                        <a:rPr sz="1200">
                          <a:solidFill>
                            <a:srgbClr val="F4F8FC"/>
                          </a:solidFill>
                          <a:latin typeface="Liberation Sans"/>
                          <a:ea typeface="Liberation Sans"/>
                          <a:cs typeface="Liberation Sans"/>
                        </a:rPr>
                        <a:t>App permission</a:t>
                      </a:r>
                    </a:p>
                  </a:txBody>
                  <a:tcPr marL="133350" marR="133350" marT="76200" marB="76200">
                    <a:solidFill>
                      <a:srgbClr val="102338"/>
                    </a:solidFill>
                  </a:tcPr>
                </a:tc>
              </a:tr>
              <a:tr h="650875">
                <a:tc>
                  <a:txBody>
                    <a:bodyPr/>
                    <a:lstStyle/>
                    <a:p>
                      <a:r>
                        <a:rPr sz="1200">
                          <a:solidFill>
                            <a:srgbClr val="F4F8FC"/>
                          </a:solidFill>
                          <a:latin typeface="Liberation Sans"/>
                          <a:ea typeface="Liberation Sans"/>
                          <a:cs typeface="Liberation Sans"/>
                        </a:rPr>
                        <a:t>GitHub</a:t>
                      </a:r>
                    </a:p>
                  </a:txBody>
                  <a:tcPr marL="133350" marR="133350" marT="76200" marB="76200">
                    <a:solidFill>
                      <a:srgbClr val="102338"/>
                    </a:solidFill>
                  </a:tcPr>
                </a:tc>
                <a:tc>
                  <a:txBody>
                    <a:bodyPr/>
                    <a:lstStyle/>
                    <a:p>
                      <a:r>
                        <a:rPr sz="1200">
                          <a:solidFill>
                            <a:srgbClr val="F4F8FC"/>
                          </a:solidFill>
                          <a:latin typeface="Liberation Sans"/>
                          <a:ea typeface="Liberation Sans"/>
                          <a:cs typeface="Liberation Sans"/>
                        </a:rPr>
                        <a:t>Review comments only</a:t>
                      </a:r>
                    </a:p>
                  </a:txBody>
                  <a:tcPr marL="133350" marR="133350" marT="76200" marB="76200">
                    <a:solidFill>
                      <a:srgbClr val="102338"/>
                    </a:solidFill>
                  </a:tcPr>
                </a:tc>
                <a:tc>
                  <a:txBody>
                    <a:bodyPr/>
                    <a:lstStyle/>
                    <a:p>
                      <a:r>
                        <a:rPr sz="1200">
                          <a:solidFill>
                            <a:srgbClr val="F4F8FC"/>
                          </a:solidFill>
                          <a:latin typeface="Liberation Sans"/>
                          <a:ea typeface="Liberation Sans"/>
                          <a:cs typeface="Liberation Sans"/>
                        </a:rPr>
                        <a:t>Write comment</a:t>
                      </a:r>
                    </a:p>
                  </a:txBody>
                  <a:tcPr marL="133350" marR="133350" marT="76200" marB="76200">
                    <a:solidFill>
                      <a:srgbClr val="102338"/>
                    </a:solidFill>
                  </a:tcPr>
                </a:tc>
                <a:tc>
                  <a:txBody>
                    <a:bodyPr/>
                    <a:lstStyle/>
                    <a:p>
                      <a:r>
                        <a:rPr sz="1200">
                          <a:solidFill>
                            <a:srgbClr val="F4F8FC"/>
                          </a:solidFill>
                          <a:latin typeface="Liberation Sans"/>
                          <a:ea typeface="Liberation Sans"/>
                          <a:cs typeface="Liberation Sans"/>
                        </a:rPr>
                        <a:t>App permission</a:t>
                      </a:r>
                    </a:p>
                  </a:txBody>
                  <a:tcPr marL="133350" marR="133350" marT="76200" marB="76200">
                    <a:solidFill>
                      <a:srgbClr val="102338"/>
                    </a:solidFill>
                  </a:tcPr>
                </a:tc>
              </a:tr>
            </a:tbl>
          </a:graphicData>
        </a:graphic>
      </p:graphicFrame>
      <p:sp>
        <p:nvSpPr>
          <p:cNvPr id="7" name="">
            <a:extLst xmlns:a="http://schemas.openxmlformats.org/drawingml/2006/main">
              <a:ext uri="{FF2B5EF4-FFF2-40B4-BE49-F238E27FC236}">
                <a16:creationId xmlns:a16="http://schemas.microsoft.com/office/drawing/2014/main" id="{F3AA257A-924A-4443-A728-D3107D7AC45B}"/>
              </a:ext>
            </a:extLst>
          </p:cNvPr>
          <p:cNvSpPr>
            <a:spLocks xmlns:a="http://schemas.openxmlformats.org/drawingml/2006/main" noGrp="1"/>
          </p:cNvSpPr>
          <p:nvPr/>
        </p:nvSpPr>
        <p:spPr>
          <a:xfrm xmlns:a="http://schemas.openxmlformats.org/drawingml/2006/main">
            <a:off x="2095500" y="5695950"/>
            <a:ext cx="800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defRPr sz="1575" b="1">
                <a:solidFill>
                  <a:srgbClr val="68E1C4"/>
                </a:solidFill>
                <a:latin typeface="Liberation Sans"/>
                <a:ea typeface="Liberation Sans"/>
                <a:cs typeface="Liberation Sans"/>
              </a:defRPr>
            </a:pPr>
            <a:r>
              <a:rPr sz="1575" b="1">
                <a:solidFill>
                  <a:srgbClr val="68E1C4"/>
                </a:solidFill>
                <a:latin typeface="Liberation Sans"/>
                <a:ea typeface="Liberation Sans"/>
                <a:cs typeface="Liberation Sans"/>
              </a:rPr>
              <a:t>No credentials or Secret values are stored in Git</a:t>
            </a:r>
          </a:p>
        </p:txBody>
      </p:sp>
    </p:spTree>
    <p:extLst>
      <p:ext uri="{BB962C8B-B14F-4D97-AF65-F5344CB8AC3E}">
        <p14:creationId xmlns:p14="http://schemas.microsoft.com/office/powerpoint/2010/main" val="153937172"/>
      </p:ext>
    </p:extLst>
  </p:cSld>
</p:sld>
</file>

<file path=ppt/slides/slide12.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1AEAAA9A-6108-4CDB-8D66-47AC03F8332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54D6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3C16368-A120-4AB5-83A1-6A37C57DB286}"/>
              </a:ext>
            </a:extLst>
          </p:cNvPr>
          <p:cNvSpPr>
            <a:spLocks xmlns:a="http://schemas.openxmlformats.org/drawingml/2006/main" noGrp="1"/>
          </p:cNvSpPr>
          <p:nvPr/>
        </p:nvSpPr>
        <p:spPr>
          <a:xfrm xmlns:a="http://schemas.openxmlformats.org/drawingml/2006/main">
            <a:off x="590550" y="400050"/>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F4F8FC"/>
                </a:solidFill>
                <a:latin typeface="Liberation Sans"/>
                <a:ea typeface="Liberation Sans"/>
                <a:cs typeface="Liberation Sans"/>
              </a:defRPr>
            </a:pPr>
            <a:r>
              <a:rPr sz="2550" b="1">
                <a:solidFill>
                  <a:srgbClr val="F4F8FC"/>
                </a:solidFill>
                <a:latin typeface="Liberation Sans"/>
                <a:ea typeface="Liberation Sans"/>
                <a:cs typeface="Liberation Sans"/>
              </a:rPr>
              <a:t>Incident evidence and recovery</a:t>
            </a:r>
          </a:p>
        </p:txBody>
      </p:sp>
      <p:sp>
        <p:nvSpPr>
          <p:cNvPr id="3" name="">
            <a:extLst xmlns:a="http://schemas.openxmlformats.org/drawingml/2006/main">
              <a:ext uri="{FF2B5EF4-FFF2-40B4-BE49-F238E27FC236}">
                <a16:creationId xmlns:a16="http://schemas.microsoft.com/office/drawing/2014/main" id="{B34103AF-52E0-4C52-A254-FC779C5BBDBB}"/>
              </a:ext>
            </a:extLst>
          </p:cNvPr>
          <p:cNvSpPr>
            <a:spLocks xmlns:a="http://schemas.openxmlformats.org/drawingml/2006/main" noGrp="1"/>
          </p:cNvSpPr>
          <p:nvPr/>
        </p:nvSpPr>
        <p:spPr>
          <a:xfrm xmlns:a="http://schemas.openxmlformats.org/drawingml/2006/main">
            <a:off x="60960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A6B7C8"/>
                </a:solidFill>
                <a:latin typeface="Liberation Sans"/>
                <a:ea typeface="Liberation Sans"/>
                <a:cs typeface="Liberation Sans"/>
              </a:defRPr>
            </a:pPr>
            <a:r>
              <a:rPr sz="1275" b="0">
                <a:solidFill>
                  <a:srgbClr val="A6B7C8"/>
                </a:solidFill>
                <a:latin typeface="Liberation Sans"/>
                <a:ea typeface="Liberation Sans"/>
                <a:cs typeface="Liberation Sans"/>
              </a:rPr>
              <a:t>Kubernetes, Grafana, and KAOP expose the fault and the recovery</a:t>
            </a:r>
          </a:p>
        </p:txBody>
      </p:sp>
      <p:sp>
        <p:nvSpPr>
          <p:cNvPr id="4" name="">
            <a:extLst xmlns:a="http://schemas.openxmlformats.org/drawingml/2006/main">
              <a:ext uri="{FF2B5EF4-FFF2-40B4-BE49-F238E27FC236}">
                <a16:creationId xmlns:a16="http://schemas.microsoft.com/office/drawing/2014/main" id="{3CEF7E10-18D8-43FA-992C-61303FA6B92B}"/>
              </a:ext>
            </a:extLst>
          </p:cNvPr>
          <p:cNvSpPr>
            <a:spLocks xmlns:a="http://schemas.openxmlformats.org/drawingml/2006/main" noGrp="1"/>
          </p:cNvSpPr>
          <p:nvPr/>
        </p:nvSpPr>
        <p:spPr>
          <a:xfrm xmlns:a="http://schemas.openxmlformats.org/drawingml/2006/main">
            <a:off x="11258550" y="62293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A6B7C8"/>
                </a:solidFill>
                <a:latin typeface="Liberation Sans"/>
                <a:ea typeface="Liberation Sans"/>
                <a:cs typeface="Liberation Sans"/>
              </a:defRPr>
            </a:pPr>
            <a:r>
              <a:rPr sz="900" b="0">
                <a:solidFill>
                  <a:srgbClr val="A6B7C8"/>
                </a:solidFill>
                <a:latin typeface="Liberation Sans"/>
                <a:ea typeface="Liberation Sans"/>
                <a:cs typeface="Liberation Sans"/>
              </a:rPr>
              <a:t>12</a:t>
            </a:r>
          </a:p>
        </p:txBody>
      </p:sp>
      <p:sp>
        <p:nvSpPr>
          <p:cNvPr id="5" name="">
            <a:extLst xmlns:a="http://schemas.openxmlformats.org/drawingml/2006/main">
              <a:ext uri="{FF2B5EF4-FFF2-40B4-BE49-F238E27FC236}">
                <a16:creationId xmlns:a16="http://schemas.microsoft.com/office/drawing/2014/main" id="{392807A3-147A-4E61-BB3B-B3EE3EAFF4C7}"/>
              </a:ext>
            </a:extLst>
          </p:cNvPr>
          <p:cNvSpPr>
            <a:spLocks xmlns:a="http://schemas.openxmlformats.org/drawingml/2006/main" noGrp="1"/>
          </p:cNvSpPr>
          <p:nvPr/>
        </p:nvSpPr>
        <p:spPr>
          <a:xfrm xmlns:a="http://schemas.openxmlformats.org/drawingml/2006/main">
            <a:off x="590550" y="62293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A6B7C8"/>
                </a:solidFill>
                <a:latin typeface="Liberation Sans"/>
                <a:ea typeface="Liberation Sans"/>
                <a:cs typeface="Liberation Sans"/>
              </a:defRPr>
            </a:pPr>
            <a:r>
              <a:rPr sz="900" b="0">
                <a:solidFill>
                  <a:srgbClr val="A6B7C8"/>
                </a:solidFill>
                <a:latin typeface="Liberation Sans"/>
                <a:ea typeface="Liberation Sans"/>
                <a:cs typeface="Liberation Sans"/>
              </a:rPr>
              <a:t>KAOP by Nirit Terehovsky</a:t>
            </a:r>
          </a:p>
        </p:txBody>
      </p:sp>
      <p:sp>
        <p:nvSpPr>
          <p:cNvPr id="6" name="">
            <a:extLst xmlns:a="http://schemas.openxmlformats.org/drawingml/2006/main">
              <a:ext uri="{FF2B5EF4-FFF2-40B4-BE49-F238E27FC236}">
                <a16:creationId xmlns:a16="http://schemas.microsoft.com/office/drawing/2014/main" id="{F4AD82C8-8AD3-44B6-8C0C-A0E4BEDF0F45}"/>
              </a:ext>
            </a:extLst>
          </p:cNvPr>
          <p:cNvSpPr>
            <a:spLocks xmlns:a="http://schemas.openxmlformats.org/drawingml/2006/main" noGrp="1"/>
          </p:cNvSpPr>
          <p:nvPr/>
        </p:nvSpPr>
        <p:spPr>
          <a:xfrm xmlns:a="http://schemas.openxmlformats.org/drawingml/2006/main">
            <a:off x="723900" y="1600200"/>
            <a:ext cx="3333750" cy="3124200"/>
          </a:xfrm>
          <a:prstGeom xmlns:a="http://schemas.openxmlformats.org/drawingml/2006/main" prst="roundRect">
            <a:avLst>
              <a:gd name="adj" fmla="val 6098"/>
            </a:avLst>
          </a:prstGeom>
          <a:solidFill xmlns:a="http://schemas.openxmlformats.org/drawingml/2006/main">
            <a:srgbClr val="102338"/>
          </a:solidFill>
          <a:ln xmlns:a="http://schemas.openxmlformats.org/drawingml/2006/main" w="14288">
            <a:solidFill>
              <a:srgbClr val="68E1C4"/>
            </a:solidFill>
            <a:prstDash val="solid"/>
          </a:ln>
        </p:spPr>
      </p:sp>
      <p:sp>
        <p:nvSpPr>
          <p:cNvPr id="7" name="">
            <a:extLst xmlns:a="http://schemas.openxmlformats.org/drawingml/2006/main">
              <a:ext uri="{FF2B5EF4-FFF2-40B4-BE49-F238E27FC236}">
                <a16:creationId xmlns:a16="http://schemas.microsoft.com/office/drawing/2014/main" id="{1C55E10A-CD73-4A8B-9343-D93E355C2209}"/>
              </a:ext>
            </a:extLst>
          </p:cNvPr>
          <p:cNvSpPr>
            <a:spLocks xmlns:a="http://schemas.openxmlformats.org/drawingml/2006/main" noGrp="1"/>
          </p:cNvSpPr>
          <p:nvPr/>
        </p:nvSpPr>
        <p:spPr>
          <a:xfrm xmlns:a="http://schemas.openxmlformats.org/drawingml/2006/main">
            <a:off x="990600" y="1847850"/>
            <a:ext cx="2800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025" b="1">
                <a:solidFill>
                  <a:srgbClr val="68E1C4"/>
                </a:solidFill>
                <a:latin typeface="Liberation Sans"/>
                <a:ea typeface="Liberation Sans"/>
                <a:cs typeface="Liberation Sans"/>
              </a:defRPr>
            </a:pPr>
            <a:r>
              <a:rPr sz="2025" b="1">
                <a:solidFill>
                  <a:srgbClr val="68E1C4"/>
                </a:solidFill>
                <a:latin typeface="Liberation Sans"/>
                <a:ea typeface="Liberation Sans"/>
                <a:cs typeface="Liberation Sans"/>
              </a:rPr>
              <a:t>Healthy</a:t>
            </a:r>
          </a:p>
        </p:txBody>
      </p:sp>
      <p:sp>
        <p:nvSpPr>
          <p:cNvPr id="8" name="">
            <a:extLst xmlns:a="http://schemas.openxmlformats.org/drawingml/2006/main">
              <a:ext uri="{FF2B5EF4-FFF2-40B4-BE49-F238E27FC236}">
                <a16:creationId xmlns:a16="http://schemas.microsoft.com/office/drawing/2014/main" id="{AE6ADA0B-32DB-4590-9BD6-D05198E77B1D}"/>
              </a:ext>
            </a:extLst>
          </p:cNvPr>
          <p:cNvSpPr>
            <a:spLocks xmlns:a="http://schemas.openxmlformats.org/drawingml/2006/main" noGrp="1"/>
          </p:cNvSpPr>
          <p:nvPr/>
        </p:nvSpPr>
        <p:spPr>
          <a:xfrm xmlns:a="http://schemas.openxmlformats.org/drawingml/2006/main">
            <a:off x="1009650" y="247650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68E1C4"/>
                </a:solidFill>
                <a:latin typeface="Liberation Sans"/>
                <a:ea typeface="Liberation Sans"/>
                <a:cs typeface="Liberation Sans"/>
              </a:defRPr>
            </a:pPr>
            <a:r>
              <a:rPr sz="2700" b="1">
                <a:solidFill>
                  <a:srgbClr val="68E1C4"/>
                </a:solidFill>
                <a:latin typeface="Liberation Sans"/>
                <a:ea typeface="Liberation Sans"/>
                <a:cs typeface="Liberation Sans"/>
              </a:rPr>
              <a:t>1</a:t>
            </a:r>
          </a:p>
        </p:txBody>
      </p:sp>
      <p:sp>
        <p:nvSpPr>
          <p:cNvPr id="9" name="">
            <a:extLst xmlns:a="http://schemas.openxmlformats.org/drawingml/2006/main">
              <a:ext uri="{FF2B5EF4-FFF2-40B4-BE49-F238E27FC236}">
                <a16:creationId xmlns:a16="http://schemas.microsoft.com/office/drawing/2014/main" id="{C9706276-A87B-4E1A-BED1-CD5A5687DD02}"/>
              </a:ext>
            </a:extLst>
          </p:cNvPr>
          <p:cNvSpPr>
            <a:spLocks xmlns:a="http://schemas.openxmlformats.org/drawingml/2006/main" noGrp="1"/>
          </p:cNvSpPr>
          <p:nvPr/>
        </p:nvSpPr>
        <p:spPr>
          <a:xfrm xmlns:a="http://schemas.openxmlformats.org/drawingml/2006/main">
            <a:off x="1009650" y="299085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b="0">
                <a:solidFill>
                  <a:srgbClr val="A6B7C8"/>
                </a:solidFill>
                <a:latin typeface="Liberation Sans"/>
                <a:ea typeface="Liberation Sans"/>
                <a:cs typeface="Liberation Sans"/>
              </a:defRPr>
            </a:pPr>
            <a:r>
              <a:rPr sz="1125" b="0">
                <a:solidFill>
                  <a:srgbClr val="A6B7C8"/>
                </a:solidFill>
                <a:latin typeface="Liberation Sans"/>
                <a:ea typeface="Liberation Sans"/>
                <a:cs typeface="Liberation Sans"/>
              </a:rPr>
              <a:t>Redis endpoint</a:t>
            </a:r>
          </a:p>
        </p:txBody>
      </p:sp>
      <p:sp>
        <p:nvSpPr>
          <p:cNvPr id="10" name="">
            <a:extLst xmlns:a="http://schemas.openxmlformats.org/drawingml/2006/main">
              <a:ext uri="{FF2B5EF4-FFF2-40B4-BE49-F238E27FC236}">
                <a16:creationId xmlns:a16="http://schemas.microsoft.com/office/drawing/2014/main" id="{39BF982A-19DF-4BF1-81BB-5F5AB6A9D23C}"/>
              </a:ext>
            </a:extLst>
          </p:cNvPr>
          <p:cNvSpPr>
            <a:spLocks xmlns:a="http://schemas.openxmlformats.org/drawingml/2006/main" noGrp="1"/>
          </p:cNvSpPr>
          <p:nvPr/>
        </p:nvSpPr>
        <p:spPr>
          <a:xfrm xmlns:a="http://schemas.openxmlformats.org/drawingml/2006/main">
            <a:off x="990600" y="3486150"/>
            <a:ext cx="2800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F4F8FC"/>
                </a:solidFill>
                <a:latin typeface="Liberation Sans"/>
                <a:ea typeface="Liberation Sans"/>
                <a:cs typeface="Liberation Sans"/>
              </a:defRPr>
            </a:pPr>
            <a:r>
              <a:rPr sz="1425" b="1">
                <a:solidFill>
                  <a:srgbClr val="F4F8FC"/>
                </a:solidFill>
                <a:latin typeface="Liberation Sans"/>
                <a:ea typeface="Liberation Sans"/>
                <a:cs typeface="Liberation Sans"/>
              </a:rPr>
              <a:t>2/2 Ready</a:t>
            </a:r>
          </a:p>
        </p:txBody>
      </p:sp>
      <p:sp>
        <p:nvSpPr>
          <p:cNvPr id="11" name="">
            <a:extLst xmlns:a="http://schemas.openxmlformats.org/drawingml/2006/main">
              <a:ext uri="{FF2B5EF4-FFF2-40B4-BE49-F238E27FC236}">
                <a16:creationId xmlns:a16="http://schemas.microsoft.com/office/drawing/2014/main" id="{5D038025-FDC3-4B05-A399-6DA67FADD2E9}"/>
              </a:ext>
            </a:extLst>
          </p:cNvPr>
          <p:cNvSpPr>
            <a:spLocks xmlns:a="http://schemas.openxmlformats.org/drawingml/2006/main" noGrp="1"/>
          </p:cNvSpPr>
          <p:nvPr/>
        </p:nvSpPr>
        <p:spPr>
          <a:xfrm xmlns:a="http://schemas.openxmlformats.org/drawingml/2006/main">
            <a:off x="990600" y="3943350"/>
            <a:ext cx="2800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A6B7C8"/>
                </a:solidFill>
                <a:latin typeface="Liberation Sans"/>
                <a:ea typeface="Liberation Sans"/>
                <a:cs typeface="Liberation Sans"/>
              </a:defRPr>
            </a:pPr>
            <a:r>
              <a:rPr sz="1275" b="0">
                <a:solidFill>
                  <a:srgbClr val="A6B7C8"/>
                </a:solidFill>
                <a:latin typeface="Liberation Sans"/>
                <a:ea typeface="Liberation Sans"/>
                <a:cs typeface="Liberation Sans"/>
              </a:rPr>
              <a:t>0 restarts</a:t>
            </a:r>
          </a:p>
        </p:txBody>
      </p:sp>
      <p:sp>
        <p:nvSpPr>
          <p:cNvPr id="12" name="">
            <a:extLst xmlns:a="http://schemas.openxmlformats.org/drawingml/2006/main">
              <a:ext uri="{FF2B5EF4-FFF2-40B4-BE49-F238E27FC236}">
                <a16:creationId xmlns:a16="http://schemas.microsoft.com/office/drawing/2014/main" id="{645571B0-C097-43B7-8774-E366FA97585A}"/>
              </a:ext>
            </a:extLst>
          </p:cNvPr>
          <p:cNvSpPr>
            <a:spLocks xmlns:a="http://schemas.openxmlformats.org/drawingml/2006/main" noGrp="1"/>
          </p:cNvSpPr>
          <p:nvPr/>
        </p:nvSpPr>
        <p:spPr>
          <a:xfrm xmlns:a="http://schemas.openxmlformats.org/drawingml/2006/main">
            <a:off x="4438650" y="1600200"/>
            <a:ext cx="3333750" cy="3124200"/>
          </a:xfrm>
          <a:prstGeom xmlns:a="http://schemas.openxmlformats.org/drawingml/2006/main" prst="roundRect">
            <a:avLst>
              <a:gd name="adj" fmla="val 6098"/>
            </a:avLst>
          </a:prstGeom>
          <a:solidFill xmlns:a="http://schemas.openxmlformats.org/drawingml/2006/main">
            <a:srgbClr val="102338"/>
          </a:solidFill>
          <a:ln xmlns:a="http://schemas.openxmlformats.org/drawingml/2006/main" w="14288">
            <a:solidFill>
              <a:srgbClr val="FF7285"/>
            </a:solidFill>
            <a:prstDash val="solid"/>
          </a:ln>
        </p:spPr>
      </p:sp>
      <p:sp>
        <p:nvSpPr>
          <p:cNvPr id="13" name="">
            <a:extLst xmlns:a="http://schemas.openxmlformats.org/drawingml/2006/main">
              <a:ext uri="{FF2B5EF4-FFF2-40B4-BE49-F238E27FC236}">
                <a16:creationId xmlns:a16="http://schemas.microsoft.com/office/drawing/2014/main" id="{B639AA25-D5CF-438F-9183-9AFDED8E1323}"/>
              </a:ext>
            </a:extLst>
          </p:cNvPr>
          <p:cNvSpPr>
            <a:spLocks xmlns:a="http://schemas.openxmlformats.org/drawingml/2006/main" noGrp="1"/>
          </p:cNvSpPr>
          <p:nvPr/>
        </p:nvSpPr>
        <p:spPr>
          <a:xfrm xmlns:a="http://schemas.openxmlformats.org/drawingml/2006/main">
            <a:off x="4705350" y="1847850"/>
            <a:ext cx="2800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025" b="1">
                <a:solidFill>
                  <a:srgbClr val="FF7285"/>
                </a:solidFill>
                <a:latin typeface="Liberation Sans"/>
                <a:ea typeface="Liberation Sans"/>
                <a:cs typeface="Liberation Sans"/>
              </a:defRPr>
            </a:pPr>
            <a:r>
              <a:rPr sz="2025" b="1">
                <a:solidFill>
                  <a:srgbClr val="FF7285"/>
                </a:solidFill>
                <a:latin typeface="Liberation Sans"/>
                <a:ea typeface="Liberation Sans"/>
                <a:cs typeface="Liberation Sans"/>
              </a:rPr>
              <a:t>Incident</a:t>
            </a:r>
          </a:p>
        </p:txBody>
      </p:sp>
      <p:sp>
        <p:nvSpPr>
          <p:cNvPr id="14" name="">
            <a:extLst xmlns:a="http://schemas.openxmlformats.org/drawingml/2006/main">
              <a:ext uri="{FF2B5EF4-FFF2-40B4-BE49-F238E27FC236}">
                <a16:creationId xmlns:a16="http://schemas.microsoft.com/office/drawing/2014/main" id="{78CD7E09-CC84-4BF9-BFF3-3A519BED7058}"/>
              </a:ext>
            </a:extLst>
          </p:cNvPr>
          <p:cNvSpPr>
            <a:spLocks xmlns:a="http://schemas.openxmlformats.org/drawingml/2006/main" noGrp="1"/>
          </p:cNvSpPr>
          <p:nvPr/>
        </p:nvSpPr>
        <p:spPr>
          <a:xfrm xmlns:a="http://schemas.openxmlformats.org/drawingml/2006/main">
            <a:off x="4724400" y="247650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FF7285"/>
                </a:solidFill>
                <a:latin typeface="Liberation Sans"/>
                <a:ea typeface="Liberation Sans"/>
                <a:cs typeface="Liberation Sans"/>
              </a:defRPr>
            </a:pPr>
            <a:r>
              <a:rPr sz="2700" b="1">
                <a:solidFill>
                  <a:srgbClr val="FF7285"/>
                </a:solidFill>
                <a:latin typeface="Liberation Sans"/>
                <a:ea typeface="Liberation Sans"/>
                <a:cs typeface="Liberation Sans"/>
              </a:rPr>
              <a:t>0</a:t>
            </a:r>
          </a:p>
        </p:txBody>
      </p:sp>
      <p:sp>
        <p:nvSpPr>
          <p:cNvPr id="15" name="">
            <a:extLst xmlns:a="http://schemas.openxmlformats.org/drawingml/2006/main">
              <a:ext uri="{FF2B5EF4-FFF2-40B4-BE49-F238E27FC236}">
                <a16:creationId xmlns:a16="http://schemas.microsoft.com/office/drawing/2014/main" id="{24C3FAF5-EC4E-42C3-B52C-834A98A82A38}"/>
              </a:ext>
            </a:extLst>
          </p:cNvPr>
          <p:cNvSpPr>
            <a:spLocks xmlns:a="http://schemas.openxmlformats.org/drawingml/2006/main" noGrp="1"/>
          </p:cNvSpPr>
          <p:nvPr/>
        </p:nvSpPr>
        <p:spPr>
          <a:xfrm xmlns:a="http://schemas.openxmlformats.org/drawingml/2006/main">
            <a:off x="4724400" y="299085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b="0">
                <a:solidFill>
                  <a:srgbClr val="A6B7C8"/>
                </a:solidFill>
                <a:latin typeface="Liberation Sans"/>
                <a:ea typeface="Liberation Sans"/>
                <a:cs typeface="Liberation Sans"/>
              </a:defRPr>
            </a:pPr>
            <a:r>
              <a:rPr sz="1125" b="0">
                <a:solidFill>
                  <a:srgbClr val="A6B7C8"/>
                </a:solidFill>
                <a:latin typeface="Liberation Sans"/>
                <a:ea typeface="Liberation Sans"/>
                <a:cs typeface="Liberation Sans"/>
              </a:rPr>
              <a:t>Redis endpoints</a:t>
            </a:r>
          </a:p>
        </p:txBody>
      </p:sp>
      <p:sp>
        <p:nvSpPr>
          <p:cNvPr id="16" name="">
            <a:extLst xmlns:a="http://schemas.openxmlformats.org/drawingml/2006/main">
              <a:ext uri="{FF2B5EF4-FFF2-40B4-BE49-F238E27FC236}">
                <a16:creationId xmlns:a16="http://schemas.microsoft.com/office/drawing/2014/main" id="{244AF099-3A60-4D21-BB8B-8EADB2D7B1C9}"/>
              </a:ext>
            </a:extLst>
          </p:cNvPr>
          <p:cNvSpPr>
            <a:spLocks xmlns:a="http://schemas.openxmlformats.org/drawingml/2006/main" noGrp="1"/>
          </p:cNvSpPr>
          <p:nvPr/>
        </p:nvSpPr>
        <p:spPr>
          <a:xfrm xmlns:a="http://schemas.openxmlformats.org/drawingml/2006/main">
            <a:off x="4705350" y="3486150"/>
            <a:ext cx="2800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F4F8FC"/>
                </a:solidFill>
                <a:latin typeface="Liberation Sans"/>
                <a:ea typeface="Liberation Sans"/>
                <a:cs typeface="Liberation Sans"/>
              </a:defRPr>
            </a:pPr>
            <a:r>
              <a:rPr sz="1425" b="1">
                <a:solidFill>
                  <a:srgbClr val="F4F8FC"/>
                </a:solidFill>
                <a:latin typeface="Liberation Sans"/>
                <a:ea typeface="Liberation Sans"/>
                <a:cs typeface="Liberation Sans"/>
              </a:rPr>
              <a:t>new Pod not Ready</a:t>
            </a:r>
          </a:p>
        </p:txBody>
      </p:sp>
      <p:sp>
        <p:nvSpPr>
          <p:cNvPr id="17" name="">
            <a:extLst xmlns:a="http://schemas.openxmlformats.org/drawingml/2006/main">
              <a:ext uri="{FF2B5EF4-FFF2-40B4-BE49-F238E27FC236}">
                <a16:creationId xmlns:a16="http://schemas.microsoft.com/office/drawing/2014/main" id="{F1AD50AE-60DD-4106-B7DE-0DE5123F6D66}"/>
              </a:ext>
            </a:extLst>
          </p:cNvPr>
          <p:cNvSpPr>
            <a:spLocks xmlns:a="http://schemas.openxmlformats.org/drawingml/2006/main" noGrp="1"/>
          </p:cNvSpPr>
          <p:nvPr/>
        </p:nvSpPr>
        <p:spPr>
          <a:xfrm xmlns:a="http://schemas.openxmlformats.org/drawingml/2006/main">
            <a:off x="4705350" y="3943350"/>
            <a:ext cx="2800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A6B7C8"/>
                </a:solidFill>
                <a:latin typeface="Liberation Sans"/>
                <a:ea typeface="Liberation Sans"/>
                <a:cs typeface="Liberation Sans"/>
              </a:defRPr>
            </a:pPr>
            <a:r>
              <a:rPr sz="1275" b="0">
                <a:solidFill>
                  <a:srgbClr val="A6B7C8"/>
                </a:solidFill>
                <a:latin typeface="Liberation Sans"/>
                <a:ea typeface="Liberation Sans"/>
                <a:cs typeface="Liberation Sans"/>
              </a:rPr>
              <a:t>restarts rising</a:t>
            </a:r>
          </a:p>
        </p:txBody>
      </p:sp>
      <p:sp>
        <p:nvSpPr>
          <p:cNvPr id="18" name="">
            <a:extLst xmlns:a="http://schemas.openxmlformats.org/drawingml/2006/main">
              <a:ext uri="{FF2B5EF4-FFF2-40B4-BE49-F238E27FC236}">
                <a16:creationId xmlns:a16="http://schemas.microsoft.com/office/drawing/2014/main" id="{A5F90F0F-0616-41A1-93EE-6CDC353A0D15}"/>
              </a:ext>
            </a:extLst>
          </p:cNvPr>
          <p:cNvSpPr>
            <a:spLocks xmlns:a="http://schemas.openxmlformats.org/drawingml/2006/main" noGrp="1"/>
          </p:cNvSpPr>
          <p:nvPr/>
        </p:nvSpPr>
        <p:spPr>
          <a:xfrm xmlns:a="http://schemas.openxmlformats.org/drawingml/2006/main">
            <a:off x="8153400" y="1600200"/>
            <a:ext cx="3333750" cy="3124200"/>
          </a:xfrm>
          <a:prstGeom xmlns:a="http://schemas.openxmlformats.org/drawingml/2006/main" prst="roundRect">
            <a:avLst>
              <a:gd name="adj" fmla="val 6098"/>
            </a:avLst>
          </a:prstGeom>
          <a:solidFill xmlns:a="http://schemas.openxmlformats.org/drawingml/2006/main">
            <a:srgbClr val="102338"/>
          </a:solidFill>
          <a:ln xmlns:a="http://schemas.openxmlformats.org/drawingml/2006/main" w="14288">
            <a:solidFill>
              <a:srgbClr val="54D6FF"/>
            </a:solidFill>
            <a:prstDash val="solid"/>
          </a:ln>
        </p:spPr>
      </p:sp>
      <p:sp>
        <p:nvSpPr>
          <p:cNvPr id="19" name="">
            <a:extLst xmlns:a="http://schemas.openxmlformats.org/drawingml/2006/main">
              <a:ext uri="{FF2B5EF4-FFF2-40B4-BE49-F238E27FC236}">
                <a16:creationId xmlns:a16="http://schemas.microsoft.com/office/drawing/2014/main" id="{F9C55342-348E-4C31-AAA2-A460DBA613D4}"/>
              </a:ext>
            </a:extLst>
          </p:cNvPr>
          <p:cNvSpPr>
            <a:spLocks xmlns:a="http://schemas.openxmlformats.org/drawingml/2006/main" noGrp="1"/>
          </p:cNvSpPr>
          <p:nvPr/>
        </p:nvSpPr>
        <p:spPr>
          <a:xfrm xmlns:a="http://schemas.openxmlformats.org/drawingml/2006/main">
            <a:off x="8420100" y="1847850"/>
            <a:ext cx="2800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025" b="1">
                <a:solidFill>
                  <a:srgbClr val="54D6FF"/>
                </a:solidFill>
                <a:latin typeface="Liberation Sans"/>
                <a:ea typeface="Liberation Sans"/>
                <a:cs typeface="Liberation Sans"/>
              </a:defRPr>
            </a:pPr>
            <a:r>
              <a:rPr sz="2025" b="1">
                <a:solidFill>
                  <a:srgbClr val="54D6FF"/>
                </a:solidFill>
                <a:latin typeface="Liberation Sans"/>
                <a:ea typeface="Liberation Sans"/>
                <a:cs typeface="Liberation Sans"/>
              </a:rPr>
              <a:t>Recovered</a:t>
            </a:r>
          </a:p>
        </p:txBody>
      </p:sp>
      <p:sp>
        <p:nvSpPr>
          <p:cNvPr id="20" name="">
            <a:extLst xmlns:a="http://schemas.openxmlformats.org/drawingml/2006/main">
              <a:ext uri="{FF2B5EF4-FFF2-40B4-BE49-F238E27FC236}">
                <a16:creationId xmlns:a16="http://schemas.microsoft.com/office/drawing/2014/main" id="{D9C54496-864D-4856-B602-0F479411114E}"/>
              </a:ext>
            </a:extLst>
          </p:cNvPr>
          <p:cNvSpPr>
            <a:spLocks xmlns:a="http://schemas.openxmlformats.org/drawingml/2006/main" noGrp="1"/>
          </p:cNvSpPr>
          <p:nvPr/>
        </p:nvSpPr>
        <p:spPr>
          <a:xfrm xmlns:a="http://schemas.openxmlformats.org/drawingml/2006/main">
            <a:off x="8439150" y="247650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54D6FF"/>
                </a:solidFill>
                <a:latin typeface="Liberation Sans"/>
                <a:ea typeface="Liberation Sans"/>
                <a:cs typeface="Liberation Sans"/>
              </a:defRPr>
            </a:pPr>
            <a:r>
              <a:rPr sz="2700" b="1">
                <a:solidFill>
                  <a:srgbClr val="54D6FF"/>
                </a:solidFill>
                <a:latin typeface="Liberation Sans"/>
                <a:ea typeface="Liberation Sans"/>
                <a:cs typeface="Liberation Sans"/>
              </a:rPr>
              <a:t>1</a:t>
            </a:r>
          </a:p>
        </p:txBody>
      </p:sp>
      <p:sp>
        <p:nvSpPr>
          <p:cNvPr id="21" name="">
            <a:extLst xmlns:a="http://schemas.openxmlformats.org/drawingml/2006/main">
              <a:ext uri="{FF2B5EF4-FFF2-40B4-BE49-F238E27FC236}">
                <a16:creationId xmlns:a16="http://schemas.microsoft.com/office/drawing/2014/main" id="{3FD62026-636D-4E5A-B37F-928180997257}"/>
              </a:ext>
            </a:extLst>
          </p:cNvPr>
          <p:cNvSpPr>
            <a:spLocks xmlns:a="http://schemas.openxmlformats.org/drawingml/2006/main" noGrp="1"/>
          </p:cNvSpPr>
          <p:nvPr/>
        </p:nvSpPr>
        <p:spPr>
          <a:xfrm xmlns:a="http://schemas.openxmlformats.org/drawingml/2006/main">
            <a:off x="8439150" y="299085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b="0">
                <a:solidFill>
                  <a:srgbClr val="A6B7C8"/>
                </a:solidFill>
                <a:latin typeface="Liberation Sans"/>
                <a:ea typeface="Liberation Sans"/>
                <a:cs typeface="Liberation Sans"/>
              </a:defRPr>
            </a:pPr>
            <a:r>
              <a:rPr sz="1125" b="0">
                <a:solidFill>
                  <a:srgbClr val="A6B7C8"/>
                </a:solidFill>
                <a:latin typeface="Liberation Sans"/>
                <a:ea typeface="Liberation Sans"/>
                <a:cs typeface="Liberation Sans"/>
              </a:rPr>
              <a:t>Redis endpoint</a:t>
            </a:r>
          </a:p>
        </p:txBody>
      </p:sp>
      <p:sp>
        <p:nvSpPr>
          <p:cNvPr id="22" name="">
            <a:extLst xmlns:a="http://schemas.openxmlformats.org/drawingml/2006/main">
              <a:ext uri="{FF2B5EF4-FFF2-40B4-BE49-F238E27FC236}">
                <a16:creationId xmlns:a16="http://schemas.microsoft.com/office/drawing/2014/main" id="{EF77DE9C-2F2F-4AB8-8026-E59ED8E74F4B}"/>
              </a:ext>
            </a:extLst>
          </p:cNvPr>
          <p:cNvSpPr>
            <a:spLocks xmlns:a="http://schemas.openxmlformats.org/drawingml/2006/main" noGrp="1"/>
          </p:cNvSpPr>
          <p:nvPr/>
        </p:nvSpPr>
        <p:spPr>
          <a:xfrm xmlns:a="http://schemas.openxmlformats.org/drawingml/2006/main">
            <a:off x="8420100" y="3486150"/>
            <a:ext cx="2800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F4F8FC"/>
                </a:solidFill>
                <a:latin typeface="Liberation Sans"/>
                <a:ea typeface="Liberation Sans"/>
                <a:cs typeface="Liberation Sans"/>
              </a:defRPr>
            </a:pPr>
            <a:r>
              <a:rPr sz="1425" b="1">
                <a:solidFill>
                  <a:srgbClr val="F4F8FC"/>
                </a:solidFill>
                <a:latin typeface="Liberation Sans"/>
                <a:ea typeface="Liberation Sans"/>
                <a:cs typeface="Liberation Sans"/>
              </a:rPr>
              <a:t>2/2 Ready</a:t>
            </a:r>
          </a:p>
        </p:txBody>
      </p:sp>
      <p:sp>
        <p:nvSpPr>
          <p:cNvPr id="23" name="">
            <a:extLst xmlns:a="http://schemas.openxmlformats.org/drawingml/2006/main">
              <a:ext uri="{FF2B5EF4-FFF2-40B4-BE49-F238E27FC236}">
                <a16:creationId xmlns:a16="http://schemas.microsoft.com/office/drawing/2014/main" id="{362C8FE9-DE96-4818-AC08-D4DDE7D4566F}"/>
              </a:ext>
            </a:extLst>
          </p:cNvPr>
          <p:cNvSpPr>
            <a:spLocks xmlns:a="http://schemas.openxmlformats.org/drawingml/2006/main" noGrp="1"/>
          </p:cNvSpPr>
          <p:nvPr/>
        </p:nvSpPr>
        <p:spPr>
          <a:xfrm xmlns:a="http://schemas.openxmlformats.org/drawingml/2006/main">
            <a:off x="8420100" y="3943350"/>
            <a:ext cx="2800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A6B7C8"/>
                </a:solidFill>
                <a:latin typeface="Liberation Sans"/>
                <a:ea typeface="Liberation Sans"/>
                <a:cs typeface="Liberation Sans"/>
              </a:defRPr>
            </a:pPr>
            <a:r>
              <a:rPr sz="1275" b="0">
                <a:solidFill>
                  <a:srgbClr val="A6B7C8"/>
                </a:solidFill>
                <a:latin typeface="Liberation Sans"/>
                <a:ea typeface="Liberation Sans"/>
                <a:cs typeface="Liberation Sans"/>
              </a:rPr>
              <a:t>alert resolved</a:t>
            </a:r>
          </a:p>
        </p:txBody>
      </p:sp>
      <p:sp>
        <p:nvSpPr>
          <p:cNvPr id="24" name="">
            <a:extLst xmlns:a="http://schemas.openxmlformats.org/drawingml/2006/main">
              <a:ext uri="{FF2B5EF4-FFF2-40B4-BE49-F238E27FC236}">
                <a16:creationId xmlns:a16="http://schemas.microsoft.com/office/drawing/2014/main" id="{771A5F25-90E6-4EBC-9BBA-A5F0722E88FD}"/>
              </a:ext>
            </a:extLst>
          </p:cNvPr>
          <p:cNvSpPr>
            <a:spLocks xmlns:a="http://schemas.openxmlformats.org/drawingml/2006/main" noGrp="1"/>
          </p:cNvSpPr>
          <p:nvPr/>
        </p:nvSpPr>
        <p:spPr>
          <a:xfrm xmlns:a="http://schemas.openxmlformats.org/drawingml/2006/main">
            <a:off x="2095500" y="521970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54D6FF"/>
                </a:solidFill>
                <a:latin typeface="Liberation Sans"/>
                <a:ea typeface="Liberation Sans"/>
                <a:cs typeface="Liberation Sans"/>
              </a:defRPr>
            </a:pPr>
            <a:r>
              <a:rPr sz="1350" b="1">
                <a:solidFill>
                  <a:srgbClr val="54D6FF"/>
                </a:solidFill>
                <a:latin typeface="Liberation Sans"/>
                <a:ea typeface="Liberation Sans"/>
                <a:cs typeface="Liberation Sans"/>
              </a:rPr>
              <a:t>Recovery command</a:t>
            </a:r>
          </a:p>
        </p:txBody>
      </p:sp>
      <p:sp>
        <p:nvSpPr>
          <p:cNvPr id="25" name="">
            <a:extLst xmlns:a="http://schemas.openxmlformats.org/drawingml/2006/main">
              <a:ext uri="{FF2B5EF4-FFF2-40B4-BE49-F238E27FC236}">
                <a16:creationId xmlns:a16="http://schemas.microsoft.com/office/drawing/2014/main" id="{23095FC8-A116-4A3F-9F0E-CB60747175CD}"/>
              </a:ext>
            </a:extLst>
          </p:cNvPr>
          <p:cNvSpPr>
            <a:spLocks xmlns:a="http://schemas.openxmlformats.org/drawingml/2006/main" noGrp="1"/>
          </p:cNvSpPr>
          <p:nvPr/>
        </p:nvSpPr>
        <p:spPr>
          <a:xfrm xmlns:a="http://schemas.openxmlformats.org/drawingml/2006/main">
            <a:off x="4191000" y="5105400"/>
            <a:ext cx="4095750" cy="514350"/>
          </a:xfrm>
          <a:prstGeom xmlns:a="http://schemas.openxmlformats.org/drawingml/2006/main" prst="roundRect">
            <a:avLst>
              <a:gd name="adj" fmla="val 22222"/>
            </a:avLst>
          </a:prstGeom>
          <a:solidFill xmlns:a="http://schemas.openxmlformats.org/drawingml/2006/main">
            <a:srgbClr val="142B42"/>
          </a:solidFill>
          <a:ln xmlns:a="http://schemas.openxmlformats.org/drawingml/2006/main" w="14288">
            <a:solidFill>
              <a:srgbClr val="29445D"/>
            </a:solidFill>
            <a:prstDash val="solid"/>
          </a:ln>
        </p:spPr>
      </p:sp>
      <p:sp>
        <p:nvSpPr>
          <p:cNvPr id="26" name="">
            <a:extLst xmlns:a="http://schemas.openxmlformats.org/drawingml/2006/main">
              <a:ext uri="{FF2B5EF4-FFF2-40B4-BE49-F238E27FC236}">
                <a16:creationId xmlns:a16="http://schemas.microsoft.com/office/drawing/2014/main" id="{994B81E5-394C-4F0D-BB21-D48B4FB7CEEC}"/>
              </a:ext>
            </a:extLst>
          </p:cNvPr>
          <p:cNvSpPr>
            <a:spLocks xmlns:a="http://schemas.openxmlformats.org/drawingml/2006/main" noGrp="1"/>
          </p:cNvSpPr>
          <p:nvPr/>
        </p:nvSpPr>
        <p:spPr>
          <a:xfrm xmlns:a="http://schemas.openxmlformats.org/drawingml/2006/main">
            <a:off x="4362450" y="5181600"/>
            <a:ext cx="3752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1">
                <a:solidFill>
                  <a:srgbClr val="F4F8FC"/>
                </a:solidFill>
                <a:latin typeface="Liberation Sans"/>
                <a:ea typeface="Liberation Sans"/>
                <a:cs typeface="Liberation Sans"/>
              </a:defRPr>
            </a:pPr>
            <a:r>
              <a:rPr sz="1575" b="1">
                <a:solidFill>
                  <a:srgbClr val="F4F8FC"/>
                </a:solidFill>
                <a:latin typeface="Liberation Sans"/>
                <a:ea typeface="Liberation Sans"/>
                <a:cs typeface="Liberation Sans"/>
              </a:rPr>
              <a:t>make recover &amp;&amp; make verify</a:t>
            </a:r>
          </a:p>
        </p:txBody>
      </p:sp>
    </p:spTree>
    <p:extLst>
      <p:ext uri="{BB962C8B-B14F-4D97-AF65-F5344CB8AC3E}">
        <p14:creationId xmlns:p14="http://schemas.microsoft.com/office/powerpoint/2010/main" val="16173245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2026-10-07T18:30:42.3940000Z</dcterms:created>
  <dcterms:modified xsi:type="dcterms:W3CDTF">2026-10-07T18:30:42.3940000Z</dcterms:modified>
</coreProperties>
</file>