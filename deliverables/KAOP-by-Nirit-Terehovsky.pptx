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fe67c0a9c774bf4" /><Relationship Type="http://schemas.openxmlformats.org/officeDocument/2006/relationships/extended-properties" Target="/docProps/app.xml" Id="Rfb094ae32cf64617" /><Relationship Type="http://schemas.openxmlformats.org/officeDocument/2006/relationships/officeDocument" Target="/ppt/presentation.xml" Id="Ra4032bb319824e91" /></Relationships>
</file>

<file path=ppt/presentation.xml><?xml version="1.0" encoding="utf-8"?>
<p:presentation xmlns:p="http://schemas.openxmlformats.org/presentationml/2006/main">
  <p:sldMasterIdLst>
    <p:sldMasterId xmlns:r="http://schemas.openxmlformats.org/officeDocument/2006/relationships" id="2147483648" r:id="R19cfb8b2845f4f8d"/>
  </p:sldMasterIdLst>
  <p:notesMasterIdLst>
    <p:notesMasterId xmlns:r="http://schemas.openxmlformats.org/officeDocument/2006/relationships" r:id="R714bcbdc674644a7"/>
  </p:notesMasterIdLst>
  <p:sldIdLst>
    <p:sldId xmlns:r="http://schemas.openxmlformats.org/officeDocument/2006/relationships" id="256" r:id="Rcb688af847144d6a"/>
    <p:sldId xmlns:r="http://schemas.openxmlformats.org/officeDocument/2006/relationships" id="257" r:id="Rc99458adc84642cd"/>
    <p:sldId xmlns:r="http://schemas.openxmlformats.org/officeDocument/2006/relationships" id="258" r:id="Rc2eeea3e90b84e44"/>
    <p:sldId xmlns:r="http://schemas.openxmlformats.org/officeDocument/2006/relationships" id="259" r:id="R6888153fff2341de"/>
    <p:sldId xmlns:r="http://schemas.openxmlformats.org/officeDocument/2006/relationships" id="260" r:id="R57c1e58ade574093"/>
    <p:sldId xmlns:r="http://schemas.openxmlformats.org/officeDocument/2006/relationships" id="261" r:id="R5d09a744ef8145d9"/>
    <p:sldId xmlns:r="http://schemas.openxmlformats.org/officeDocument/2006/relationships" id="262" r:id="R4956586cd3c843c5"/>
    <p:sldId xmlns:r="http://schemas.openxmlformats.org/officeDocument/2006/relationships" id="263" r:id="Rf66f6ebd49c24c14"/>
    <p:sldId xmlns:r="http://schemas.openxmlformats.org/officeDocument/2006/relationships" id="264" r:id="R66630da269c94864"/>
    <p:sldId xmlns:r="http://schemas.openxmlformats.org/officeDocument/2006/relationships" id="265" r:id="R9fe877e4f75246d3"/>
    <p:sldId xmlns:r="http://schemas.openxmlformats.org/officeDocument/2006/relationships" id="266" r:id="Rf1f447e643be4461"/>
    <p:sldId xmlns:r="http://schemas.openxmlformats.org/officeDocument/2006/relationships" id="267" r:id="R8e8ee22b5c784a2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9c0c263cc644b85" /><Relationship Type="http://schemas.openxmlformats.org/officeDocument/2006/relationships/slideMaster" Target="/ppt/slideMasters/slideMaster1.xml" Id="R19cfb8b2845f4f8d" /><Relationship Type="http://schemas.openxmlformats.org/officeDocument/2006/relationships/notesMaster" Target="/ppt/notesMasters/notesMaster1.xml" Id="R714bcbdc674644a7" /><Relationship Type="http://schemas.openxmlformats.org/officeDocument/2006/relationships/presProps" Target="/ppt/presProps.xml" Id="R9e2e0e68879b4acb" /><Relationship Type="http://schemas.openxmlformats.org/officeDocument/2006/relationships/tableStyles" Target="/ppt/tableStyles.xml" Id="R126ca0641d7b4266" /><Relationship Type="http://schemas.openxmlformats.org/officeDocument/2006/relationships/slide" Target="/ppt/slides/slide1.xml" Id="Rcb688af847144d6a" /><Relationship Type="http://schemas.openxmlformats.org/officeDocument/2006/relationships/slide" Target="/ppt/slides/slide2.xml" Id="Rc99458adc84642cd" /><Relationship Type="http://schemas.openxmlformats.org/officeDocument/2006/relationships/slide" Target="/ppt/slides/slide3.xml" Id="Rc2eeea3e90b84e44" /><Relationship Type="http://schemas.openxmlformats.org/officeDocument/2006/relationships/slide" Target="/ppt/slides/slide4.xml" Id="R6888153fff2341de" /><Relationship Type="http://schemas.openxmlformats.org/officeDocument/2006/relationships/slide" Target="/ppt/slides/slide5.xml" Id="R57c1e58ade574093" /><Relationship Type="http://schemas.openxmlformats.org/officeDocument/2006/relationships/slide" Target="/ppt/slides/slide6.xml" Id="R5d09a744ef8145d9" /><Relationship Type="http://schemas.openxmlformats.org/officeDocument/2006/relationships/slide" Target="/ppt/slides/slide7.xml" Id="R4956586cd3c843c5" /><Relationship Type="http://schemas.openxmlformats.org/officeDocument/2006/relationships/slide" Target="/ppt/slides/slide8.xml" Id="Rf66f6ebd49c24c14" /><Relationship Type="http://schemas.openxmlformats.org/officeDocument/2006/relationships/slide" Target="/ppt/slides/slide9.xml" Id="R66630da269c94864" /><Relationship Type="http://schemas.openxmlformats.org/officeDocument/2006/relationships/slide" Target="/ppt/slides/slide10.xml" Id="R9fe877e4f75246d3" /><Relationship Type="http://schemas.openxmlformats.org/officeDocument/2006/relationships/slide" Target="/ppt/slides/slide11.xml" Id="Rf1f447e643be4461" /><Relationship Type="http://schemas.openxmlformats.org/officeDocument/2006/relationships/slide" Target="/ppt/slides/slide12.xml" Id="R8e8ee22b5c784a2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42dc5d33895467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c1d1aaca5534343" /><Relationship Type="http://schemas.openxmlformats.org/officeDocument/2006/relationships/notesMaster" Target="/ppt/notesMasters/notesMaster1.xml" Id="Rff0fa5edc23a41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9585d4e17345ba" /><Relationship Type="http://schemas.openxmlformats.org/officeDocument/2006/relationships/notesMaster" Target="/ppt/notesMasters/notesMaster1.xml" Id="R7c8e08512c914e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a65a0066a88b40f5" /><Relationship Type="http://schemas.openxmlformats.org/officeDocument/2006/relationships/notesMaster" Target="/ppt/notesMasters/notesMaster1.xml" Id="Rc02086388a0b4fcd" /></Relationships>
</file>

<file path=ppt/notesSlides/_rels/notesSlide4.xml.rels>&#65279;<?xml version="1.0" encoding="utf-8"?><Relationships xmlns="http://schemas.openxmlformats.org/package/2006/relationships"><Relationship Type="http://schemas.openxmlformats.org/officeDocument/2006/relationships/slide" Target="/ppt/slides/slide4.xml" Id="Rdb47789ae84d480f" /><Relationship Type="http://schemas.openxmlformats.org/officeDocument/2006/relationships/notesMaster" Target="/ppt/notesMasters/notesMaster1.xml" Id="Re1473b0d0b314443" /></Relationships>
</file>

<file path=ppt/notesSlides/_rels/notesSlide5.xml.rels>&#65279;<?xml version="1.0" encoding="utf-8"?><Relationships xmlns="http://schemas.openxmlformats.org/package/2006/relationships"><Relationship Type="http://schemas.openxmlformats.org/officeDocument/2006/relationships/slide" Target="/ppt/slides/slide5.xml" Id="R4ac47812dea3468e" /><Relationship Type="http://schemas.openxmlformats.org/officeDocument/2006/relationships/notesMaster" Target="/ppt/notesMasters/notesMaster1.xml" Id="R448cadea666b4eee" /></Relationships>
</file>

<file path=ppt/notesSlides/_rels/notesSlide6.xml.rels>&#65279;<?xml version="1.0" encoding="utf-8"?><Relationships xmlns="http://schemas.openxmlformats.org/package/2006/relationships"><Relationship Type="http://schemas.openxmlformats.org/officeDocument/2006/relationships/slide" Target="/ppt/slides/slide6.xml" Id="R98182c15054043e7" /><Relationship Type="http://schemas.openxmlformats.org/officeDocument/2006/relationships/notesMaster" Target="/ppt/notesMasters/notesMaster1.xml" Id="Re828d51bc3384b6c" /></Relationships>
</file>

<file path=ppt/notesSlides/_rels/notesSlide7.xml.rels>&#65279;<?xml version="1.0" encoding="utf-8"?><Relationships xmlns="http://schemas.openxmlformats.org/package/2006/relationships"><Relationship Type="http://schemas.openxmlformats.org/officeDocument/2006/relationships/slide" Target="/ppt/slides/slide7.xml" Id="Re0eeadbe131a4f62" /><Relationship Type="http://schemas.openxmlformats.org/officeDocument/2006/relationships/notesMaster" Target="/ppt/notesMasters/notesMaster1.xml" Id="R86e539865a304f8c" /></Relationships>
</file>

<file path=ppt/notesSlides/_rels/notesSlide8.xml.rels>&#65279;<?xml version="1.0" encoding="utf-8"?><Relationships xmlns="http://schemas.openxmlformats.org/package/2006/relationships"><Relationship Type="http://schemas.openxmlformats.org/officeDocument/2006/relationships/slide" Target="/ppt/slides/slide8.xml" Id="R44c3c06f34144ecd" /><Relationship Type="http://schemas.openxmlformats.org/officeDocument/2006/relationships/notesMaster" Target="/ppt/notesMasters/notesMaster1.xml" Id="Radfa92adbc8d4ddf" /></Relationships>
</file>

<file path=ppt/notesSlides/_rels/notesSlide9.xml.rels>&#65279;<?xml version="1.0" encoding="utf-8"?><Relationships xmlns="http://schemas.openxmlformats.org/package/2006/relationships"><Relationship Type="http://schemas.openxmlformats.org/officeDocument/2006/relationships/slide" Target="/ppt/slides/slide9.xml" Id="R25281e8109d84260" /><Relationship Type="http://schemas.openxmlformats.org/officeDocument/2006/relationships/notesMaster" Target="/ppt/notesMasters/notesMaster1.xml" Id="Rc0f75d34158346d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a4c1ab2803747ae" /><Relationship Type="http://schemas.openxmlformats.org/officeDocument/2006/relationships/notesMaster" Target="/ppt/notesMasters/notesMaster1.xml" Id="Rf4cbbeb99cca446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d5f0146ccf1411e" /><Relationship Type="http://schemas.openxmlformats.org/officeDocument/2006/relationships/notesMaster" Target="/ppt/notesMasters/notesMaster1.xml" Id="Rdc04b64aad8842e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20667d33b8e462a" /><Relationship Type="http://schemas.openxmlformats.org/officeDocument/2006/relationships/notesMaster" Target="/ppt/notesMasters/notesMaster1.xml" Id="Rd9691a2cc78a42d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customer problem. Platform teams already have agents. Their challenge is scaling adoption while keeping permissions, evidence, cost, and accountability visible.</a:t>
            </a:r>
          </a:p>
          <a:p xmlns:a="http://schemas.openxmlformats.org/drawingml/2006/main">
            <a:r>
              <a:t/>
            </a:r>
          </a:p>
          <a:p xmlns:a="http://schemas.openxmlformats.org/drawingml/2006/main">
            <a:r>
              <a:t>Sources:</a:t>
            </a:r>
          </a:p>
          <a:p xmlns:a="http://schemas.openxmlformats.org/drawingml/2006/main">
            <a:r>
              <a:t>- https://komodor.com/platform/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agents deliver value quickly, but each team tends to choose its own runtime, credentials, prompts, and review process. The platform team loses a reliable view of access, ownership, evidence, and cost.</a:t>
            </a:r>
          </a:p>
          <a:p xmlns:a="http://schemas.openxmlformats.org/drawingml/2006/main">
            <a:r>
              <a:t/>
            </a:r>
          </a:p>
          <a:p xmlns:a="http://schemas.openxmlformats.org/drawingml/2006/main">
            <a:r>
              <a:t>Sources:</a:t>
            </a:r>
          </a:p>
          <a:p xmlns:a="http://schemas.openxmlformats.org/drawingml/2006/main">
            <a:r>
              <a:t>- https://komodor.com/platform/run-agents/</a:t>
            </a:r>
          </a:p>
          <a:p xmlns:a="http://schemas.openxmlformats.org/drawingml/2006/main">
            <a:r>
              <a:t>- Product Architect Home Assignment.pdf, pages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core model may be capable, but production reliability comes from the infrastructure around it: permission scope, triggers, orchestration, evidence, approvals, and cost controls.</a:t>
            </a:r>
          </a:p>
          <a:p xmlns:a="http://schemas.openxmlformats.org/drawingml/2006/main">
            <a:r>
              <a:t/>
            </a:r>
          </a:p>
          <a:p xmlns:a="http://schemas.openxmlformats.org/drawingml/2006/main">
            <a:r>
              <a:t>Sources:</a:t>
            </a:r>
          </a:p>
          <a:p xmlns:a="http://schemas.openxmlformats.org/drawingml/2006/main">
            <a:r>
              <a:t>- https://komodor.com/platform/run-agents/</a:t>
            </a:r>
          </a:p>
          <a:p xmlns:a="http://schemas.openxmlformats.org/drawingml/2006/main">
            <a:r>
              <a:t>- https://komodor.com/platform/govern-agents/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KAOP provides shared infrastructure around agents: fleet management, workflow orchestration, shared context, evaluations, and governance. Teams can keep existing frameworks while the platform team applies one operating model.</a:t>
            </a:r>
          </a:p>
          <a:p xmlns:a="http://schemas.openxmlformats.org/drawingml/2006/main">
            <a:r>
              <a:t/>
            </a:r>
          </a:p>
          <a:p xmlns:a="http://schemas.openxmlformats.org/drawingml/2006/main">
            <a:r>
              <a:t>Sources:</a:t>
            </a:r>
          </a:p>
          <a:p xmlns:a="http://schemas.openxmlformats.org/drawingml/2006/main">
            <a:r>
              <a:t>- https://komodor.com/platform/</a:t>
            </a:r>
          </a:p>
          <a:p xmlns:a="http://schemas.openxmlformats.org/drawingml/2006/main">
            <a:r>
              <a:t>- https://komodor.com/platform/run-agents/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workflow matters more than one prompt. A trigger starts a bounded investigation. The agent returns a structured finding. A person reviews risky action, and KAOP keeps the run record.</a:t>
            </a:r>
          </a:p>
          <a:p xmlns:a="http://schemas.openxmlformats.org/drawingml/2006/main">
            <a:r>
              <a:t/>
            </a:r>
          </a:p>
          <a:p xmlns:a="http://schemas.openxmlformats.org/drawingml/2006/main">
            <a:r>
              <a:t>Sources:</a:t>
            </a:r>
          </a:p>
          <a:p xmlns:a="http://schemas.openxmlformats.org/drawingml/2006/main">
            <a:r>
              <a:t>- https://komodor.com/platform/run-agents/</a:t>
            </a:r>
          </a:p>
          <a:p xmlns:a="http://schemas.openxmlformats.org/drawingml/2006/main">
            <a:r>
              <a:t>- Product Architect Home Assignment.pdf, pages 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Kubernetes ServiceAccount is namespace scoped and read only. Live kubectl authorization checks return yes for Pods and no for Secrets and patching Deployments. The GitHub integration is intentionally comment only.</a:t>
            </a:r>
          </a:p>
          <a:p xmlns:a="http://schemas.openxmlformats.org/drawingml/2006/main">
            <a:r>
              <a:t/>
            </a:r>
          </a:p>
          <a:p xmlns:a="http://schemas.openxmlformats.org/drawingml/2006/main">
            <a:r>
              <a:t>Sources:</a:t>
            </a:r>
          </a:p>
          <a:p xmlns:a="http://schemas.openxmlformats.org/drawingml/2006/main">
            <a:r>
              <a:t>- https://komodor.com/platform/govern-agents/</a:t>
            </a:r>
          </a:p>
          <a:p xmlns:a="http://schemas.openxmlformats.org/drawingml/2006/main">
            <a:r>
              <a:t>- deploy/base/rbac.yaml in the demo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central fleet view and run history let platform teams inspect ownership, permissions, tool calls, policy decisions, and cost without asking every team to reconstruct the run.</a:t>
            </a:r>
          </a:p>
          <a:p xmlns:a="http://schemas.openxmlformats.org/drawingml/2006/main">
            <a:r>
              <a:t/>
            </a:r>
          </a:p>
          <a:p xmlns:a="http://schemas.openxmlformats.org/drawingml/2006/main">
            <a:r>
              <a:t>Sources:</a:t>
            </a:r>
          </a:p>
          <a:p xmlns:a="http://schemas.openxmlformats.org/drawingml/2006/main">
            <a:r>
              <a:t>- https://komodor.com/platform/run-agents/</a:t>
            </a:r>
          </a:p>
          <a:p xmlns:a="http://schemas.openxmlformats.org/drawingml/2006/main">
            <a:r>
              <a:t>- https://komodor.com/platform/govern-agents/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the demo in KAOP. Show inventory, workflow structure, permission scope, and run history before triggering the fault. The verified live run identified the Service selector mismatch, the dependency-coupled liveness probe, and the exact recovery. Then move to Grafana and the open GitHub PR.</a:t>
            </a:r>
          </a:p>
          <a:p xmlns:a="http://schemas.openxmlformats.org/drawingml/2006/main">
            <a:r>
              <a:t/>
            </a:r>
          </a:p>
          <a:p xmlns:a="http://schemas.openxmlformats.org/drawingml/2006/main">
            <a:r>
              <a:t>Sources:</a:t>
            </a:r>
          </a:p>
          <a:p xmlns:a="http://schemas.openxmlformats.org/drawingml/2006/main">
            <a:r>
              <a:t>- Product Architect Home Assignment.pdf, page 2</a:t>
            </a:r>
          </a:p>
          <a:p xmlns:a="http://schemas.openxmlformats.org/drawingml/2006/main">
            <a:r>
              <a:t>- https://kaop.komodor.com/a/hire-task-9/runs/run_e15c91fc04701d47c908ec0f</a:t>
            </a:r>
          </a:p>
          <a:p xmlns:a="http://schemas.openxmlformats.org/drawingml/2006/main">
            <a:r>
              <a:t>- https://contentcheetah182.grafana.net/alerting/grafana/fg0jdq07jv9c0e/view</a:t>
            </a:r>
          </a:p>
          <a:p xmlns:a="http://schemas.openxmlformats.org/drawingml/2006/main">
            <a:r>
              <a:t>- https://github.com/nirittere/kaop-guestbook-demo/pull/1#issuecomment-6045140326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practical adoption path starts with read only workflows and explicit outcomes. Add approvals before any write capability. Expand autonomy only when run evidence shows that the workflow behaves reliably.</a:t>
            </a:r>
          </a:p>
          <a:p xmlns:a="http://schemas.openxmlformats.org/drawingml/2006/main">
            <a:r>
              <a:t/>
            </a:r>
          </a:p>
          <a:p xmlns:a="http://schemas.openxmlformats.org/drawingml/2006/main">
            <a:r>
              <a:t>Sources:</a:t>
            </a:r>
          </a:p>
          <a:p xmlns:a="http://schemas.openxmlformats.org/drawingml/2006/main">
            <a:r>
              <a:t>- https://komodor.com/platform/govern-agents/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is intentionally small. Grafana Cloud watches the local cluster and sends an alert to KAOP. The RCA agent reads namespace evidence. GitHub hosts the open repair PR and KAOP reviewer comment.</a:t>
            </a:r>
          </a:p>
          <a:p xmlns:a="http://schemas.openxmlformats.org/drawingml/2006/main">
            <a:r>
              <a:t/>
            </a:r>
          </a:p>
          <a:p xmlns:a="http://schemas.openxmlformats.org/drawingml/2006/main">
            <a:r>
              <a:t>Sources:</a:t>
            </a:r>
          </a:p>
          <a:p xmlns:a="http://schemas.openxmlformats.org/drawingml/2006/main">
            <a:r>
              <a:t>- Product Architect Home Assignment.pdf, pages 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when the customer asks what enforces the boundary. Kubernetes RBAC denies Secret access and writes. The GitHub application is configured for repository read and pull request comments only.</a:t>
            </a:r>
          </a:p>
          <a:p xmlns:a="http://schemas.openxmlformats.org/drawingml/2006/main">
            <a:r>
              <a:t/>
            </a:r>
          </a:p>
          <a:p xmlns:a="http://schemas.openxmlformats.org/drawingml/2006/main">
            <a:r>
              <a:t>Sources:</a:t>
            </a:r>
          </a:p>
          <a:p xmlns:a="http://schemas.openxmlformats.org/drawingml/2006/main">
            <a:r>
              <a:t>- deploy/base/rbac.yaml in the demo repository</a:t>
            </a:r>
          </a:p>
          <a:p xmlns:a="http://schemas.openxmlformats.org/drawingml/2006/main">
            <a:r>
              <a:t>- https://komodor.com/platform/govern-agents/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live workflow produced a real Redis Service with no endpoints, connection failures, failed readiness and liveness probes, and seven restarts on the new frontend Pod. KAOP returned high confidence, named the mismatched role selector, identified the liveness regression, and recommended the exact repair. Recovery restored the endpoint and Grafana returned to Normal.</a:t>
            </a:r>
          </a:p>
          <a:p xmlns:a="http://schemas.openxmlformats.org/drawingml/2006/main">
            <a:r>
              <a:t/>
            </a:r>
          </a:p>
          <a:p xmlns:a="http://schemas.openxmlformats.org/drawingml/2006/main">
            <a:r>
              <a:t>Sources:</a:t>
            </a:r>
          </a:p>
          <a:p xmlns:a="http://schemas.openxmlformats.org/drawingml/2006/main">
            <a:r>
              <a:t>- Live verification from the kaop-demo cluster on 2026-10-07</a:t>
            </a:r>
          </a:p>
          <a:p xmlns:a="http://schemas.openxmlformats.org/drawingml/2006/main">
            <a:r>
              <a:t>- https://kaop.komodor.com/a/hire-task-9/runs/run_e15c91fc04701d47c908ec0f</a:t>
            </a:r>
          </a:p>
          <a:p xmlns:a="http://schemas.openxmlformats.org/drawingml/2006/main">
            <a:r>
              <a:t>- https://contentcheetah182.grafana.net/alerting/grafana/fg0jdq07jv9c0e/view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7a520eb30f14b3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58c786a35ec4d99" /><Relationship Type="http://schemas.openxmlformats.org/officeDocument/2006/relationships/slideLayout" Target="/ppt/slideLayouts/slideLayout1.xml" Id="R4c0c089cc09540e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c0c089cc09540e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604787826804712" /><Relationship Type="http://schemas.openxmlformats.org/officeDocument/2006/relationships/image" Target="/ppt/media/image.png" Id="R8ea402a810a044de" /><Relationship Type="http://schemas.openxmlformats.org/officeDocument/2006/relationships/notesSlide" Target="/ppt/notesSlides/notesSlide1.xml" Id="R919aae7d31c643e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45a8713af034de1" /><Relationship Type="http://schemas.openxmlformats.org/officeDocument/2006/relationships/notesSlide" Target="/ppt/notesSlides/notesSlide2.xml" Id="R74531e6e809c400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8cfa88d004b47a1" /><Relationship Type="http://schemas.openxmlformats.org/officeDocument/2006/relationships/notesSlide" Target="/ppt/notesSlides/notesSlide3.xml" Id="R2f155472942b4de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a6a9d6d12d842b1" /><Relationship Type="http://schemas.openxmlformats.org/officeDocument/2006/relationships/notesSlide" Target="/ppt/notesSlides/notesSlide4.xml" Id="R1a4564f7b43f423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58e8a5a38a341d4" /><Relationship Type="http://schemas.openxmlformats.org/officeDocument/2006/relationships/notesSlide" Target="/ppt/notesSlides/notesSlide5.xml" Id="Rc260a31a434e4f4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ed3b7ba8ae44f51" /><Relationship Type="http://schemas.openxmlformats.org/officeDocument/2006/relationships/notesSlide" Target="/ppt/notesSlides/notesSlide6.xml" Id="R0cdf7a740f3c41b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81c8fef3aab43c1" /><Relationship Type="http://schemas.openxmlformats.org/officeDocument/2006/relationships/notesSlide" Target="/ppt/notesSlides/notesSlide7.xml" Id="Rd018941961ca4a5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70b57f11a1e4c95" /><Relationship Type="http://schemas.openxmlformats.org/officeDocument/2006/relationships/notesSlide" Target="/ppt/notesSlides/notesSlide8.xml" Id="Rb71f42a5963c4ee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03c7be21ff6458a" /><Relationship Type="http://schemas.openxmlformats.org/officeDocument/2006/relationships/notesSlide" Target="/ppt/notesSlides/notesSlide9.xml" Id="R8b24ffd23c6f4fa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1be476fb39141cd" /><Relationship Type="http://schemas.openxmlformats.org/officeDocument/2006/relationships/notesSlide" Target="/ppt/notesSlides/notesSlide10.xml" Id="R39b9fd5ec18547a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c3cba28a35b4347" /><Relationship Type="http://schemas.openxmlformats.org/officeDocument/2006/relationships/notesSlide" Target="/ppt/notesSlides/notesSlide11.xml" Id="R079ad4a2b08a4d2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2eddf0a1e9c48fa" /><Relationship Type="http://schemas.openxmlformats.org/officeDocument/2006/relationships/notesSlide" Target="/ppt/notesSlides/notesSlide12.xml" Id="R5dfe035996464450" /></Relationships>
</file>

<file path=ppt/slides/slide1.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ea402a810a044d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7653D9F-BC58-44FD-94EE-1D6BD0C64002}"/>
              </a:ext>
            </a:extLst>
          </p:cNvPr>
          <p:cNvSpPr>
            <a:spLocks xmlns:a="http://schemas.openxmlformats.org/drawingml/2006/main" noGrp="1"/>
          </p:cNvSpPr>
          <p:nvPr/>
        </p:nvSpPr>
        <p:spPr>
          <a:xfrm xmlns:a="http://schemas.openxmlformats.org/drawingml/2006/main">
            <a:off x="723900" y="87630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54D6FF"/>
                </a:solidFill>
                <a:latin typeface="Liberation Sans"/>
                <a:ea typeface="Liberation Sans"/>
                <a:cs typeface="Liberation Sans"/>
              </a:defRPr>
            </a:pPr>
            <a:r>
              <a:rPr sz="900" b="1">
                <a:solidFill>
                  <a:srgbClr val="54D6FF"/>
                </a:solidFill>
                <a:latin typeface="Liberation Sans"/>
                <a:ea typeface="Liberation Sans"/>
                <a:cs typeface="Liberation Sans"/>
              </a:rPr>
              <a:t>PLATFORM ENGINEERING CUSTOMER PITCH</a:t>
            </a:r>
          </a:p>
        </p:txBody>
      </p:sp>
      <p:sp>
        <p:nvSpPr>
          <p:cNvPr id="3" name="">
            <a:extLst xmlns:a="http://schemas.openxmlformats.org/drawingml/2006/main">
              <a:ext uri="{FF2B5EF4-FFF2-40B4-BE49-F238E27FC236}">
                <a16:creationId xmlns:a16="http://schemas.microsoft.com/office/drawing/2014/main" id="{4871E1D7-F4DA-4B5F-90B1-1A9ABCE82D4B}"/>
              </a:ext>
            </a:extLst>
          </p:cNvPr>
          <p:cNvSpPr>
            <a:spLocks xmlns:a="http://schemas.openxmlformats.org/drawingml/2006/main" noGrp="1"/>
          </p:cNvSpPr>
          <p:nvPr/>
        </p:nvSpPr>
        <p:spPr>
          <a:xfrm xmlns:a="http://schemas.openxmlformats.org/drawingml/2006/main">
            <a:off x="685800" y="1371600"/>
            <a:ext cx="4953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5400" b="1">
                <a:solidFill>
                  <a:srgbClr val="F4F8FC"/>
                </a:solidFill>
                <a:latin typeface="Liberation Sans"/>
                <a:ea typeface="Liberation Sans"/>
                <a:cs typeface="Liberation Sans"/>
              </a:defRPr>
            </a:pPr>
            <a:r>
              <a:rPr sz="5400" b="1">
                <a:solidFill>
                  <a:srgbClr val="F4F8FC"/>
                </a:solidFill>
                <a:latin typeface="Liberation Sans"/>
                <a:ea typeface="Liberation Sans"/>
                <a:cs typeface="Liberation Sans"/>
              </a:rPr>
              <a:t>KAOP</a:t>
            </a:r>
          </a:p>
        </p:txBody>
      </p:sp>
      <p:sp>
        <p:nvSpPr>
          <p:cNvPr id="4" name="">
            <a:extLst xmlns:a="http://schemas.openxmlformats.org/drawingml/2006/main">
              <a:ext uri="{FF2B5EF4-FFF2-40B4-BE49-F238E27FC236}">
                <a16:creationId xmlns:a16="http://schemas.microsoft.com/office/drawing/2014/main" id="{4C3645B3-F77C-48D8-A0FD-B33A16274783}"/>
              </a:ext>
            </a:extLst>
          </p:cNvPr>
          <p:cNvSpPr>
            <a:spLocks xmlns:a="http://schemas.openxmlformats.org/drawingml/2006/main" noGrp="1"/>
          </p:cNvSpPr>
          <p:nvPr/>
        </p:nvSpPr>
        <p:spPr>
          <a:xfrm xmlns:a="http://schemas.openxmlformats.org/drawingml/2006/main">
            <a:off x="723900" y="22669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250" b="0">
                <a:solidFill>
                  <a:srgbClr val="F4F8FC"/>
                </a:solidFill>
                <a:latin typeface="Liberation Sans"/>
                <a:ea typeface="Liberation Sans"/>
                <a:cs typeface="Liberation Sans"/>
              </a:defRPr>
            </a:pPr>
            <a:r>
              <a:rPr sz="2250" b="0">
                <a:solidFill>
                  <a:srgbClr val="F4F8FC"/>
                </a:solidFill>
                <a:latin typeface="Liberation Sans"/>
                <a:ea typeface="Liberation Sans"/>
                <a:cs typeface="Liberation Sans"/>
              </a:rPr>
              <a:t>by Nirit Terehovsky</a:t>
            </a:r>
          </a:p>
        </p:txBody>
      </p:sp>
      <p:sp>
        <p:nvSpPr>
          <p:cNvPr id="5" name="">
            <a:extLst xmlns:a="http://schemas.openxmlformats.org/drawingml/2006/main">
              <a:ext uri="{FF2B5EF4-FFF2-40B4-BE49-F238E27FC236}">
                <a16:creationId xmlns:a16="http://schemas.microsoft.com/office/drawing/2014/main" id="{78104B8A-FDDC-40D0-8A94-78D80EB56F2D}"/>
              </a:ext>
            </a:extLst>
          </p:cNvPr>
          <p:cNvSpPr>
            <a:spLocks xmlns:a="http://schemas.openxmlformats.org/drawingml/2006/main" noGrp="1"/>
          </p:cNvSpPr>
          <p:nvPr/>
        </p:nvSpPr>
        <p:spPr>
          <a:xfrm xmlns:a="http://schemas.openxmlformats.org/drawingml/2006/main">
            <a:off x="723900" y="31432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800" b="0">
                <a:solidFill>
                  <a:srgbClr val="A6B7C8"/>
                </a:solidFill>
                <a:latin typeface="Liberation Sans"/>
                <a:ea typeface="Liberation Sans"/>
                <a:cs typeface="Liberation Sans"/>
              </a:defRPr>
            </a:pPr>
            <a:r>
              <a:rPr sz="1800" b="0">
                <a:solidFill>
                  <a:srgbClr val="A6B7C8"/>
                </a:solidFill>
                <a:latin typeface="Liberation Sans"/>
                <a:ea typeface="Liberation Sans"/>
                <a:cs typeface="Liberation Sans"/>
              </a:rPr>
              <a:t>A governed operating layer for production agents</a:t>
            </a:r>
          </a:p>
        </p:txBody>
      </p:sp>
      <p:sp>
        <p:nvSpPr>
          <p:cNvPr id="6" name="">
            <a:extLst xmlns:a="http://schemas.openxmlformats.org/drawingml/2006/main">
              <a:ext uri="{FF2B5EF4-FFF2-40B4-BE49-F238E27FC236}">
                <a16:creationId xmlns:a16="http://schemas.microsoft.com/office/drawing/2014/main" id="{3F023DA2-F3F6-4858-87D1-4B5396270EA7}"/>
              </a:ext>
            </a:extLst>
          </p:cNvPr>
          <p:cNvSpPr>
            <a:spLocks xmlns:a="http://schemas.openxmlformats.org/drawingml/2006/main" noGrp="1"/>
          </p:cNvSpPr>
          <p:nvPr/>
        </p:nvSpPr>
        <p:spPr>
          <a:xfrm xmlns:a="http://schemas.openxmlformats.org/drawingml/2006/main">
            <a:off x="723900" y="5829300"/>
            <a:ext cx="457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125" b="0">
                <a:solidFill>
                  <a:srgbClr val="A6B7C8"/>
                </a:solidFill>
                <a:latin typeface="Liberation Sans"/>
                <a:ea typeface="Liberation Sans"/>
                <a:cs typeface="Liberation Sans"/>
              </a:defRPr>
            </a:pPr>
            <a:r>
              <a:rPr sz="1125" b="0">
                <a:solidFill>
                  <a:srgbClr val="A6B7C8"/>
                </a:solidFill>
                <a:latin typeface="Liberation Sans"/>
                <a:ea typeface="Liberation Sans"/>
                <a:cs typeface="Liberation Sans"/>
              </a:rPr>
              <a:t>Customer presentation and live platform tour</a:t>
            </a:r>
          </a:p>
        </p:txBody>
      </p:sp>
    </p:spTree>
    <p:extLst>
      <p:ext uri="{BB962C8B-B14F-4D97-AF65-F5344CB8AC3E}">
        <p14:creationId xmlns:p14="http://schemas.microsoft.com/office/powerpoint/2010/main" val="1037027699"/>
      </p:ext>
    </p:extLst>
  </p:cSld>
</p:sld>
</file>

<file path=ppt/slides/slide2.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FE7A869C-CBB5-48CB-82BB-632B1EC1A3CD}"/>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54D6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CBD931-DD91-4BFA-91E4-A368F12D1222}"/>
              </a:ext>
            </a:extLst>
          </p:cNvPr>
          <p:cNvSpPr>
            <a:spLocks xmlns:a="http://schemas.openxmlformats.org/drawingml/2006/main" noGrp="1"/>
          </p:cNvSpPr>
          <p:nvPr/>
        </p:nvSpPr>
        <p:spPr>
          <a:xfrm xmlns:a="http://schemas.openxmlformats.org/drawingml/2006/main">
            <a:off x="590550" y="4000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550" b="1">
                <a:solidFill>
                  <a:srgbClr val="F4F8FC"/>
                </a:solidFill>
                <a:latin typeface="Liberation Sans"/>
                <a:ea typeface="Liberation Sans"/>
                <a:cs typeface="Liberation Sans"/>
              </a:defRPr>
            </a:pPr>
            <a:r>
              <a:rPr sz="2550" b="1">
                <a:solidFill>
                  <a:srgbClr val="F4F8FC"/>
                </a:solidFill>
                <a:latin typeface="Liberation Sans"/>
                <a:ea typeface="Liberation Sans"/>
                <a:cs typeface="Liberation Sans"/>
              </a:rPr>
              <a:t>The agent sprawl problem</a:t>
            </a:r>
          </a:p>
        </p:txBody>
      </p:sp>
      <p:sp>
        <p:nvSpPr>
          <p:cNvPr id="3" name="">
            <a:extLst xmlns:a="http://schemas.openxmlformats.org/drawingml/2006/main">
              <a:ext uri="{FF2B5EF4-FFF2-40B4-BE49-F238E27FC236}">
                <a16:creationId xmlns:a16="http://schemas.microsoft.com/office/drawing/2014/main" id="{AE036D0F-0F65-461F-B184-E408D5E0F2B8}"/>
              </a:ext>
            </a:extLst>
          </p:cNvPr>
          <p:cNvSpPr>
            <a:spLocks xmlns:a="http://schemas.openxmlformats.org/drawingml/2006/main" noGrp="1"/>
          </p:cNvSpPr>
          <p:nvPr/>
        </p:nvSpPr>
        <p:spPr>
          <a:xfrm xmlns:a="http://schemas.openxmlformats.org/drawingml/2006/main">
            <a:off x="609600" y="9334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Independent adoption creates an operating problem for the platform team</a:t>
            </a:r>
          </a:p>
        </p:txBody>
      </p:sp>
      <p:sp>
        <p:nvSpPr>
          <p:cNvPr id="4" name="">
            <a:extLst xmlns:a="http://schemas.openxmlformats.org/drawingml/2006/main">
              <a:ext uri="{FF2B5EF4-FFF2-40B4-BE49-F238E27FC236}">
                <a16:creationId xmlns:a16="http://schemas.microsoft.com/office/drawing/2014/main" id="{2FBF537F-A660-4CE8-8AEA-E154D016C6CC}"/>
              </a:ext>
            </a:extLst>
          </p:cNvPr>
          <p:cNvSpPr>
            <a:spLocks xmlns:a="http://schemas.openxmlformats.org/drawingml/2006/main" noGrp="1"/>
          </p:cNvSpPr>
          <p:nvPr/>
        </p:nvSpPr>
        <p:spPr>
          <a:xfrm xmlns:a="http://schemas.openxmlformats.org/drawingml/2006/main">
            <a:off x="11258550" y="62293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02</a:t>
            </a:r>
          </a:p>
        </p:txBody>
      </p:sp>
      <p:sp>
        <p:nvSpPr>
          <p:cNvPr id="5" name="">
            <a:extLst xmlns:a="http://schemas.openxmlformats.org/drawingml/2006/main">
              <a:ext uri="{FF2B5EF4-FFF2-40B4-BE49-F238E27FC236}">
                <a16:creationId xmlns:a16="http://schemas.microsoft.com/office/drawing/2014/main" id="{FF133A60-4314-4F0A-BEC7-CC045E599131}"/>
              </a:ext>
            </a:extLst>
          </p:cNvPr>
          <p:cNvSpPr>
            <a:spLocks xmlns:a="http://schemas.openxmlformats.org/drawingml/2006/main" noGrp="1"/>
          </p:cNvSpPr>
          <p:nvPr/>
        </p:nvSpPr>
        <p:spPr>
          <a:xfrm xmlns:a="http://schemas.openxmlformats.org/drawingml/2006/main">
            <a:off x="590550" y="62293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KAOP by Nirit Terehovsky</a:t>
            </a:r>
          </a:p>
        </p:txBody>
      </p:sp>
      <p:sp>
        <p:nvSpPr>
          <p:cNvPr id="6" name="">
            <a:extLst xmlns:a="http://schemas.openxmlformats.org/drawingml/2006/main">
              <a:ext uri="{FF2B5EF4-FFF2-40B4-BE49-F238E27FC236}">
                <a16:creationId xmlns:a16="http://schemas.microsoft.com/office/drawing/2014/main" id="{97271589-6700-4DEA-ABBE-A9741AEF72A6}"/>
              </a:ext>
            </a:extLst>
          </p:cNvPr>
          <p:cNvSpPr>
            <a:spLocks xmlns:a="http://schemas.openxmlformats.org/drawingml/2006/main" noGrp="1"/>
          </p:cNvSpPr>
          <p:nvPr/>
        </p:nvSpPr>
        <p:spPr>
          <a:xfrm xmlns:a="http://schemas.openxmlformats.org/drawingml/2006/main">
            <a:off x="781050" y="1562100"/>
            <a:ext cx="514350" cy="514350"/>
          </a:xfrm>
          <a:prstGeom xmlns:a="http://schemas.openxmlformats.org/drawingml/2006/main" prst="ellipse">
            <a:avLst/>
          </a:prstGeom>
          <a:solidFill xmlns:a="http://schemas.openxmlformats.org/drawingml/2006/main">
            <a:srgbClr val="54D6F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6E03358-1C66-4961-9B52-9189354DCE9F}"/>
              </a:ext>
            </a:extLst>
          </p:cNvPr>
          <p:cNvSpPr>
            <a:spLocks xmlns:a="http://schemas.openxmlformats.org/drawingml/2006/main" noGrp="1"/>
          </p:cNvSpPr>
          <p:nvPr/>
        </p:nvSpPr>
        <p:spPr>
          <a:xfrm xmlns:a="http://schemas.openxmlformats.org/drawingml/2006/main">
            <a:off x="1504950" y="15430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defRPr sz="1425" b="1">
                <a:solidFill>
                  <a:srgbClr val="F4F8FC"/>
                </a:solidFill>
                <a:latin typeface="Liberation Sans"/>
                <a:ea typeface="Liberation Sans"/>
                <a:cs typeface="Liberation Sans"/>
              </a:defRPr>
            </a:pPr>
            <a:r>
              <a:rPr sz="1425" b="1">
                <a:solidFill>
                  <a:srgbClr val="F4F8FC"/>
                </a:solidFill>
                <a:latin typeface="Liberation Sans"/>
                <a:ea typeface="Liberation Sans"/>
                <a:cs typeface="Liberation Sans"/>
              </a:rPr>
              <a:t>App team</a:t>
            </a:r>
          </a:p>
        </p:txBody>
      </p:sp>
      <p:sp>
        <p:nvSpPr>
          <p:cNvPr id="8" name="">
            <a:extLst xmlns:a="http://schemas.openxmlformats.org/drawingml/2006/main">
              <a:ext uri="{FF2B5EF4-FFF2-40B4-BE49-F238E27FC236}">
                <a16:creationId xmlns:a16="http://schemas.microsoft.com/office/drawing/2014/main" id="{F692AB01-0130-42C2-A6AC-914BD458897A}"/>
              </a:ext>
            </a:extLst>
          </p:cNvPr>
          <p:cNvSpPr>
            <a:spLocks xmlns:a="http://schemas.openxmlformats.org/drawingml/2006/main" noGrp="1"/>
          </p:cNvSpPr>
          <p:nvPr/>
        </p:nvSpPr>
        <p:spPr>
          <a:xfrm xmlns:a="http://schemas.openxmlformats.org/drawingml/2006/main">
            <a:off x="1504950" y="1828800"/>
            <a:ext cx="1809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defRPr sz="1125" b="0">
                <a:solidFill>
                  <a:srgbClr val="A6B7C8"/>
                </a:solidFill>
                <a:latin typeface="Liberation Sans"/>
                <a:ea typeface="Liberation Sans"/>
                <a:cs typeface="Liberation Sans"/>
              </a:defRPr>
            </a:pPr>
            <a:r>
              <a:rPr sz="1125" b="0">
                <a:solidFill>
                  <a:srgbClr val="A6B7C8"/>
                </a:solidFill>
                <a:latin typeface="Liberation Sans"/>
                <a:ea typeface="Liberation Sans"/>
                <a:cs typeface="Liberation Sans"/>
              </a:rPr>
              <a:t>Coding agent</a:t>
            </a:r>
          </a:p>
        </p:txBody>
      </p:sp>
      <p:sp>
        <p:nvSpPr>
          <p:cNvPr id="9" name="">
            <a:extLst xmlns:a="http://schemas.openxmlformats.org/drawingml/2006/main">
              <a:ext uri="{FF2B5EF4-FFF2-40B4-BE49-F238E27FC236}">
                <a16:creationId xmlns:a16="http://schemas.microsoft.com/office/drawing/2014/main" id="{D82C898D-7378-430B-BEE6-48A00EFA7561}"/>
              </a:ext>
            </a:extLst>
          </p:cNvPr>
          <p:cNvSpPr>
            <a:spLocks xmlns:a="http://schemas.openxmlformats.org/drawingml/2006/main" noGrp="1"/>
          </p:cNvSpPr>
          <p:nvPr/>
        </p:nvSpPr>
        <p:spPr>
          <a:xfrm xmlns:a="http://schemas.openxmlformats.org/drawingml/2006/main">
            <a:off x="3333750" y="1819275"/>
            <a:ext cx="1581150" cy="0"/>
          </a:xfrm>
          <a:prstGeom xmlns:a="http://schemas.openxmlformats.org/drawingml/2006/main" prst="line">
            <a:avLst/>
          </a:prstGeom>
          <a:noFill xmlns:a="http://schemas.openxmlformats.org/drawingml/2006/main"/>
          <a:ln xmlns:a="http://schemas.openxmlformats.org/drawingml/2006/main" w="14288">
            <a:solidFill>
              <a:srgbClr val="54D6FF"/>
            </a:solidFill>
            <a:prstDash val="solid"/>
          </a:ln>
        </p:spPr>
      </p:sp>
      <p:sp>
        <p:nvSpPr>
          <p:cNvPr id="10" name="">
            <a:extLst xmlns:a="http://schemas.openxmlformats.org/drawingml/2006/main">
              <a:ext uri="{FF2B5EF4-FFF2-40B4-BE49-F238E27FC236}">
                <a16:creationId xmlns:a16="http://schemas.microsoft.com/office/drawing/2014/main" id="{8B31B686-2B37-4B5A-8CB8-12860C190B10}"/>
              </a:ext>
            </a:extLst>
          </p:cNvPr>
          <p:cNvSpPr>
            <a:spLocks xmlns:a="http://schemas.openxmlformats.org/drawingml/2006/main" noGrp="1"/>
          </p:cNvSpPr>
          <p:nvPr/>
        </p:nvSpPr>
        <p:spPr>
          <a:xfrm xmlns:a="http://schemas.openxmlformats.org/drawingml/2006/main">
            <a:off x="781050" y="2590800"/>
            <a:ext cx="514350" cy="514350"/>
          </a:xfrm>
          <a:prstGeom xmlns:a="http://schemas.openxmlformats.org/drawingml/2006/main" prst="ellipse">
            <a:avLst/>
          </a:prstGeom>
          <a:solidFill xmlns:a="http://schemas.openxmlformats.org/drawingml/2006/main">
            <a:srgbClr val="9A7BF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13A46E2-642D-48E0-B872-BE3F5D207F06}"/>
              </a:ext>
            </a:extLst>
          </p:cNvPr>
          <p:cNvSpPr>
            <a:spLocks xmlns:a="http://schemas.openxmlformats.org/drawingml/2006/main" noGrp="1"/>
          </p:cNvSpPr>
          <p:nvPr/>
        </p:nvSpPr>
        <p:spPr>
          <a:xfrm xmlns:a="http://schemas.openxmlformats.org/drawingml/2006/main">
            <a:off x="1504950" y="25717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defRPr sz="1425" b="1">
                <a:solidFill>
                  <a:srgbClr val="F4F8FC"/>
                </a:solidFill>
                <a:latin typeface="Liberation Sans"/>
                <a:ea typeface="Liberation Sans"/>
                <a:cs typeface="Liberation Sans"/>
              </a:defRPr>
            </a:pPr>
            <a:r>
              <a:rPr sz="1425" b="1">
                <a:solidFill>
                  <a:srgbClr val="F4F8FC"/>
                </a:solidFill>
                <a:latin typeface="Liberation Sans"/>
                <a:ea typeface="Liberation Sans"/>
                <a:cs typeface="Liberation Sans"/>
              </a:rPr>
              <a:t>SRE</a:t>
            </a:r>
          </a:p>
        </p:txBody>
      </p:sp>
      <p:sp>
        <p:nvSpPr>
          <p:cNvPr id="12" name="">
            <a:extLst xmlns:a="http://schemas.openxmlformats.org/drawingml/2006/main">
              <a:ext uri="{FF2B5EF4-FFF2-40B4-BE49-F238E27FC236}">
                <a16:creationId xmlns:a16="http://schemas.microsoft.com/office/drawing/2014/main" id="{C161EC18-A1CC-4859-890F-31F9AD38C10F}"/>
              </a:ext>
            </a:extLst>
          </p:cNvPr>
          <p:cNvSpPr>
            <a:spLocks xmlns:a="http://schemas.openxmlformats.org/drawingml/2006/main" noGrp="1"/>
          </p:cNvSpPr>
          <p:nvPr/>
        </p:nvSpPr>
        <p:spPr>
          <a:xfrm xmlns:a="http://schemas.openxmlformats.org/drawingml/2006/main">
            <a:off x="1504950" y="2857500"/>
            <a:ext cx="1809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defRPr sz="1125" b="0">
                <a:solidFill>
                  <a:srgbClr val="A6B7C8"/>
                </a:solidFill>
                <a:latin typeface="Liberation Sans"/>
                <a:ea typeface="Liberation Sans"/>
                <a:cs typeface="Liberation Sans"/>
              </a:defRPr>
            </a:pPr>
            <a:r>
              <a:rPr sz="1125" b="0">
                <a:solidFill>
                  <a:srgbClr val="A6B7C8"/>
                </a:solidFill>
                <a:latin typeface="Liberation Sans"/>
                <a:ea typeface="Liberation Sans"/>
                <a:cs typeface="Liberation Sans"/>
              </a:rPr>
              <a:t>Incident agent</a:t>
            </a:r>
          </a:p>
        </p:txBody>
      </p:sp>
      <p:sp>
        <p:nvSpPr>
          <p:cNvPr id="13" name="">
            <a:extLst xmlns:a="http://schemas.openxmlformats.org/drawingml/2006/main">
              <a:ext uri="{FF2B5EF4-FFF2-40B4-BE49-F238E27FC236}">
                <a16:creationId xmlns:a16="http://schemas.microsoft.com/office/drawing/2014/main" id="{DBC2D867-00A7-4807-8353-5B900348F1EE}"/>
              </a:ext>
            </a:extLst>
          </p:cNvPr>
          <p:cNvSpPr>
            <a:spLocks xmlns:a="http://schemas.openxmlformats.org/drawingml/2006/main" noGrp="1"/>
          </p:cNvSpPr>
          <p:nvPr/>
        </p:nvSpPr>
        <p:spPr>
          <a:xfrm xmlns:a="http://schemas.openxmlformats.org/drawingml/2006/main">
            <a:off x="3333750" y="2847975"/>
            <a:ext cx="1581150" cy="0"/>
          </a:xfrm>
          <a:prstGeom xmlns:a="http://schemas.openxmlformats.org/drawingml/2006/main" prst="line">
            <a:avLst/>
          </a:prstGeom>
          <a:noFill xmlns:a="http://schemas.openxmlformats.org/drawingml/2006/main"/>
          <a:ln xmlns:a="http://schemas.openxmlformats.org/drawingml/2006/main" w="14288">
            <a:solidFill>
              <a:srgbClr val="9A7BFF"/>
            </a:solidFill>
            <a:prstDash val="solid"/>
          </a:ln>
        </p:spPr>
      </p:sp>
      <p:sp>
        <p:nvSpPr>
          <p:cNvPr id="14" name="">
            <a:extLst xmlns:a="http://schemas.openxmlformats.org/drawingml/2006/main">
              <a:ext uri="{FF2B5EF4-FFF2-40B4-BE49-F238E27FC236}">
                <a16:creationId xmlns:a16="http://schemas.microsoft.com/office/drawing/2014/main" id="{C2E5AA1F-4E47-4EAF-801D-9E12BE709370}"/>
              </a:ext>
            </a:extLst>
          </p:cNvPr>
          <p:cNvSpPr>
            <a:spLocks xmlns:a="http://schemas.openxmlformats.org/drawingml/2006/main" noGrp="1"/>
          </p:cNvSpPr>
          <p:nvPr/>
        </p:nvSpPr>
        <p:spPr>
          <a:xfrm xmlns:a="http://schemas.openxmlformats.org/drawingml/2006/main">
            <a:off x="781050" y="3619500"/>
            <a:ext cx="514350" cy="514350"/>
          </a:xfrm>
          <a:prstGeom xmlns:a="http://schemas.openxmlformats.org/drawingml/2006/main" prst="ellipse">
            <a:avLst/>
          </a:prstGeom>
          <a:solidFill xmlns:a="http://schemas.openxmlformats.org/drawingml/2006/main">
            <a:srgbClr val="68E1C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C3109C4-843E-4F8A-871C-1EE9EC1E50DC}"/>
              </a:ext>
            </a:extLst>
          </p:cNvPr>
          <p:cNvSpPr>
            <a:spLocks xmlns:a="http://schemas.openxmlformats.org/drawingml/2006/main" noGrp="1"/>
          </p:cNvSpPr>
          <p:nvPr/>
        </p:nvSpPr>
        <p:spPr>
          <a:xfrm xmlns:a="http://schemas.openxmlformats.org/drawingml/2006/main">
            <a:off x="1504950" y="36004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defRPr sz="1425" b="1">
                <a:solidFill>
                  <a:srgbClr val="F4F8FC"/>
                </a:solidFill>
                <a:latin typeface="Liberation Sans"/>
                <a:ea typeface="Liberation Sans"/>
                <a:cs typeface="Liberation Sans"/>
              </a:defRPr>
            </a:pPr>
            <a:r>
              <a:rPr sz="1425" b="1">
                <a:solidFill>
                  <a:srgbClr val="F4F8FC"/>
                </a:solidFill>
                <a:latin typeface="Liberation Sans"/>
                <a:ea typeface="Liberation Sans"/>
                <a:cs typeface="Liberation Sans"/>
              </a:rPr>
              <a:t>FinOps</a:t>
            </a:r>
          </a:p>
        </p:txBody>
      </p:sp>
      <p:sp>
        <p:nvSpPr>
          <p:cNvPr id="16" name="">
            <a:extLst xmlns:a="http://schemas.openxmlformats.org/drawingml/2006/main">
              <a:ext uri="{FF2B5EF4-FFF2-40B4-BE49-F238E27FC236}">
                <a16:creationId xmlns:a16="http://schemas.microsoft.com/office/drawing/2014/main" id="{04DC71FA-4789-40F9-B736-B835CF8A8420}"/>
              </a:ext>
            </a:extLst>
          </p:cNvPr>
          <p:cNvSpPr>
            <a:spLocks xmlns:a="http://schemas.openxmlformats.org/drawingml/2006/main" noGrp="1"/>
          </p:cNvSpPr>
          <p:nvPr/>
        </p:nvSpPr>
        <p:spPr>
          <a:xfrm xmlns:a="http://schemas.openxmlformats.org/drawingml/2006/main">
            <a:off x="1504950" y="3886200"/>
            <a:ext cx="1809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defRPr sz="1125" b="0">
                <a:solidFill>
                  <a:srgbClr val="A6B7C8"/>
                </a:solidFill>
                <a:latin typeface="Liberation Sans"/>
                <a:ea typeface="Liberation Sans"/>
                <a:cs typeface="Liberation Sans"/>
              </a:defRPr>
            </a:pPr>
            <a:r>
              <a:rPr sz="1125" b="0">
                <a:solidFill>
                  <a:srgbClr val="A6B7C8"/>
                </a:solidFill>
                <a:latin typeface="Liberation Sans"/>
                <a:ea typeface="Liberation Sans"/>
                <a:cs typeface="Liberation Sans"/>
              </a:rPr>
              <a:t>Cost agent</a:t>
            </a:r>
          </a:p>
        </p:txBody>
      </p:sp>
      <p:sp>
        <p:nvSpPr>
          <p:cNvPr id="17" name="">
            <a:extLst xmlns:a="http://schemas.openxmlformats.org/drawingml/2006/main">
              <a:ext uri="{FF2B5EF4-FFF2-40B4-BE49-F238E27FC236}">
                <a16:creationId xmlns:a16="http://schemas.microsoft.com/office/drawing/2014/main" id="{38B5F21A-D999-4D26-BBA9-F3E5B06713B4}"/>
              </a:ext>
            </a:extLst>
          </p:cNvPr>
          <p:cNvSpPr>
            <a:spLocks xmlns:a="http://schemas.openxmlformats.org/drawingml/2006/main" noGrp="1"/>
          </p:cNvSpPr>
          <p:nvPr/>
        </p:nvSpPr>
        <p:spPr>
          <a:xfrm xmlns:a="http://schemas.openxmlformats.org/drawingml/2006/main">
            <a:off x="3333750" y="3876675"/>
            <a:ext cx="1581150" cy="0"/>
          </a:xfrm>
          <a:prstGeom xmlns:a="http://schemas.openxmlformats.org/drawingml/2006/main" prst="line">
            <a:avLst/>
          </a:prstGeom>
          <a:noFill xmlns:a="http://schemas.openxmlformats.org/drawingml/2006/main"/>
          <a:ln xmlns:a="http://schemas.openxmlformats.org/drawingml/2006/main" w="14288">
            <a:solidFill>
              <a:srgbClr val="68E1C4"/>
            </a:solidFill>
            <a:prstDash val="solid"/>
          </a:ln>
        </p:spPr>
      </p:sp>
      <p:sp>
        <p:nvSpPr>
          <p:cNvPr id="18" name="">
            <a:extLst xmlns:a="http://schemas.openxmlformats.org/drawingml/2006/main">
              <a:ext uri="{FF2B5EF4-FFF2-40B4-BE49-F238E27FC236}">
                <a16:creationId xmlns:a16="http://schemas.microsoft.com/office/drawing/2014/main" id="{107730DF-A55D-4E97-97AB-51A40224FEDB}"/>
              </a:ext>
            </a:extLst>
          </p:cNvPr>
          <p:cNvSpPr>
            <a:spLocks xmlns:a="http://schemas.openxmlformats.org/drawingml/2006/main" noGrp="1"/>
          </p:cNvSpPr>
          <p:nvPr/>
        </p:nvSpPr>
        <p:spPr>
          <a:xfrm xmlns:a="http://schemas.openxmlformats.org/drawingml/2006/main">
            <a:off x="781050" y="4648200"/>
            <a:ext cx="514350" cy="514350"/>
          </a:xfrm>
          <a:prstGeom xmlns:a="http://schemas.openxmlformats.org/drawingml/2006/main" prst="ellipse">
            <a:avLst/>
          </a:prstGeom>
          <a:solidFill xmlns:a="http://schemas.openxmlformats.org/drawingml/2006/main">
            <a:srgbClr val="FFCA6B"/>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F7B9C77-391E-4F22-B833-2761E2456B1F}"/>
              </a:ext>
            </a:extLst>
          </p:cNvPr>
          <p:cNvSpPr>
            <a:spLocks xmlns:a="http://schemas.openxmlformats.org/drawingml/2006/main" noGrp="1"/>
          </p:cNvSpPr>
          <p:nvPr/>
        </p:nvSpPr>
        <p:spPr>
          <a:xfrm xmlns:a="http://schemas.openxmlformats.org/drawingml/2006/main">
            <a:off x="1504950" y="46291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defRPr sz="1425" b="1">
                <a:solidFill>
                  <a:srgbClr val="F4F8FC"/>
                </a:solidFill>
                <a:latin typeface="Liberation Sans"/>
                <a:ea typeface="Liberation Sans"/>
                <a:cs typeface="Liberation Sans"/>
              </a:defRPr>
            </a:pPr>
            <a:r>
              <a:rPr sz="1425" b="1">
                <a:solidFill>
                  <a:srgbClr val="F4F8FC"/>
                </a:solidFill>
                <a:latin typeface="Liberation Sans"/>
                <a:ea typeface="Liberation Sans"/>
                <a:cs typeface="Liberation Sans"/>
              </a:rPr>
              <a:t>Security</a:t>
            </a:r>
          </a:p>
        </p:txBody>
      </p:sp>
      <p:sp>
        <p:nvSpPr>
          <p:cNvPr id="20" name="">
            <a:extLst xmlns:a="http://schemas.openxmlformats.org/drawingml/2006/main">
              <a:ext uri="{FF2B5EF4-FFF2-40B4-BE49-F238E27FC236}">
                <a16:creationId xmlns:a16="http://schemas.microsoft.com/office/drawing/2014/main" id="{DDAB7083-A8DF-4DC1-9772-C7180B684D6C}"/>
              </a:ext>
            </a:extLst>
          </p:cNvPr>
          <p:cNvSpPr>
            <a:spLocks xmlns:a="http://schemas.openxmlformats.org/drawingml/2006/main" noGrp="1"/>
          </p:cNvSpPr>
          <p:nvPr/>
        </p:nvSpPr>
        <p:spPr>
          <a:xfrm xmlns:a="http://schemas.openxmlformats.org/drawingml/2006/main">
            <a:off x="1504950" y="4914900"/>
            <a:ext cx="1809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defRPr sz="1125" b="0">
                <a:solidFill>
                  <a:srgbClr val="A6B7C8"/>
                </a:solidFill>
                <a:latin typeface="Liberation Sans"/>
                <a:ea typeface="Liberation Sans"/>
                <a:cs typeface="Liberation Sans"/>
              </a:defRPr>
            </a:pPr>
            <a:r>
              <a:rPr sz="1125" b="0">
                <a:solidFill>
                  <a:srgbClr val="A6B7C8"/>
                </a:solidFill>
                <a:latin typeface="Liberation Sans"/>
                <a:ea typeface="Liberation Sans"/>
                <a:cs typeface="Liberation Sans"/>
              </a:rPr>
              <a:t>Policy agent</a:t>
            </a:r>
          </a:p>
        </p:txBody>
      </p:sp>
      <p:sp>
        <p:nvSpPr>
          <p:cNvPr id="21" name="">
            <a:extLst xmlns:a="http://schemas.openxmlformats.org/drawingml/2006/main">
              <a:ext uri="{FF2B5EF4-FFF2-40B4-BE49-F238E27FC236}">
                <a16:creationId xmlns:a16="http://schemas.microsoft.com/office/drawing/2014/main" id="{2A6A5F50-4C11-41C2-911E-12042808C070}"/>
              </a:ext>
            </a:extLst>
          </p:cNvPr>
          <p:cNvSpPr>
            <a:spLocks xmlns:a="http://schemas.openxmlformats.org/drawingml/2006/main" noGrp="1"/>
          </p:cNvSpPr>
          <p:nvPr/>
        </p:nvSpPr>
        <p:spPr>
          <a:xfrm xmlns:a="http://schemas.openxmlformats.org/drawingml/2006/main">
            <a:off x="3333750" y="4905375"/>
            <a:ext cx="1581150" cy="0"/>
          </a:xfrm>
          <a:prstGeom xmlns:a="http://schemas.openxmlformats.org/drawingml/2006/main" prst="line">
            <a:avLst/>
          </a:prstGeom>
          <a:noFill xmlns:a="http://schemas.openxmlformats.org/drawingml/2006/main"/>
          <a:ln xmlns:a="http://schemas.openxmlformats.org/drawingml/2006/main" w="14288">
            <a:solidFill>
              <a:srgbClr val="FFCA6B"/>
            </a:solidFill>
            <a:prstDash val="solid"/>
          </a:ln>
        </p:spPr>
      </p:sp>
      <p:sp>
        <p:nvSpPr>
          <p:cNvPr id="22" name="">
            <a:extLst xmlns:a="http://schemas.openxmlformats.org/drawingml/2006/main">
              <a:ext uri="{FF2B5EF4-FFF2-40B4-BE49-F238E27FC236}">
                <a16:creationId xmlns:a16="http://schemas.microsoft.com/office/drawing/2014/main" id="{151545EA-FF7C-4AE3-8DAB-6777C39F413C}"/>
              </a:ext>
            </a:extLst>
          </p:cNvPr>
          <p:cNvSpPr>
            <a:spLocks xmlns:a="http://schemas.openxmlformats.org/drawingml/2006/main" noGrp="1"/>
          </p:cNvSpPr>
          <p:nvPr/>
        </p:nvSpPr>
        <p:spPr>
          <a:xfrm xmlns:a="http://schemas.openxmlformats.org/drawingml/2006/main">
            <a:off x="5048250" y="1543050"/>
            <a:ext cx="6191250" cy="4095750"/>
          </a:xfrm>
          <a:prstGeom xmlns:a="http://schemas.openxmlformats.org/drawingml/2006/main" prst="roundRect">
            <a:avLst>
              <a:gd name="adj" fmla="val 5581"/>
            </a:avLst>
          </a:prstGeom>
          <a:solidFill xmlns:a="http://schemas.openxmlformats.org/drawingml/2006/main">
            <a:srgbClr val="102338"/>
          </a:solidFill>
          <a:ln xmlns:a="http://schemas.openxmlformats.org/drawingml/2006/main" w="14288">
            <a:solidFill>
              <a:srgbClr val="29445D"/>
            </a:solidFill>
            <a:prstDash val="solid"/>
          </a:ln>
        </p:spPr>
      </p:sp>
      <p:sp>
        <p:nvSpPr>
          <p:cNvPr id="23" name="">
            <a:extLst xmlns:a="http://schemas.openxmlformats.org/drawingml/2006/main">
              <a:ext uri="{FF2B5EF4-FFF2-40B4-BE49-F238E27FC236}">
                <a16:creationId xmlns:a16="http://schemas.microsoft.com/office/drawing/2014/main" id="{25268148-7F84-44A2-8E0A-A2553C9C578F}"/>
              </a:ext>
            </a:extLst>
          </p:cNvPr>
          <p:cNvSpPr>
            <a:spLocks xmlns:a="http://schemas.openxmlformats.org/drawingml/2006/main" noGrp="1"/>
          </p:cNvSpPr>
          <p:nvPr/>
        </p:nvSpPr>
        <p:spPr>
          <a:xfrm xmlns:a="http://schemas.openxmlformats.org/drawingml/2006/main">
            <a:off x="5467350" y="1866900"/>
            <a:ext cx="228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FF7285"/>
                </a:solidFill>
                <a:latin typeface="Liberation Sans"/>
                <a:ea typeface="Liberation Sans"/>
                <a:cs typeface="Liberation Sans"/>
              </a:defRPr>
            </a:pPr>
            <a:r>
              <a:rPr sz="900" b="1">
                <a:solidFill>
                  <a:srgbClr val="FF7285"/>
                </a:solidFill>
                <a:latin typeface="Liberation Sans"/>
                <a:ea typeface="Liberation Sans"/>
                <a:cs typeface="Liberation Sans"/>
              </a:rPr>
              <a:t>PLATFORM QUESTIONS</a:t>
            </a:r>
          </a:p>
        </p:txBody>
      </p:sp>
      <p:sp>
        <p:nvSpPr>
          <p:cNvPr id="24" name="">
            <a:extLst xmlns:a="http://schemas.openxmlformats.org/drawingml/2006/main">
              <a:ext uri="{FF2B5EF4-FFF2-40B4-BE49-F238E27FC236}">
                <a16:creationId xmlns:a16="http://schemas.microsoft.com/office/drawing/2014/main" id="{86662A1C-0A49-461A-87A2-70F4C16C382C}"/>
              </a:ext>
            </a:extLst>
          </p:cNvPr>
          <p:cNvSpPr>
            <a:spLocks xmlns:a="http://schemas.openxmlformats.org/drawingml/2006/main" noGrp="1"/>
          </p:cNvSpPr>
          <p:nvPr/>
        </p:nvSpPr>
        <p:spPr>
          <a:xfrm xmlns:a="http://schemas.openxmlformats.org/drawingml/2006/main">
            <a:off x="5467350" y="23241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650" b="0">
                <a:solidFill>
                  <a:srgbClr val="A6B7C8"/>
                </a:solidFill>
                <a:latin typeface="Liberation Sans"/>
                <a:ea typeface="Liberation Sans"/>
                <a:cs typeface="Liberation Sans"/>
              </a:defRPr>
            </a:pPr>
            <a:r>
              <a:rPr sz="1650" b="0">
                <a:solidFill>
                  <a:srgbClr val="A6B7C8"/>
                </a:solidFill>
                <a:latin typeface="Liberation Sans"/>
                <a:ea typeface="Liberation Sans"/>
                <a:cs typeface="Liberation Sans"/>
              </a:rPr>
              <a:t>What is running across the organization?</a:t>
            </a:r>
          </a:p>
        </p:txBody>
      </p:sp>
      <p:sp>
        <p:nvSpPr>
          <p:cNvPr id="25" name="">
            <a:extLst xmlns:a="http://schemas.openxmlformats.org/drawingml/2006/main">
              <a:ext uri="{FF2B5EF4-FFF2-40B4-BE49-F238E27FC236}">
                <a16:creationId xmlns:a16="http://schemas.microsoft.com/office/drawing/2014/main" id="{10C88C4C-02FB-4CA7-BD7A-9EBB5B80BE5F}"/>
              </a:ext>
            </a:extLst>
          </p:cNvPr>
          <p:cNvSpPr>
            <a:spLocks xmlns:a="http://schemas.openxmlformats.org/drawingml/2006/main" noGrp="1"/>
          </p:cNvSpPr>
          <p:nvPr/>
        </p:nvSpPr>
        <p:spPr>
          <a:xfrm xmlns:a="http://schemas.openxmlformats.org/drawingml/2006/main">
            <a:off x="5467350" y="2895600"/>
            <a:ext cx="4953000" cy="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26" name="">
            <a:extLst xmlns:a="http://schemas.openxmlformats.org/drawingml/2006/main">
              <a:ext uri="{FF2B5EF4-FFF2-40B4-BE49-F238E27FC236}">
                <a16:creationId xmlns:a16="http://schemas.microsoft.com/office/drawing/2014/main" id="{C8A11930-6535-4E2B-8DCC-E6D0474F4736}"/>
              </a:ext>
            </a:extLst>
          </p:cNvPr>
          <p:cNvSpPr>
            <a:spLocks xmlns:a="http://schemas.openxmlformats.org/drawingml/2006/main" noGrp="1"/>
          </p:cNvSpPr>
          <p:nvPr/>
        </p:nvSpPr>
        <p:spPr>
          <a:xfrm xmlns:a="http://schemas.openxmlformats.org/drawingml/2006/main">
            <a:off x="5467350" y="30480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166"/>
          </a:bodyPr>
          <a:lstStyle xmlns:a="http://schemas.openxmlformats.org/drawingml/2006/main"/>
          <a:p xmlns:a="http://schemas.openxmlformats.org/drawingml/2006/main">
            <a:pPr>
              <a:defRPr sz="1650" b="0">
                <a:solidFill>
                  <a:srgbClr val="A6B7C8"/>
                </a:solidFill>
                <a:latin typeface="Liberation Sans"/>
                <a:ea typeface="Liberation Sans"/>
                <a:cs typeface="Liberation Sans"/>
              </a:defRPr>
            </a:pPr>
            <a:r>
              <a:rPr sz="1650" b="0">
                <a:solidFill>
                  <a:srgbClr val="A6B7C8"/>
                </a:solidFill>
                <a:latin typeface="Liberation Sans"/>
                <a:ea typeface="Liberation Sans"/>
                <a:cs typeface="Liberation Sans"/>
              </a:rPr>
              <a:t>Which systems and credentials can each agent reach?</a:t>
            </a:r>
          </a:p>
        </p:txBody>
      </p:sp>
      <p:sp>
        <p:nvSpPr>
          <p:cNvPr id="27" name="">
            <a:extLst xmlns:a="http://schemas.openxmlformats.org/drawingml/2006/main">
              <a:ext uri="{FF2B5EF4-FFF2-40B4-BE49-F238E27FC236}">
                <a16:creationId xmlns:a16="http://schemas.microsoft.com/office/drawing/2014/main" id="{1B7803B4-F135-4507-AF1D-89010DED8C3D}"/>
              </a:ext>
            </a:extLst>
          </p:cNvPr>
          <p:cNvSpPr>
            <a:spLocks xmlns:a="http://schemas.openxmlformats.org/drawingml/2006/main" noGrp="1"/>
          </p:cNvSpPr>
          <p:nvPr/>
        </p:nvSpPr>
        <p:spPr>
          <a:xfrm xmlns:a="http://schemas.openxmlformats.org/drawingml/2006/main">
            <a:off x="5467350" y="3619500"/>
            <a:ext cx="4953000" cy="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28" name="">
            <a:extLst xmlns:a="http://schemas.openxmlformats.org/drawingml/2006/main">
              <a:ext uri="{FF2B5EF4-FFF2-40B4-BE49-F238E27FC236}">
                <a16:creationId xmlns:a16="http://schemas.microsoft.com/office/drawing/2014/main" id="{BDE7FA62-0FCA-48E3-BD5B-55AA114D2BFC}"/>
              </a:ext>
            </a:extLst>
          </p:cNvPr>
          <p:cNvSpPr>
            <a:spLocks xmlns:a="http://schemas.openxmlformats.org/drawingml/2006/main" noGrp="1"/>
          </p:cNvSpPr>
          <p:nvPr/>
        </p:nvSpPr>
        <p:spPr>
          <a:xfrm xmlns:a="http://schemas.openxmlformats.org/drawingml/2006/main">
            <a:off x="5467350" y="37719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275"/>
          </a:bodyPr>
          <a:lstStyle xmlns:a="http://schemas.openxmlformats.org/drawingml/2006/main"/>
          <a:p xmlns:a="http://schemas.openxmlformats.org/drawingml/2006/main">
            <a:pPr>
              <a:defRPr sz="1650" b="0">
                <a:solidFill>
                  <a:srgbClr val="A6B7C8"/>
                </a:solidFill>
                <a:latin typeface="Liberation Sans"/>
                <a:ea typeface="Liberation Sans"/>
                <a:cs typeface="Liberation Sans"/>
              </a:defRPr>
            </a:pPr>
            <a:r>
              <a:rPr sz="1650" b="0">
                <a:solidFill>
                  <a:srgbClr val="A6B7C8"/>
                </a:solidFill>
                <a:latin typeface="Liberation Sans"/>
                <a:ea typeface="Liberation Sans"/>
                <a:cs typeface="Liberation Sans"/>
              </a:rPr>
              <a:t>Who approved the action and what evidence remains?</a:t>
            </a:r>
          </a:p>
        </p:txBody>
      </p:sp>
      <p:sp>
        <p:nvSpPr>
          <p:cNvPr id="29" name="">
            <a:extLst xmlns:a="http://schemas.openxmlformats.org/drawingml/2006/main">
              <a:ext uri="{FF2B5EF4-FFF2-40B4-BE49-F238E27FC236}">
                <a16:creationId xmlns:a16="http://schemas.microsoft.com/office/drawing/2014/main" id="{9DC99E09-4500-44F8-ADCB-7672AEC57147}"/>
              </a:ext>
            </a:extLst>
          </p:cNvPr>
          <p:cNvSpPr>
            <a:spLocks xmlns:a="http://schemas.openxmlformats.org/drawingml/2006/main" noGrp="1"/>
          </p:cNvSpPr>
          <p:nvPr/>
        </p:nvSpPr>
        <p:spPr>
          <a:xfrm xmlns:a="http://schemas.openxmlformats.org/drawingml/2006/main">
            <a:off x="5467350" y="4343400"/>
            <a:ext cx="4953000" cy="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30" name="">
            <a:extLst xmlns:a="http://schemas.openxmlformats.org/drawingml/2006/main">
              <a:ext uri="{FF2B5EF4-FFF2-40B4-BE49-F238E27FC236}">
                <a16:creationId xmlns:a16="http://schemas.microsoft.com/office/drawing/2014/main" id="{1D6F27F9-7D8A-48EF-8D4E-717E6D427D49}"/>
              </a:ext>
            </a:extLst>
          </p:cNvPr>
          <p:cNvSpPr>
            <a:spLocks xmlns:a="http://schemas.openxmlformats.org/drawingml/2006/main" noGrp="1"/>
          </p:cNvSpPr>
          <p:nvPr/>
        </p:nvSpPr>
        <p:spPr>
          <a:xfrm xmlns:a="http://schemas.openxmlformats.org/drawingml/2006/main">
            <a:off x="5467350" y="44958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6543"/>
          </a:bodyPr>
          <a:lstStyle xmlns:a="http://schemas.openxmlformats.org/drawingml/2006/main"/>
          <a:p xmlns:a="http://schemas.openxmlformats.org/drawingml/2006/main">
            <a:pPr>
              <a:defRPr sz="1650" b="0">
                <a:solidFill>
                  <a:srgbClr val="F4F8FC"/>
                </a:solidFill>
                <a:latin typeface="Liberation Sans"/>
                <a:ea typeface="Liberation Sans"/>
                <a:cs typeface="Liberation Sans"/>
              </a:defRPr>
            </a:pPr>
            <a:r>
              <a:rPr sz="1650" b="0">
                <a:solidFill>
                  <a:srgbClr val="F4F8FC"/>
                </a:solidFill>
                <a:latin typeface="Liberation Sans"/>
                <a:ea typeface="Liberation Sans"/>
                <a:cs typeface="Liberation Sans"/>
              </a:rPr>
              <a:t>How do we stop unsafe behavior without stopping adoption?</a:t>
            </a:r>
          </a:p>
        </p:txBody>
      </p:sp>
    </p:spTree>
    <p:extLst>
      <p:ext uri="{BB962C8B-B14F-4D97-AF65-F5344CB8AC3E}">
        <p14:creationId xmlns:p14="http://schemas.microsoft.com/office/powerpoint/2010/main" val="240591595"/>
      </p:ext>
    </p:extLst>
  </p:cSld>
</p:sld>
</file>

<file path=ppt/slides/slide3.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9C82A80-A5CC-4190-99AA-CB42A87CCF77}"/>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54D6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A84E5D-0349-44D9-8D20-9655586C02F2}"/>
              </a:ext>
            </a:extLst>
          </p:cNvPr>
          <p:cNvSpPr>
            <a:spLocks xmlns:a="http://schemas.openxmlformats.org/drawingml/2006/main" noGrp="1"/>
          </p:cNvSpPr>
          <p:nvPr/>
        </p:nvSpPr>
        <p:spPr>
          <a:xfrm xmlns:a="http://schemas.openxmlformats.org/drawingml/2006/main">
            <a:off x="590550" y="4000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550" b="1">
                <a:solidFill>
                  <a:srgbClr val="F4F8FC"/>
                </a:solidFill>
                <a:latin typeface="Liberation Sans"/>
                <a:ea typeface="Liberation Sans"/>
                <a:cs typeface="Liberation Sans"/>
              </a:defRPr>
            </a:pPr>
            <a:r>
              <a:rPr sz="2550" b="1">
                <a:solidFill>
                  <a:srgbClr val="F4F8FC"/>
                </a:solidFill>
                <a:latin typeface="Liberation Sans"/>
                <a:ea typeface="Liberation Sans"/>
                <a:cs typeface="Liberation Sans"/>
              </a:rPr>
              <a:t>Why isolated agents fail in production</a:t>
            </a:r>
          </a:p>
        </p:txBody>
      </p:sp>
      <p:sp>
        <p:nvSpPr>
          <p:cNvPr id="3" name="">
            <a:extLst xmlns:a="http://schemas.openxmlformats.org/drawingml/2006/main">
              <a:ext uri="{FF2B5EF4-FFF2-40B4-BE49-F238E27FC236}">
                <a16:creationId xmlns:a16="http://schemas.microsoft.com/office/drawing/2014/main" id="{42BEC5EA-54BA-4F5B-AF4C-A697185F8865}"/>
              </a:ext>
            </a:extLst>
          </p:cNvPr>
          <p:cNvSpPr>
            <a:spLocks xmlns:a="http://schemas.openxmlformats.org/drawingml/2006/main" noGrp="1"/>
          </p:cNvSpPr>
          <p:nvPr/>
        </p:nvSpPr>
        <p:spPr>
          <a:xfrm xmlns:a="http://schemas.openxmlformats.org/drawingml/2006/main">
            <a:off x="609600" y="9334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A useful local agent still needs production controls around it</a:t>
            </a:r>
          </a:p>
        </p:txBody>
      </p:sp>
      <p:sp>
        <p:nvSpPr>
          <p:cNvPr id="4" name="">
            <a:extLst xmlns:a="http://schemas.openxmlformats.org/drawingml/2006/main">
              <a:ext uri="{FF2B5EF4-FFF2-40B4-BE49-F238E27FC236}">
                <a16:creationId xmlns:a16="http://schemas.microsoft.com/office/drawing/2014/main" id="{E26D9359-2A8B-4A81-B720-6B63A3D6EB2F}"/>
              </a:ext>
            </a:extLst>
          </p:cNvPr>
          <p:cNvSpPr>
            <a:spLocks xmlns:a="http://schemas.openxmlformats.org/drawingml/2006/main" noGrp="1"/>
          </p:cNvSpPr>
          <p:nvPr/>
        </p:nvSpPr>
        <p:spPr>
          <a:xfrm xmlns:a="http://schemas.openxmlformats.org/drawingml/2006/main">
            <a:off x="11258550" y="62293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03</a:t>
            </a:r>
          </a:p>
        </p:txBody>
      </p:sp>
      <p:sp>
        <p:nvSpPr>
          <p:cNvPr id="5" name="">
            <a:extLst xmlns:a="http://schemas.openxmlformats.org/drawingml/2006/main">
              <a:ext uri="{FF2B5EF4-FFF2-40B4-BE49-F238E27FC236}">
                <a16:creationId xmlns:a16="http://schemas.microsoft.com/office/drawing/2014/main" id="{7534C9D7-3758-4CC3-8DE1-F067EE1A0281}"/>
              </a:ext>
            </a:extLst>
          </p:cNvPr>
          <p:cNvSpPr>
            <a:spLocks xmlns:a="http://schemas.openxmlformats.org/drawingml/2006/main" noGrp="1"/>
          </p:cNvSpPr>
          <p:nvPr/>
        </p:nvSpPr>
        <p:spPr>
          <a:xfrm xmlns:a="http://schemas.openxmlformats.org/drawingml/2006/main">
            <a:off x="590550" y="62293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KAOP by Nirit Terehovsky</a:t>
            </a:r>
          </a:p>
        </p:txBody>
      </p:sp>
      <p:sp>
        <p:nvSpPr>
          <p:cNvPr id="6" name="">
            <a:extLst xmlns:a="http://schemas.openxmlformats.org/drawingml/2006/main">
              <a:ext uri="{FF2B5EF4-FFF2-40B4-BE49-F238E27FC236}">
                <a16:creationId xmlns:a16="http://schemas.microsoft.com/office/drawing/2014/main" id="{57CE8EBD-7D98-4E99-9518-D5CB54BFCD6A}"/>
              </a:ext>
            </a:extLst>
          </p:cNvPr>
          <p:cNvSpPr>
            <a:spLocks xmlns:a="http://schemas.openxmlformats.org/drawingml/2006/main" noGrp="1"/>
          </p:cNvSpPr>
          <p:nvPr/>
        </p:nvSpPr>
        <p:spPr>
          <a:xfrm xmlns:a="http://schemas.openxmlformats.org/drawingml/2006/main">
            <a:off x="4905375" y="2266950"/>
            <a:ext cx="2381250" cy="2381250"/>
          </a:xfrm>
          <a:prstGeom xmlns:a="http://schemas.openxmlformats.org/drawingml/2006/main" prst="ellipse">
            <a:avLst/>
          </a:prstGeom>
          <a:solidFill xmlns:a="http://schemas.openxmlformats.org/drawingml/2006/main">
            <a:srgbClr val="142B42"/>
          </a:solidFill>
          <a:ln xmlns:a="http://schemas.openxmlformats.org/drawingml/2006/main" w="14288">
            <a:solidFill>
              <a:srgbClr val="54D6FF"/>
            </a:solidFill>
            <a:prstDash val="solid"/>
          </a:ln>
        </p:spPr>
      </p:sp>
      <p:sp>
        <p:nvSpPr>
          <p:cNvPr id="7" name="">
            <a:extLst xmlns:a="http://schemas.openxmlformats.org/drawingml/2006/main">
              <a:ext uri="{FF2B5EF4-FFF2-40B4-BE49-F238E27FC236}">
                <a16:creationId xmlns:a16="http://schemas.microsoft.com/office/drawing/2014/main" id="{96D6F702-AF4C-44B9-93CD-827E509BE481}"/>
              </a:ext>
            </a:extLst>
          </p:cNvPr>
          <p:cNvSpPr>
            <a:spLocks xmlns:a="http://schemas.openxmlformats.org/drawingml/2006/main" noGrp="1"/>
          </p:cNvSpPr>
          <p:nvPr/>
        </p:nvSpPr>
        <p:spPr>
          <a:xfrm xmlns:a="http://schemas.openxmlformats.org/drawingml/2006/main">
            <a:off x="5257800" y="2743200"/>
            <a:ext cx="1676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700" b="1">
                <a:solidFill>
                  <a:srgbClr val="F4F8FC"/>
                </a:solidFill>
                <a:latin typeface="Liberation Sans"/>
                <a:ea typeface="Liberation Sans"/>
                <a:cs typeface="Liberation Sans"/>
              </a:defRPr>
            </a:pPr>
            <a:r>
              <a:rPr sz="2700" b="1">
                <a:solidFill>
                  <a:srgbClr val="F4F8FC"/>
                </a:solidFill>
                <a:latin typeface="Liberation Sans"/>
                <a:ea typeface="Liberation Sans"/>
                <a:cs typeface="Liberation Sans"/>
              </a:rPr>
              <a:t>Local</a:t>
            </a:r>
          </a:p>
          <a:p xmlns:a="http://schemas.openxmlformats.org/drawingml/2006/main">
            <a:pPr>
              <a:defRPr sz="2700" b="1">
                <a:solidFill>
                  <a:srgbClr val="F4F8FC"/>
                </a:solidFill>
                <a:latin typeface="Liberation Sans"/>
                <a:ea typeface="Liberation Sans"/>
                <a:cs typeface="Liberation Sans"/>
              </a:defRPr>
            </a:pPr>
            <a:r>
              <a:rPr sz="2700" b="1">
                <a:solidFill>
                  <a:srgbClr val="F4F8FC"/>
                </a:solidFill>
                <a:latin typeface="Liberation Sans"/>
                <a:ea typeface="Liberation Sans"/>
                <a:cs typeface="Liberation Sans"/>
              </a:rPr>
              <a:t>agent</a:t>
            </a:r>
          </a:p>
        </p:txBody>
      </p:sp>
      <p:sp>
        <p:nvSpPr>
          <p:cNvPr id="8" name="">
            <a:extLst xmlns:a="http://schemas.openxmlformats.org/drawingml/2006/main">
              <a:ext uri="{FF2B5EF4-FFF2-40B4-BE49-F238E27FC236}">
                <a16:creationId xmlns:a16="http://schemas.microsoft.com/office/drawing/2014/main" id="{B3577C06-2381-4891-8B64-05CF2EB67080}"/>
              </a:ext>
            </a:extLst>
          </p:cNvPr>
          <p:cNvSpPr>
            <a:spLocks xmlns:a="http://schemas.openxmlformats.org/drawingml/2006/main" noGrp="1"/>
          </p:cNvSpPr>
          <p:nvPr/>
        </p:nvSpPr>
        <p:spPr>
          <a:xfrm xmlns:a="http://schemas.openxmlformats.org/drawingml/2006/main">
            <a:off x="1066800" y="16192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54D6FF"/>
                </a:solidFill>
                <a:latin typeface="Liberation Sans"/>
                <a:ea typeface="Liberation Sans"/>
                <a:cs typeface="Liberation Sans"/>
              </a:defRPr>
            </a:pPr>
            <a:r>
              <a:rPr sz="900" b="1">
                <a:solidFill>
                  <a:srgbClr val="54D6FF"/>
                </a:solidFill>
                <a:latin typeface="Liberation Sans"/>
                <a:ea typeface="Liberation Sans"/>
                <a:cs typeface="Liberation Sans"/>
              </a:rPr>
              <a:t>SCOPED ACCESS</a:t>
            </a:r>
          </a:p>
        </p:txBody>
      </p:sp>
      <p:sp>
        <p:nvSpPr>
          <p:cNvPr id="9" name="">
            <a:extLst xmlns:a="http://schemas.openxmlformats.org/drawingml/2006/main">
              <a:ext uri="{FF2B5EF4-FFF2-40B4-BE49-F238E27FC236}">
                <a16:creationId xmlns:a16="http://schemas.microsoft.com/office/drawing/2014/main" id="{A011B752-9A21-49CC-8859-284C3E1FD3F1}"/>
              </a:ext>
            </a:extLst>
          </p:cNvPr>
          <p:cNvSpPr>
            <a:spLocks xmlns:a="http://schemas.openxmlformats.org/drawingml/2006/main" noGrp="1"/>
          </p:cNvSpPr>
          <p:nvPr/>
        </p:nvSpPr>
        <p:spPr>
          <a:xfrm xmlns:a="http://schemas.openxmlformats.org/drawingml/2006/main">
            <a:off x="1066800" y="1981200"/>
            <a:ext cx="2476500" cy="38100"/>
          </a:xfrm>
          <a:prstGeom xmlns:a="http://schemas.openxmlformats.org/drawingml/2006/main" prst="rect">
            <a:avLst/>
          </a:prstGeom>
          <a:solidFill xmlns:a="http://schemas.openxmlformats.org/drawingml/2006/main">
            <a:srgbClr val="54D6F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AAB4323-7E33-48BE-BB20-81CA27126565}"/>
              </a:ext>
            </a:extLst>
          </p:cNvPr>
          <p:cNvSpPr>
            <a:spLocks xmlns:a="http://schemas.openxmlformats.org/drawingml/2006/main" noGrp="1"/>
          </p:cNvSpPr>
          <p:nvPr/>
        </p:nvSpPr>
        <p:spPr>
          <a:xfrm xmlns:a="http://schemas.openxmlformats.org/drawingml/2006/main">
            <a:off x="1066800" y="2152650"/>
            <a:ext cx="2571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0">
                <a:solidFill>
                  <a:srgbClr val="A6B7C8"/>
                </a:solidFill>
                <a:latin typeface="Liberation Sans"/>
                <a:ea typeface="Liberation Sans"/>
                <a:cs typeface="Liberation Sans"/>
              </a:defRPr>
            </a:pPr>
            <a:r>
              <a:rPr sz="1350" b="0">
                <a:solidFill>
                  <a:srgbClr val="A6B7C8"/>
                </a:solidFill>
                <a:latin typeface="Liberation Sans"/>
                <a:ea typeface="Liberation Sans"/>
                <a:cs typeface="Liberation Sans"/>
              </a:rPr>
              <a:t>Who can read or write, in which environment</a:t>
            </a:r>
          </a:p>
        </p:txBody>
      </p:sp>
      <p:sp>
        <p:nvSpPr>
          <p:cNvPr id="11" name="">
            <a:extLst xmlns:a="http://schemas.openxmlformats.org/drawingml/2006/main">
              <a:ext uri="{FF2B5EF4-FFF2-40B4-BE49-F238E27FC236}">
                <a16:creationId xmlns:a16="http://schemas.microsoft.com/office/drawing/2014/main" id="{A0E56BAC-C5D2-4D52-A639-6A453581D66F}"/>
              </a:ext>
            </a:extLst>
          </p:cNvPr>
          <p:cNvSpPr>
            <a:spLocks xmlns:a="http://schemas.openxmlformats.org/drawingml/2006/main" noGrp="1"/>
          </p:cNvSpPr>
          <p:nvPr/>
        </p:nvSpPr>
        <p:spPr>
          <a:xfrm xmlns:a="http://schemas.openxmlformats.org/drawingml/2006/main">
            <a:off x="1066800" y="40957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9A7BFF"/>
                </a:solidFill>
                <a:latin typeface="Liberation Sans"/>
                <a:ea typeface="Liberation Sans"/>
                <a:cs typeface="Liberation Sans"/>
              </a:defRPr>
            </a:pPr>
            <a:r>
              <a:rPr sz="900" b="1">
                <a:solidFill>
                  <a:srgbClr val="9A7BFF"/>
                </a:solidFill>
                <a:latin typeface="Liberation Sans"/>
                <a:ea typeface="Liberation Sans"/>
                <a:cs typeface="Liberation Sans"/>
              </a:rPr>
              <a:t>RELIABLE TRIGGERS</a:t>
            </a:r>
          </a:p>
        </p:txBody>
      </p:sp>
      <p:sp>
        <p:nvSpPr>
          <p:cNvPr id="12" name="">
            <a:extLst xmlns:a="http://schemas.openxmlformats.org/drawingml/2006/main">
              <a:ext uri="{FF2B5EF4-FFF2-40B4-BE49-F238E27FC236}">
                <a16:creationId xmlns:a16="http://schemas.microsoft.com/office/drawing/2014/main" id="{B548175C-37F3-45A8-975F-6042E21CAA81}"/>
              </a:ext>
            </a:extLst>
          </p:cNvPr>
          <p:cNvSpPr>
            <a:spLocks xmlns:a="http://schemas.openxmlformats.org/drawingml/2006/main" noGrp="1"/>
          </p:cNvSpPr>
          <p:nvPr/>
        </p:nvSpPr>
        <p:spPr>
          <a:xfrm xmlns:a="http://schemas.openxmlformats.org/drawingml/2006/main">
            <a:off x="1066800" y="4457700"/>
            <a:ext cx="2476500" cy="38100"/>
          </a:xfrm>
          <a:prstGeom xmlns:a="http://schemas.openxmlformats.org/drawingml/2006/main" prst="rect">
            <a:avLst/>
          </a:prstGeom>
          <a:solidFill xmlns:a="http://schemas.openxmlformats.org/drawingml/2006/main">
            <a:srgbClr val="9A7B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27F72ED-5D60-4051-B6BD-E6A9B6269798}"/>
              </a:ext>
            </a:extLst>
          </p:cNvPr>
          <p:cNvSpPr>
            <a:spLocks xmlns:a="http://schemas.openxmlformats.org/drawingml/2006/main" noGrp="1"/>
          </p:cNvSpPr>
          <p:nvPr/>
        </p:nvSpPr>
        <p:spPr>
          <a:xfrm xmlns:a="http://schemas.openxmlformats.org/drawingml/2006/main">
            <a:off x="1066800" y="4629150"/>
            <a:ext cx="2571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0">
                <a:solidFill>
                  <a:srgbClr val="A6B7C8"/>
                </a:solidFill>
                <a:latin typeface="Liberation Sans"/>
                <a:ea typeface="Liberation Sans"/>
                <a:cs typeface="Liberation Sans"/>
              </a:defRPr>
            </a:pPr>
            <a:r>
              <a:rPr sz="1350" b="0">
                <a:solidFill>
                  <a:srgbClr val="A6B7C8"/>
                </a:solidFill>
                <a:latin typeface="Liberation Sans"/>
                <a:ea typeface="Liberation Sans"/>
                <a:cs typeface="Liberation Sans"/>
              </a:rPr>
              <a:t>Alerts, schedules, pull requests, or chat</a:t>
            </a:r>
          </a:p>
        </p:txBody>
      </p:sp>
      <p:sp>
        <p:nvSpPr>
          <p:cNvPr id="14" name="">
            <a:extLst xmlns:a="http://schemas.openxmlformats.org/drawingml/2006/main">
              <a:ext uri="{FF2B5EF4-FFF2-40B4-BE49-F238E27FC236}">
                <a16:creationId xmlns:a16="http://schemas.microsoft.com/office/drawing/2014/main" id="{72B34DD7-B076-430D-809E-EA5B652A6846}"/>
              </a:ext>
            </a:extLst>
          </p:cNvPr>
          <p:cNvSpPr>
            <a:spLocks xmlns:a="http://schemas.openxmlformats.org/drawingml/2006/main" noGrp="1"/>
          </p:cNvSpPr>
          <p:nvPr/>
        </p:nvSpPr>
        <p:spPr>
          <a:xfrm xmlns:a="http://schemas.openxmlformats.org/drawingml/2006/main">
            <a:off x="8515350" y="16192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68E1C4"/>
                </a:solidFill>
                <a:latin typeface="Liberation Sans"/>
                <a:ea typeface="Liberation Sans"/>
                <a:cs typeface="Liberation Sans"/>
              </a:defRPr>
            </a:pPr>
            <a:r>
              <a:rPr sz="900" b="1">
                <a:solidFill>
                  <a:srgbClr val="68E1C4"/>
                </a:solidFill>
                <a:latin typeface="Liberation Sans"/>
                <a:ea typeface="Liberation Sans"/>
                <a:cs typeface="Liberation Sans"/>
              </a:rPr>
              <a:t>RUN EVIDENCE</a:t>
            </a:r>
          </a:p>
        </p:txBody>
      </p:sp>
      <p:sp>
        <p:nvSpPr>
          <p:cNvPr id="15" name="">
            <a:extLst xmlns:a="http://schemas.openxmlformats.org/drawingml/2006/main">
              <a:ext uri="{FF2B5EF4-FFF2-40B4-BE49-F238E27FC236}">
                <a16:creationId xmlns:a16="http://schemas.microsoft.com/office/drawing/2014/main" id="{2CE0CCA0-11DE-4D95-9E11-07EB73AF46BD}"/>
              </a:ext>
            </a:extLst>
          </p:cNvPr>
          <p:cNvSpPr>
            <a:spLocks xmlns:a="http://schemas.openxmlformats.org/drawingml/2006/main" noGrp="1"/>
          </p:cNvSpPr>
          <p:nvPr/>
        </p:nvSpPr>
        <p:spPr>
          <a:xfrm xmlns:a="http://schemas.openxmlformats.org/drawingml/2006/main">
            <a:off x="8515350" y="1981200"/>
            <a:ext cx="2476500" cy="38100"/>
          </a:xfrm>
          <a:prstGeom xmlns:a="http://schemas.openxmlformats.org/drawingml/2006/main" prst="rect">
            <a:avLst/>
          </a:prstGeom>
          <a:solidFill xmlns:a="http://schemas.openxmlformats.org/drawingml/2006/main">
            <a:srgbClr val="68E1C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6C34197-8341-43FD-BC75-C527FB26E391}"/>
              </a:ext>
            </a:extLst>
          </p:cNvPr>
          <p:cNvSpPr>
            <a:spLocks xmlns:a="http://schemas.openxmlformats.org/drawingml/2006/main" noGrp="1"/>
          </p:cNvSpPr>
          <p:nvPr/>
        </p:nvSpPr>
        <p:spPr>
          <a:xfrm xmlns:a="http://schemas.openxmlformats.org/drawingml/2006/main">
            <a:off x="8515350" y="2152650"/>
            <a:ext cx="2571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0">
                <a:solidFill>
                  <a:srgbClr val="A6B7C8"/>
                </a:solidFill>
                <a:latin typeface="Liberation Sans"/>
                <a:ea typeface="Liberation Sans"/>
                <a:cs typeface="Liberation Sans"/>
              </a:defRPr>
            </a:pPr>
            <a:r>
              <a:rPr sz="1350" b="0">
                <a:solidFill>
                  <a:srgbClr val="A6B7C8"/>
                </a:solidFill>
                <a:latin typeface="Liberation Sans"/>
                <a:ea typeface="Liberation Sans"/>
                <a:cs typeface="Liberation Sans"/>
              </a:rPr>
              <a:t>Inputs, tool calls, decisions, outcomes, and cost</a:t>
            </a:r>
          </a:p>
        </p:txBody>
      </p:sp>
      <p:sp>
        <p:nvSpPr>
          <p:cNvPr id="17" name="">
            <a:extLst xmlns:a="http://schemas.openxmlformats.org/drawingml/2006/main">
              <a:ext uri="{FF2B5EF4-FFF2-40B4-BE49-F238E27FC236}">
                <a16:creationId xmlns:a16="http://schemas.microsoft.com/office/drawing/2014/main" id="{AA32AE3C-D1C4-4823-816F-36ED93393CF8}"/>
              </a:ext>
            </a:extLst>
          </p:cNvPr>
          <p:cNvSpPr>
            <a:spLocks xmlns:a="http://schemas.openxmlformats.org/drawingml/2006/main" noGrp="1"/>
          </p:cNvSpPr>
          <p:nvPr/>
        </p:nvSpPr>
        <p:spPr>
          <a:xfrm xmlns:a="http://schemas.openxmlformats.org/drawingml/2006/main">
            <a:off x="8515350" y="40957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FFCA6B"/>
                </a:solidFill>
                <a:latin typeface="Liberation Sans"/>
                <a:ea typeface="Liberation Sans"/>
                <a:cs typeface="Liberation Sans"/>
              </a:defRPr>
            </a:pPr>
            <a:r>
              <a:rPr sz="900" b="1">
                <a:solidFill>
                  <a:srgbClr val="FFCA6B"/>
                </a:solidFill>
                <a:latin typeface="Liberation Sans"/>
                <a:ea typeface="Liberation Sans"/>
                <a:cs typeface="Liberation Sans"/>
              </a:rPr>
              <a:t>APPROVAL GATES</a:t>
            </a:r>
          </a:p>
        </p:txBody>
      </p:sp>
      <p:sp>
        <p:nvSpPr>
          <p:cNvPr id="18" name="">
            <a:extLst xmlns:a="http://schemas.openxmlformats.org/drawingml/2006/main">
              <a:ext uri="{FF2B5EF4-FFF2-40B4-BE49-F238E27FC236}">
                <a16:creationId xmlns:a16="http://schemas.microsoft.com/office/drawing/2014/main" id="{64372FC3-786E-44E1-8A8A-784C50E9FD94}"/>
              </a:ext>
            </a:extLst>
          </p:cNvPr>
          <p:cNvSpPr>
            <a:spLocks xmlns:a="http://schemas.openxmlformats.org/drawingml/2006/main" noGrp="1"/>
          </p:cNvSpPr>
          <p:nvPr/>
        </p:nvSpPr>
        <p:spPr>
          <a:xfrm xmlns:a="http://schemas.openxmlformats.org/drawingml/2006/main">
            <a:off x="8515350" y="4457700"/>
            <a:ext cx="2476500" cy="38100"/>
          </a:xfrm>
          <a:prstGeom xmlns:a="http://schemas.openxmlformats.org/drawingml/2006/main" prst="rect">
            <a:avLst/>
          </a:prstGeom>
          <a:solidFill xmlns:a="http://schemas.openxmlformats.org/drawingml/2006/main">
            <a:srgbClr val="FFCA6B"/>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F134ABD-D46A-4497-A44D-ABC140862D25}"/>
              </a:ext>
            </a:extLst>
          </p:cNvPr>
          <p:cNvSpPr>
            <a:spLocks xmlns:a="http://schemas.openxmlformats.org/drawingml/2006/main" noGrp="1"/>
          </p:cNvSpPr>
          <p:nvPr/>
        </p:nvSpPr>
        <p:spPr>
          <a:xfrm xmlns:a="http://schemas.openxmlformats.org/drawingml/2006/main">
            <a:off x="8515350" y="4629150"/>
            <a:ext cx="2571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0">
                <a:solidFill>
                  <a:srgbClr val="A6B7C8"/>
                </a:solidFill>
                <a:latin typeface="Liberation Sans"/>
                <a:ea typeface="Liberation Sans"/>
                <a:cs typeface="Liberation Sans"/>
              </a:defRPr>
            </a:pPr>
            <a:r>
              <a:rPr sz="1350" b="0">
                <a:solidFill>
                  <a:srgbClr val="A6B7C8"/>
                </a:solidFill>
                <a:latin typeface="Liberation Sans"/>
                <a:ea typeface="Liberation Sans"/>
                <a:cs typeface="Liberation Sans"/>
              </a:rPr>
              <a:t>Human review before higher risk actions</a:t>
            </a:r>
          </a:p>
        </p:txBody>
      </p:sp>
      <p:sp>
        <p:nvSpPr>
          <p:cNvPr id="20" name="">
            <a:extLst xmlns:a="http://schemas.openxmlformats.org/drawingml/2006/main">
              <a:ext uri="{FF2B5EF4-FFF2-40B4-BE49-F238E27FC236}">
                <a16:creationId xmlns:a16="http://schemas.microsoft.com/office/drawing/2014/main" id="{60151F2F-1F4D-4919-A7D0-7859BD3C86F9}"/>
              </a:ext>
            </a:extLst>
          </p:cNvPr>
          <p:cNvSpPr>
            <a:spLocks xmlns:a="http://schemas.openxmlformats.org/drawingml/2006/main" noGrp="1"/>
          </p:cNvSpPr>
          <p:nvPr/>
        </p:nvSpPr>
        <p:spPr>
          <a:xfrm xmlns:a="http://schemas.openxmlformats.org/drawingml/2006/main">
            <a:off x="3543300" y="2905125"/>
            <a:ext cx="1362075" cy="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21" name="">
            <a:extLst xmlns:a="http://schemas.openxmlformats.org/drawingml/2006/main">
              <a:ext uri="{FF2B5EF4-FFF2-40B4-BE49-F238E27FC236}">
                <a16:creationId xmlns:a16="http://schemas.microsoft.com/office/drawing/2014/main" id="{319E1B71-BEE9-41EF-A342-0CED9D0AC6AA}"/>
              </a:ext>
            </a:extLst>
          </p:cNvPr>
          <p:cNvSpPr>
            <a:spLocks xmlns:a="http://schemas.openxmlformats.org/drawingml/2006/main" noGrp="1"/>
          </p:cNvSpPr>
          <p:nvPr/>
        </p:nvSpPr>
        <p:spPr>
          <a:xfrm xmlns:a="http://schemas.openxmlformats.org/drawingml/2006/main">
            <a:off x="3543300" y="3876675"/>
            <a:ext cx="1362075" cy="45720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22" name="">
            <a:extLst xmlns:a="http://schemas.openxmlformats.org/drawingml/2006/main">
              <a:ext uri="{FF2B5EF4-FFF2-40B4-BE49-F238E27FC236}">
                <a16:creationId xmlns:a16="http://schemas.microsoft.com/office/drawing/2014/main" id="{70F4789F-043C-4068-94BD-FCB0470442B1}"/>
              </a:ext>
            </a:extLst>
          </p:cNvPr>
          <p:cNvSpPr>
            <a:spLocks xmlns:a="http://schemas.openxmlformats.org/drawingml/2006/main" noGrp="1"/>
          </p:cNvSpPr>
          <p:nvPr/>
        </p:nvSpPr>
        <p:spPr>
          <a:xfrm xmlns:a="http://schemas.openxmlformats.org/drawingml/2006/main">
            <a:off x="7286625" y="2905125"/>
            <a:ext cx="1228725" cy="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23" name="">
            <a:extLst xmlns:a="http://schemas.openxmlformats.org/drawingml/2006/main">
              <a:ext uri="{FF2B5EF4-FFF2-40B4-BE49-F238E27FC236}">
                <a16:creationId xmlns:a16="http://schemas.microsoft.com/office/drawing/2014/main" id="{39738820-A55A-4CCE-8405-3E99AB6B2939}"/>
              </a:ext>
            </a:extLst>
          </p:cNvPr>
          <p:cNvSpPr>
            <a:spLocks xmlns:a="http://schemas.openxmlformats.org/drawingml/2006/main" noGrp="1"/>
          </p:cNvSpPr>
          <p:nvPr/>
        </p:nvSpPr>
        <p:spPr>
          <a:xfrm xmlns:a="http://schemas.openxmlformats.org/drawingml/2006/main">
            <a:off x="7286625" y="3876675"/>
            <a:ext cx="1228725" cy="45720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Tree>
    <p:extLst>
      <p:ext uri="{BB962C8B-B14F-4D97-AF65-F5344CB8AC3E}">
        <p14:creationId xmlns:p14="http://schemas.microsoft.com/office/powerpoint/2010/main" val="84391277"/>
      </p:ext>
    </p:extLst>
  </p:cSld>
</p:sld>
</file>

<file path=ppt/slides/slide4.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6B7458D-9744-4561-809C-48CCC4F2F5E3}"/>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54D6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E73AA5-EA6C-4C7B-813F-76316C385743}"/>
              </a:ext>
            </a:extLst>
          </p:cNvPr>
          <p:cNvSpPr>
            <a:spLocks xmlns:a="http://schemas.openxmlformats.org/drawingml/2006/main" noGrp="1"/>
          </p:cNvSpPr>
          <p:nvPr/>
        </p:nvSpPr>
        <p:spPr>
          <a:xfrm xmlns:a="http://schemas.openxmlformats.org/drawingml/2006/main">
            <a:off x="590550" y="4000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550" b="1">
                <a:solidFill>
                  <a:srgbClr val="F4F8FC"/>
                </a:solidFill>
                <a:latin typeface="Liberation Sans"/>
                <a:ea typeface="Liberation Sans"/>
                <a:cs typeface="Liberation Sans"/>
              </a:defRPr>
            </a:pPr>
            <a:r>
              <a:rPr sz="2550" b="1">
                <a:solidFill>
                  <a:srgbClr val="F4F8FC"/>
                </a:solidFill>
                <a:latin typeface="Liberation Sans"/>
                <a:ea typeface="Liberation Sans"/>
                <a:cs typeface="Liberation Sans"/>
              </a:rPr>
              <a:t>The KAOP control plane</a:t>
            </a:r>
          </a:p>
        </p:txBody>
      </p:sp>
      <p:sp>
        <p:nvSpPr>
          <p:cNvPr id="3" name="">
            <a:extLst xmlns:a="http://schemas.openxmlformats.org/drawingml/2006/main">
              <a:ext uri="{FF2B5EF4-FFF2-40B4-BE49-F238E27FC236}">
                <a16:creationId xmlns:a16="http://schemas.microsoft.com/office/drawing/2014/main" id="{7EC50950-CBDF-40FC-A840-50DA5B10ABA5}"/>
              </a:ext>
            </a:extLst>
          </p:cNvPr>
          <p:cNvSpPr>
            <a:spLocks xmlns:a="http://schemas.openxmlformats.org/drawingml/2006/main" noGrp="1"/>
          </p:cNvSpPr>
          <p:nvPr/>
        </p:nvSpPr>
        <p:spPr>
          <a:xfrm xmlns:a="http://schemas.openxmlformats.org/drawingml/2006/main">
            <a:off x="609600" y="9334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Shared infrastructure surrounds both Komodor agents and custom agents</a:t>
            </a:r>
          </a:p>
        </p:txBody>
      </p:sp>
      <p:sp>
        <p:nvSpPr>
          <p:cNvPr id="4" name="">
            <a:extLst xmlns:a="http://schemas.openxmlformats.org/drawingml/2006/main">
              <a:ext uri="{FF2B5EF4-FFF2-40B4-BE49-F238E27FC236}">
                <a16:creationId xmlns:a16="http://schemas.microsoft.com/office/drawing/2014/main" id="{86A50139-36BE-4B41-AE40-044CA9245052}"/>
              </a:ext>
            </a:extLst>
          </p:cNvPr>
          <p:cNvSpPr>
            <a:spLocks xmlns:a="http://schemas.openxmlformats.org/drawingml/2006/main" noGrp="1"/>
          </p:cNvSpPr>
          <p:nvPr/>
        </p:nvSpPr>
        <p:spPr>
          <a:xfrm xmlns:a="http://schemas.openxmlformats.org/drawingml/2006/main">
            <a:off x="11258550" y="62293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04</a:t>
            </a:r>
          </a:p>
        </p:txBody>
      </p:sp>
      <p:sp>
        <p:nvSpPr>
          <p:cNvPr id="5" name="">
            <a:extLst xmlns:a="http://schemas.openxmlformats.org/drawingml/2006/main">
              <a:ext uri="{FF2B5EF4-FFF2-40B4-BE49-F238E27FC236}">
                <a16:creationId xmlns:a16="http://schemas.microsoft.com/office/drawing/2014/main" id="{28665BEC-DD92-4E5A-ABD8-4957E0B91B50}"/>
              </a:ext>
            </a:extLst>
          </p:cNvPr>
          <p:cNvSpPr>
            <a:spLocks xmlns:a="http://schemas.openxmlformats.org/drawingml/2006/main" noGrp="1"/>
          </p:cNvSpPr>
          <p:nvPr/>
        </p:nvSpPr>
        <p:spPr>
          <a:xfrm xmlns:a="http://schemas.openxmlformats.org/drawingml/2006/main">
            <a:off x="590550" y="62293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KAOP by Nirit Terehovsky</a:t>
            </a:r>
          </a:p>
        </p:txBody>
      </p:sp>
      <p:sp>
        <p:nvSpPr>
          <p:cNvPr id="6" name="">
            <a:extLst xmlns:a="http://schemas.openxmlformats.org/drawingml/2006/main">
              <a:ext uri="{FF2B5EF4-FFF2-40B4-BE49-F238E27FC236}">
                <a16:creationId xmlns:a16="http://schemas.microsoft.com/office/drawing/2014/main" id="{8ECECE6F-E649-4259-85C7-D7C3AA5C1653}"/>
              </a:ext>
            </a:extLst>
          </p:cNvPr>
          <p:cNvSpPr>
            <a:spLocks xmlns:a="http://schemas.openxmlformats.org/drawingml/2006/main" noGrp="1"/>
          </p:cNvSpPr>
          <p:nvPr/>
        </p:nvSpPr>
        <p:spPr>
          <a:xfrm xmlns:a="http://schemas.openxmlformats.org/drawingml/2006/main">
            <a:off x="1143000" y="1466850"/>
            <a:ext cx="9906000" cy="742950"/>
          </a:xfrm>
          <a:prstGeom xmlns:a="http://schemas.openxmlformats.org/drawingml/2006/main" prst="roundRect">
            <a:avLst>
              <a:gd name="adj" fmla="val 20513"/>
            </a:avLst>
          </a:prstGeom>
          <a:solidFill xmlns:a="http://schemas.openxmlformats.org/drawingml/2006/main">
            <a:srgbClr val="142B42"/>
          </a:solidFill>
          <a:ln xmlns:a="http://schemas.openxmlformats.org/drawingml/2006/main" w="14288">
            <a:solidFill>
              <a:srgbClr val="29445D"/>
            </a:solidFill>
            <a:prstDash val="solid"/>
          </a:ln>
        </p:spPr>
      </p:sp>
      <p:sp>
        <p:nvSpPr>
          <p:cNvPr id="7" name="">
            <a:extLst xmlns:a="http://schemas.openxmlformats.org/drawingml/2006/main">
              <a:ext uri="{FF2B5EF4-FFF2-40B4-BE49-F238E27FC236}">
                <a16:creationId xmlns:a16="http://schemas.microsoft.com/office/drawing/2014/main" id="{6476D5D0-7B15-4920-989D-F699E588AE57}"/>
              </a:ext>
            </a:extLst>
          </p:cNvPr>
          <p:cNvSpPr>
            <a:spLocks xmlns:a="http://schemas.openxmlformats.org/drawingml/2006/main" noGrp="1"/>
          </p:cNvSpPr>
          <p:nvPr/>
        </p:nvSpPr>
        <p:spPr>
          <a:xfrm xmlns:a="http://schemas.openxmlformats.org/drawingml/2006/main">
            <a:off x="1143000" y="1466850"/>
            <a:ext cx="114300" cy="742950"/>
          </a:xfrm>
          <a:prstGeom xmlns:a="http://schemas.openxmlformats.org/drawingml/2006/main" prst="rect">
            <a:avLst/>
          </a:prstGeom>
          <a:solidFill xmlns:a="http://schemas.openxmlformats.org/drawingml/2006/main">
            <a:srgbClr val="54D6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5523C19-896B-4E3C-98F7-78B682DAF1DD}"/>
              </a:ext>
            </a:extLst>
          </p:cNvPr>
          <p:cNvSpPr>
            <a:spLocks xmlns:a="http://schemas.openxmlformats.org/drawingml/2006/main" noGrp="1"/>
          </p:cNvSpPr>
          <p:nvPr/>
        </p:nvSpPr>
        <p:spPr>
          <a:xfrm xmlns:a="http://schemas.openxmlformats.org/drawingml/2006/main">
            <a:off x="1562100" y="15811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1">
                <a:solidFill>
                  <a:srgbClr val="54D6FF"/>
                </a:solidFill>
                <a:latin typeface="Liberation Sans"/>
                <a:ea typeface="Liberation Sans"/>
                <a:cs typeface="Liberation Sans"/>
              </a:defRPr>
            </a:pPr>
            <a:r>
              <a:rPr sz="2025" b="1">
                <a:solidFill>
                  <a:srgbClr val="54D6FF"/>
                </a:solidFill>
                <a:latin typeface="Liberation Sans"/>
                <a:ea typeface="Liberation Sans"/>
                <a:cs typeface="Liberation Sans"/>
              </a:rPr>
              <a:t>Fleet</a:t>
            </a:r>
          </a:p>
        </p:txBody>
      </p:sp>
      <p:sp>
        <p:nvSpPr>
          <p:cNvPr id="9" name="">
            <a:extLst xmlns:a="http://schemas.openxmlformats.org/drawingml/2006/main">
              <a:ext uri="{FF2B5EF4-FFF2-40B4-BE49-F238E27FC236}">
                <a16:creationId xmlns:a16="http://schemas.microsoft.com/office/drawing/2014/main" id="{650C134A-0F85-4E3E-BDB6-A60CBBE1A4CA}"/>
              </a:ext>
            </a:extLst>
          </p:cNvPr>
          <p:cNvSpPr>
            <a:spLocks xmlns:a="http://schemas.openxmlformats.org/drawingml/2006/main" noGrp="1"/>
          </p:cNvSpPr>
          <p:nvPr/>
        </p:nvSpPr>
        <p:spPr>
          <a:xfrm xmlns:a="http://schemas.openxmlformats.org/drawingml/2006/main">
            <a:off x="3429000" y="1581150"/>
            <a:ext cx="695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575" b="0">
                <a:solidFill>
                  <a:srgbClr val="F4F8FC"/>
                </a:solidFill>
                <a:latin typeface="Liberation Sans"/>
                <a:ea typeface="Liberation Sans"/>
                <a:cs typeface="Liberation Sans"/>
              </a:defRPr>
            </a:pPr>
            <a:r>
              <a:rPr sz="1575" b="0">
                <a:solidFill>
                  <a:srgbClr val="F4F8FC"/>
                </a:solidFill>
                <a:latin typeface="Liberation Sans"/>
                <a:ea typeface="Liberation Sans"/>
                <a:cs typeface="Liberation Sans"/>
              </a:rPr>
              <a:t>Inventory, ownership, health, versions</a:t>
            </a:r>
          </a:p>
        </p:txBody>
      </p:sp>
      <p:sp>
        <p:nvSpPr>
          <p:cNvPr id="10" name="">
            <a:extLst xmlns:a="http://schemas.openxmlformats.org/drawingml/2006/main">
              <a:ext uri="{FF2B5EF4-FFF2-40B4-BE49-F238E27FC236}">
                <a16:creationId xmlns:a16="http://schemas.microsoft.com/office/drawing/2014/main" id="{7C1581C4-57B6-47AC-B46A-91E36502A590}"/>
              </a:ext>
            </a:extLst>
          </p:cNvPr>
          <p:cNvSpPr>
            <a:spLocks xmlns:a="http://schemas.openxmlformats.org/drawingml/2006/main" noGrp="1"/>
          </p:cNvSpPr>
          <p:nvPr/>
        </p:nvSpPr>
        <p:spPr>
          <a:xfrm xmlns:a="http://schemas.openxmlformats.org/drawingml/2006/main">
            <a:off x="1143000" y="2457450"/>
            <a:ext cx="9906000" cy="742950"/>
          </a:xfrm>
          <a:prstGeom xmlns:a="http://schemas.openxmlformats.org/drawingml/2006/main" prst="roundRect">
            <a:avLst>
              <a:gd name="adj" fmla="val 20513"/>
            </a:avLst>
          </a:prstGeom>
          <a:solidFill xmlns:a="http://schemas.openxmlformats.org/drawingml/2006/main">
            <a:srgbClr val="102338"/>
          </a:solidFill>
          <a:ln xmlns:a="http://schemas.openxmlformats.org/drawingml/2006/main" w="14288">
            <a:solidFill>
              <a:srgbClr val="29445D"/>
            </a:solidFill>
            <a:prstDash val="solid"/>
          </a:ln>
        </p:spPr>
      </p:sp>
      <p:sp>
        <p:nvSpPr>
          <p:cNvPr id="11" name="">
            <a:extLst xmlns:a="http://schemas.openxmlformats.org/drawingml/2006/main">
              <a:ext uri="{FF2B5EF4-FFF2-40B4-BE49-F238E27FC236}">
                <a16:creationId xmlns:a16="http://schemas.microsoft.com/office/drawing/2014/main" id="{4BD8B7A2-939C-47ED-9771-8ABCC676D05A}"/>
              </a:ext>
            </a:extLst>
          </p:cNvPr>
          <p:cNvSpPr>
            <a:spLocks xmlns:a="http://schemas.openxmlformats.org/drawingml/2006/main" noGrp="1"/>
          </p:cNvSpPr>
          <p:nvPr/>
        </p:nvSpPr>
        <p:spPr>
          <a:xfrm xmlns:a="http://schemas.openxmlformats.org/drawingml/2006/main">
            <a:off x="1143000" y="2457450"/>
            <a:ext cx="114300" cy="742950"/>
          </a:xfrm>
          <a:prstGeom xmlns:a="http://schemas.openxmlformats.org/drawingml/2006/main" prst="rect">
            <a:avLst/>
          </a:prstGeom>
          <a:solidFill xmlns:a="http://schemas.openxmlformats.org/drawingml/2006/main">
            <a:srgbClr val="9A7B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414922C-CEB1-474F-A88B-1F9ABF4810F9}"/>
              </a:ext>
            </a:extLst>
          </p:cNvPr>
          <p:cNvSpPr>
            <a:spLocks xmlns:a="http://schemas.openxmlformats.org/drawingml/2006/main" noGrp="1"/>
          </p:cNvSpPr>
          <p:nvPr/>
        </p:nvSpPr>
        <p:spPr>
          <a:xfrm xmlns:a="http://schemas.openxmlformats.org/drawingml/2006/main">
            <a:off x="1562100" y="2571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1">
                <a:solidFill>
                  <a:srgbClr val="9A7BFF"/>
                </a:solidFill>
                <a:latin typeface="Liberation Sans"/>
                <a:ea typeface="Liberation Sans"/>
                <a:cs typeface="Liberation Sans"/>
              </a:defRPr>
            </a:pPr>
            <a:r>
              <a:rPr sz="2025" b="1">
                <a:solidFill>
                  <a:srgbClr val="9A7BFF"/>
                </a:solidFill>
                <a:latin typeface="Liberation Sans"/>
                <a:ea typeface="Liberation Sans"/>
                <a:cs typeface="Liberation Sans"/>
              </a:rPr>
              <a:t>Run</a:t>
            </a:r>
          </a:p>
        </p:txBody>
      </p:sp>
      <p:sp>
        <p:nvSpPr>
          <p:cNvPr id="13" name="">
            <a:extLst xmlns:a="http://schemas.openxmlformats.org/drawingml/2006/main">
              <a:ext uri="{FF2B5EF4-FFF2-40B4-BE49-F238E27FC236}">
                <a16:creationId xmlns:a16="http://schemas.microsoft.com/office/drawing/2014/main" id="{1851EF6F-D52B-477C-8C09-33C4208E4D38}"/>
              </a:ext>
            </a:extLst>
          </p:cNvPr>
          <p:cNvSpPr>
            <a:spLocks xmlns:a="http://schemas.openxmlformats.org/drawingml/2006/main" noGrp="1"/>
          </p:cNvSpPr>
          <p:nvPr/>
        </p:nvSpPr>
        <p:spPr>
          <a:xfrm xmlns:a="http://schemas.openxmlformats.org/drawingml/2006/main">
            <a:off x="3429000" y="2571750"/>
            <a:ext cx="695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575" b="0">
                <a:solidFill>
                  <a:srgbClr val="F4F8FC"/>
                </a:solidFill>
                <a:latin typeface="Liberation Sans"/>
                <a:ea typeface="Liberation Sans"/>
                <a:cs typeface="Liberation Sans"/>
              </a:defRPr>
            </a:pPr>
            <a:r>
              <a:rPr sz="1575" b="0">
                <a:solidFill>
                  <a:srgbClr val="F4F8FC"/>
                </a:solidFill>
                <a:latin typeface="Liberation Sans"/>
                <a:ea typeface="Liberation Sans"/>
                <a:cs typeface="Liberation Sans"/>
              </a:rPr>
              <a:t>Triggers, workflows, agent handoffs, run history</a:t>
            </a:r>
          </a:p>
        </p:txBody>
      </p:sp>
      <p:sp>
        <p:nvSpPr>
          <p:cNvPr id="14" name="">
            <a:extLst xmlns:a="http://schemas.openxmlformats.org/drawingml/2006/main">
              <a:ext uri="{FF2B5EF4-FFF2-40B4-BE49-F238E27FC236}">
                <a16:creationId xmlns:a16="http://schemas.microsoft.com/office/drawing/2014/main" id="{79B346A8-26ED-4F05-BB82-8358BCA10332}"/>
              </a:ext>
            </a:extLst>
          </p:cNvPr>
          <p:cNvSpPr>
            <a:spLocks xmlns:a="http://schemas.openxmlformats.org/drawingml/2006/main" noGrp="1"/>
          </p:cNvSpPr>
          <p:nvPr/>
        </p:nvSpPr>
        <p:spPr>
          <a:xfrm xmlns:a="http://schemas.openxmlformats.org/drawingml/2006/main">
            <a:off x="1143000" y="3448050"/>
            <a:ext cx="9906000" cy="742950"/>
          </a:xfrm>
          <a:prstGeom xmlns:a="http://schemas.openxmlformats.org/drawingml/2006/main" prst="roundRect">
            <a:avLst>
              <a:gd name="adj" fmla="val 20513"/>
            </a:avLst>
          </a:prstGeom>
          <a:solidFill xmlns:a="http://schemas.openxmlformats.org/drawingml/2006/main">
            <a:srgbClr val="102338"/>
          </a:solidFill>
          <a:ln xmlns:a="http://schemas.openxmlformats.org/drawingml/2006/main" w="14288">
            <a:solidFill>
              <a:srgbClr val="29445D"/>
            </a:solidFill>
            <a:prstDash val="solid"/>
          </a:ln>
        </p:spPr>
      </p:sp>
      <p:sp>
        <p:nvSpPr>
          <p:cNvPr id="15" name="">
            <a:extLst xmlns:a="http://schemas.openxmlformats.org/drawingml/2006/main">
              <a:ext uri="{FF2B5EF4-FFF2-40B4-BE49-F238E27FC236}">
                <a16:creationId xmlns:a16="http://schemas.microsoft.com/office/drawing/2014/main" id="{E182A4EA-BC8E-4C32-B1BE-F64CB55B6B31}"/>
              </a:ext>
            </a:extLst>
          </p:cNvPr>
          <p:cNvSpPr>
            <a:spLocks xmlns:a="http://schemas.openxmlformats.org/drawingml/2006/main" noGrp="1"/>
          </p:cNvSpPr>
          <p:nvPr/>
        </p:nvSpPr>
        <p:spPr>
          <a:xfrm xmlns:a="http://schemas.openxmlformats.org/drawingml/2006/main">
            <a:off x="1143000" y="3448050"/>
            <a:ext cx="114300" cy="742950"/>
          </a:xfrm>
          <a:prstGeom xmlns:a="http://schemas.openxmlformats.org/drawingml/2006/main" prst="rect">
            <a:avLst/>
          </a:prstGeom>
          <a:solidFill xmlns:a="http://schemas.openxmlformats.org/drawingml/2006/main">
            <a:srgbClr val="68E1C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88809B1-E1D0-4F15-8D99-056B19B8A214}"/>
              </a:ext>
            </a:extLst>
          </p:cNvPr>
          <p:cNvSpPr>
            <a:spLocks xmlns:a="http://schemas.openxmlformats.org/drawingml/2006/main" noGrp="1"/>
          </p:cNvSpPr>
          <p:nvPr/>
        </p:nvSpPr>
        <p:spPr>
          <a:xfrm xmlns:a="http://schemas.openxmlformats.org/drawingml/2006/main">
            <a:off x="1562100" y="35623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1">
                <a:solidFill>
                  <a:srgbClr val="68E1C4"/>
                </a:solidFill>
                <a:latin typeface="Liberation Sans"/>
                <a:ea typeface="Liberation Sans"/>
                <a:cs typeface="Liberation Sans"/>
              </a:defRPr>
            </a:pPr>
            <a:r>
              <a:rPr sz="2025" b="1">
                <a:solidFill>
                  <a:srgbClr val="68E1C4"/>
                </a:solidFill>
                <a:latin typeface="Liberation Sans"/>
                <a:ea typeface="Liberation Sans"/>
                <a:cs typeface="Liberation Sans"/>
              </a:rPr>
              <a:t>Context</a:t>
            </a:r>
          </a:p>
        </p:txBody>
      </p:sp>
      <p:sp>
        <p:nvSpPr>
          <p:cNvPr id="17" name="">
            <a:extLst xmlns:a="http://schemas.openxmlformats.org/drawingml/2006/main">
              <a:ext uri="{FF2B5EF4-FFF2-40B4-BE49-F238E27FC236}">
                <a16:creationId xmlns:a16="http://schemas.microsoft.com/office/drawing/2014/main" id="{B075F992-197D-4B2E-A1CE-B63D1A29082C}"/>
              </a:ext>
            </a:extLst>
          </p:cNvPr>
          <p:cNvSpPr>
            <a:spLocks xmlns:a="http://schemas.openxmlformats.org/drawingml/2006/main" noGrp="1"/>
          </p:cNvSpPr>
          <p:nvPr/>
        </p:nvSpPr>
        <p:spPr>
          <a:xfrm xmlns:a="http://schemas.openxmlformats.org/drawingml/2006/main">
            <a:off x="3429000" y="3562350"/>
            <a:ext cx="695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575" b="0">
                <a:solidFill>
                  <a:srgbClr val="F4F8FC"/>
                </a:solidFill>
                <a:latin typeface="Liberation Sans"/>
                <a:ea typeface="Liberation Sans"/>
                <a:cs typeface="Liberation Sans"/>
              </a:defRPr>
            </a:pPr>
            <a:r>
              <a:rPr sz="1575" b="0">
                <a:solidFill>
                  <a:srgbClr val="F4F8FC"/>
                </a:solidFill>
                <a:latin typeface="Liberation Sans"/>
                <a:ea typeface="Liberation Sans"/>
                <a:cs typeface="Liberation Sans"/>
              </a:rPr>
              <a:t>Memory, knowledge graph, integrations</a:t>
            </a:r>
          </a:p>
        </p:txBody>
      </p:sp>
      <p:sp>
        <p:nvSpPr>
          <p:cNvPr id="18" name="">
            <a:extLst xmlns:a="http://schemas.openxmlformats.org/drawingml/2006/main">
              <a:ext uri="{FF2B5EF4-FFF2-40B4-BE49-F238E27FC236}">
                <a16:creationId xmlns:a16="http://schemas.microsoft.com/office/drawing/2014/main" id="{FAC1386F-B690-4EBE-9E70-AB3F7D213CD2}"/>
              </a:ext>
            </a:extLst>
          </p:cNvPr>
          <p:cNvSpPr>
            <a:spLocks xmlns:a="http://schemas.openxmlformats.org/drawingml/2006/main" noGrp="1"/>
          </p:cNvSpPr>
          <p:nvPr/>
        </p:nvSpPr>
        <p:spPr>
          <a:xfrm xmlns:a="http://schemas.openxmlformats.org/drawingml/2006/main">
            <a:off x="1143000" y="4438650"/>
            <a:ext cx="9906000" cy="742950"/>
          </a:xfrm>
          <a:prstGeom xmlns:a="http://schemas.openxmlformats.org/drawingml/2006/main" prst="roundRect">
            <a:avLst>
              <a:gd name="adj" fmla="val 20513"/>
            </a:avLst>
          </a:prstGeom>
          <a:solidFill xmlns:a="http://schemas.openxmlformats.org/drawingml/2006/main">
            <a:srgbClr val="102338"/>
          </a:solidFill>
          <a:ln xmlns:a="http://schemas.openxmlformats.org/drawingml/2006/main" w="14288">
            <a:solidFill>
              <a:srgbClr val="29445D"/>
            </a:solidFill>
            <a:prstDash val="solid"/>
          </a:ln>
        </p:spPr>
      </p:sp>
      <p:sp>
        <p:nvSpPr>
          <p:cNvPr id="19" name="">
            <a:extLst xmlns:a="http://schemas.openxmlformats.org/drawingml/2006/main">
              <a:ext uri="{FF2B5EF4-FFF2-40B4-BE49-F238E27FC236}">
                <a16:creationId xmlns:a16="http://schemas.microsoft.com/office/drawing/2014/main" id="{F76AA6CD-9972-49A8-87D2-9F04DAB74944}"/>
              </a:ext>
            </a:extLst>
          </p:cNvPr>
          <p:cNvSpPr>
            <a:spLocks xmlns:a="http://schemas.openxmlformats.org/drawingml/2006/main" noGrp="1"/>
          </p:cNvSpPr>
          <p:nvPr/>
        </p:nvSpPr>
        <p:spPr>
          <a:xfrm xmlns:a="http://schemas.openxmlformats.org/drawingml/2006/main">
            <a:off x="1143000" y="4438650"/>
            <a:ext cx="114300" cy="742950"/>
          </a:xfrm>
          <a:prstGeom xmlns:a="http://schemas.openxmlformats.org/drawingml/2006/main" prst="rect">
            <a:avLst/>
          </a:prstGeom>
          <a:solidFill xmlns:a="http://schemas.openxmlformats.org/drawingml/2006/main">
            <a:srgbClr val="FFCA6B"/>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1C77CE79-40F6-411A-9D64-5030B807AAEC}"/>
              </a:ext>
            </a:extLst>
          </p:cNvPr>
          <p:cNvSpPr>
            <a:spLocks xmlns:a="http://schemas.openxmlformats.org/drawingml/2006/main" noGrp="1"/>
          </p:cNvSpPr>
          <p:nvPr/>
        </p:nvSpPr>
        <p:spPr>
          <a:xfrm xmlns:a="http://schemas.openxmlformats.org/drawingml/2006/main">
            <a:off x="1562100" y="45529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1">
                <a:solidFill>
                  <a:srgbClr val="FFCA6B"/>
                </a:solidFill>
                <a:latin typeface="Liberation Sans"/>
                <a:ea typeface="Liberation Sans"/>
                <a:cs typeface="Liberation Sans"/>
              </a:defRPr>
            </a:pPr>
            <a:r>
              <a:rPr sz="2025" b="1">
                <a:solidFill>
                  <a:srgbClr val="FFCA6B"/>
                </a:solidFill>
                <a:latin typeface="Liberation Sans"/>
                <a:ea typeface="Liberation Sans"/>
                <a:cs typeface="Liberation Sans"/>
              </a:rPr>
              <a:t>Govern</a:t>
            </a:r>
          </a:p>
        </p:txBody>
      </p:sp>
      <p:sp>
        <p:nvSpPr>
          <p:cNvPr id="21" name="">
            <a:extLst xmlns:a="http://schemas.openxmlformats.org/drawingml/2006/main">
              <a:ext uri="{FF2B5EF4-FFF2-40B4-BE49-F238E27FC236}">
                <a16:creationId xmlns:a16="http://schemas.microsoft.com/office/drawing/2014/main" id="{FCC61687-0F60-47C0-AD10-C6012D45E795}"/>
              </a:ext>
            </a:extLst>
          </p:cNvPr>
          <p:cNvSpPr>
            <a:spLocks xmlns:a="http://schemas.openxmlformats.org/drawingml/2006/main" noGrp="1"/>
          </p:cNvSpPr>
          <p:nvPr/>
        </p:nvSpPr>
        <p:spPr>
          <a:xfrm xmlns:a="http://schemas.openxmlformats.org/drawingml/2006/main">
            <a:off x="3429000" y="4552950"/>
            <a:ext cx="695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575" b="0">
                <a:solidFill>
                  <a:srgbClr val="F4F8FC"/>
                </a:solidFill>
                <a:latin typeface="Liberation Sans"/>
                <a:ea typeface="Liberation Sans"/>
                <a:cs typeface="Liberation Sans"/>
              </a:defRPr>
            </a:pPr>
            <a:r>
              <a:rPr sz="1575" b="0">
                <a:solidFill>
                  <a:srgbClr val="F4F8FC"/>
                </a:solidFill>
                <a:latin typeface="Liberation Sans"/>
                <a:ea typeface="Liberation Sans"/>
                <a:cs typeface="Liberation Sans"/>
              </a:rPr>
              <a:t>RBAC, credentials, guardrails, approvals, audit</a:t>
            </a:r>
          </a:p>
        </p:txBody>
      </p:sp>
      <p:sp>
        <p:nvSpPr>
          <p:cNvPr id="22" name="">
            <a:extLst xmlns:a="http://schemas.openxmlformats.org/drawingml/2006/main">
              <a:ext uri="{FF2B5EF4-FFF2-40B4-BE49-F238E27FC236}">
                <a16:creationId xmlns:a16="http://schemas.microsoft.com/office/drawing/2014/main" id="{63D0B5AE-03EE-46CB-B65A-7C6B1A1F17A6}"/>
              </a:ext>
            </a:extLst>
          </p:cNvPr>
          <p:cNvSpPr>
            <a:spLocks xmlns:a="http://schemas.openxmlformats.org/drawingml/2006/main" noGrp="1"/>
          </p:cNvSpPr>
          <p:nvPr/>
        </p:nvSpPr>
        <p:spPr>
          <a:xfrm xmlns:a="http://schemas.openxmlformats.org/drawingml/2006/main">
            <a:off x="1790700" y="5581650"/>
            <a:ext cx="857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650" b="1">
                <a:solidFill>
                  <a:srgbClr val="F4F8FC"/>
                </a:solidFill>
                <a:latin typeface="Liberation Sans"/>
                <a:ea typeface="Liberation Sans"/>
                <a:cs typeface="Liberation Sans"/>
              </a:defRPr>
            </a:pPr>
            <a:r>
              <a:rPr sz="1650" b="1">
                <a:solidFill>
                  <a:srgbClr val="F4F8FC"/>
                </a:solidFill>
                <a:latin typeface="Liberation Sans"/>
                <a:ea typeface="Liberation Sans"/>
                <a:cs typeface="Liberation Sans"/>
              </a:rPr>
              <a:t>One operating model across runtimes, models, and teams</a:t>
            </a:r>
          </a:p>
        </p:txBody>
      </p:sp>
    </p:spTree>
    <p:extLst>
      <p:ext uri="{BB962C8B-B14F-4D97-AF65-F5344CB8AC3E}">
        <p14:creationId xmlns:p14="http://schemas.microsoft.com/office/powerpoint/2010/main" val="1076639894"/>
      </p:ext>
    </p:extLst>
  </p:cSld>
</p:sld>
</file>

<file path=ppt/slides/slide5.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C0B98F40-6531-429E-AAAD-5EF617C53014}"/>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54D6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D878F0-72B3-48E8-9E33-318D5AEE01EB}"/>
              </a:ext>
            </a:extLst>
          </p:cNvPr>
          <p:cNvSpPr>
            <a:spLocks xmlns:a="http://schemas.openxmlformats.org/drawingml/2006/main" noGrp="1"/>
          </p:cNvSpPr>
          <p:nvPr/>
        </p:nvSpPr>
        <p:spPr>
          <a:xfrm xmlns:a="http://schemas.openxmlformats.org/drawingml/2006/main">
            <a:off x="590550" y="4000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550" b="1">
                <a:solidFill>
                  <a:srgbClr val="F4F8FC"/>
                </a:solidFill>
                <a:latin typeface="Liberation Sans"/>
                <a:ea typeface="Liberation Sans"/>
                <a:cs typeface="Liberation Sans"/>
              </a:defRPr>
            </a:pPr>
            <a:r>
              <a:rPr sz="2550" b="1">
                <a:solidFill>
                  <a:srgbClr val="F4F8FC"/>
                </a:solidFill>
                <a:latin typeface="Liberation Sans"/>
                <a:ea typeface="Liberation Sans"/>
                <a:cs typeface="Liberation Sans"/>
              </a:rPr>
              <a:t>Workflow orchestration from trigger to outcome</a:t>
            </a:r>
          </a:p>
        </p:txBody>
      </p:sp>
      <p:sp>
        <p:nvSpPr>
          <p:cNvPr id="3" name="">
            <a:extLst xmlns:a="http://schemas.openxmlformats.org/drawingml/2006/main">
              <a:ext uri="{FF2B5EF4-FFF2-40B4-BE49-F238E27FC236}">
                <a16:creationId xmlns:a16="http://schemas.microsoft.com/office/drawing/2014/main" id="{3C52DDCC-DECC-4A27-A4B5-B432F1149938}"/>
              </a:ext>
            </a:extLst>
          </p:cNvPr>
          <p:cNvSpPr>
            <a:spLocks xmlns:a="http://schemas.openxmlformats.org/drawingml/2006/main" noGrp="1"/>
          </p:cNvSpPr>
          <p:nvPr/>
        </p:nvSpPr>
        <p:spPr>
          <a:xfrm xmlns:a="http://schemas.openxmlformats.org/drawingml/2006/main">
            <a:off x="609600" y="9334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A defined workflow turns agent capability into a repeatable operational process</a:t>
            </a:r>
          </a:p>
        </p:txBody>
      </p:sp>
      <p:sp>
        <p:nvSpPr>
          <p:cNvPr id="4" name="">
            <a:extLst xmlns:a="http://schemas.openxmlformats.org/drawingml/2006/main">
              <a:ext uri="{FF2B5EF4-FFF2-40B4-BE49-F238E27FC236}">
                <a16:creationId xmlns:a16="http://schemas.microsoft.com/office/drawing/2014/main" id="{539538DF-10C4-4461-B7F3-044A2C927F01}"/>
              </a:ext>
            </a:extLst>
          </p:cNvPr>
          <p:cNvSpPr>
            <a:spLocks xmlns:a="http://schemas.openxmlformats.org/drawingml/2006/main" noGrp="1"/>
          </p:cNvSpPr>
          <p:nvPr/>
        </p:nvSpPr>
        <p:spPr>
          <a:xfrm xmlns:a="http://schemas.openxmlformats.org/drawingml/2006/main">
            <a:off x="11258550" y="62293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05</a:t>
            </a:r>
          </a:p>
        </p:txBody>
      </p:sp>
      <p:sp>
        <p:nvSpPr>
          <p:cNvPr id="5" name="">
            <a:extLst xmlns:a="http://schemas.openxmlformats.org/drawingml/2006/main">
              <a:ext uri="{FF2B5EF4-FFF2-40B4-BE49-F238E27FC236}">
                <a16:creationId xmlns:a16="http://schemas.microsoft.com/office/drawing/2014/main" id="{3DA5A63C-F316-4874-95AE-8C88AF8F7B34}"/>
              </a:ext>
            </a:extLst>
          </p:cNvPr>
          <p:cNvSpPr>
            <a:spLocks xmlns:a="http://schemas.openxmlformats.org/drawingml/2006/main" noGrp="1"/>
          </p:cNvSpPr>
          <p:nvPr/>
        </p:nvSpPr>
        <p:spPr>
          <a:xfrm xmlns:a="http://schemas.openxmlformats.org/drawingml/2006/main">
            <a:off x="590550" y="62293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KAOP by Nirit Terehovsky</a:t>
            </a:r>
          </a:p>
        </p:txBody>
      </p:sp>
      <p:sp>
        <p:nvSpPr>
          <p:cNvPr id="6" name="">
            <a:extLst xmlns:a="http://schemas.openxmlformats.org/drawingml/2006/main">
              <a:ext uri="{FF2B5EF4-FFF2-40B4-BE49-F238E27FC236}">
                <a16:creationId xmlns:a16="http://schemas.microsoft.com/office/drawing/2014/main" id="{F7590C78-0DE2-463E-9EFF-D28F636CE0D4}"/>
              </a:ext>
            </a:extLst>
          </p:cNvPr>
          <p:cNvSpPr>
            <a:spLocks xmlns:a="http://schemas.openxmlformats.org/drawingml/2006/main" noGrp="1"/>
          </p:cNvSpPr>
          <p:nvPr/>
        </p:nvSpPr>
        <p:spPr>
          <a:xfrm xmlns:a="http://schemas.openxmlformats.org/drawingml/2006/main">
            <a:off x="1257300" y="1924050"/>
            <a:ext cx="704850" cy="704850"/>
          </a:xfrm>
          <a:prstGeom xmlns:a="http://schemas.openxmlformats.org/drawingml/2006/main" prst="ellipse">
            <a:avLst/>
          </a:prstGeom>
          <a:solidFill xmlns:a="http://schemas.openxmlformats.org/drawingml/2006/main">
            <a:srgbClr val="54D6F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0440247-70F1-44D6-853C-AFEFF54A2669}"/>
              </a:ext>
            </a:extLst>
          </p:cNvPr>
          <p:cNvSpPr>
            <a:spLocks xmlns:a="http://schemas.openxmlformats.org/drawingml/2006/main" noGrp="1"/>
          </p:cNvSpPr>
          <p:nvPr/>
        </p:nvSpPr>
        <p:spPr>
          <a:xfrm xmlns:a="http://schemas.openxmlformats.org/drawingml/2006/main">
            <a:off x="1257300" y="1924050"/>
            <a:ext cx="7048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100" b="1">
                <a:solidFill>
                  <a:srgbClr val="07111C"/>
                </a:solidFill>
                <a:latin typeface="Liberation Sans"/>
                <a:ea typeface="Liberation Sans"/>
                <a:cs typeface="Liberation Sans"/>
              </a:defRPr>
            </a:pPr>
            <a:r>
              <a:rPr sz="2100" b="1">
                <a:solidFill>
                  <a:srgbClr val="07111C"/>
                </a:solidFill>
                <a:latin typeface="Liberation Sans"/>
                <a:ea typeface="Liberation Sans"/>
                <a:cs typeface="Liberation Sans"/>
              </a:rPr>
              <a:t>1</a:t>
            </a:r>
          </a:p>
        </p:txBody>
      </p:sp>
      <p:sp>
        <p:nvSpPr>
          <p:cNvPr id="8" name="">
            <a:extLst xmlns:a="http://schemas.openxmlformats.org/drawingml/2006/main">
              <a:ext uri="{FF2B5EF4-FFF2-40B4-BE49-F238E27FC236}">
                <a16:creationId xmlns:a16="http://schemas.microsoft.com/office/drawing/2014/main" id="{625632F2-B6A6-485C-B88C-09AFBBC87320}"/>
              </a:ext>
            </a:extLst>
          </p:cNvPr>
          <p:cNvSpPr>
            <a:spLocks xmlns:a="http://schemas.openxmlformats.org/drawingml/2006/main" noGrp="1"/>
          </p:cNvSpPr>
          <p:nvPr/>
        </p:nvSpPr>
        <p:spPr>
          <a:xfrm xmlns:a="http://schemas.openxmlformats.org/drawingml/2006/main">
            <a:off x="704850" y="287655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406"/>
          </a:bodyPr>
          <a:lstStyle xmlns:a="http://schemas.openxmlformats.org/drawingml/2006/main"/>
          <a:p xmlns:a="http://schemas.openxmlformats.org/drawingml/2006/main">
            <a:pPr>
              <a:defRPr sz="1725" b="1">
                <a:solidFill>
                  <a:srgbClr val="F4F8FC"/>
                </a:solidFill>
                <a:latin typeface="Liberation Sans"/>
                <a:ea typeface="Liberation Sans"/>
                <a:cs typeface="Liberation Sans"/>
              </a:defRPr>
            </a:pPr>
            <a:r>
              <a:rPr sz="1725" b="1">
                <a:solidFill>
                  <a:srgbClr val="F4F8FC"/>
                </a:solidFill>
                <a:latin typeface="Liberation Sans"/>
                <a:ea typeface="Liberation Sans"/>
                <a:cs typeface="Liberation Sans"/>
              </a:rPr>
              <a:t>Trigger</a:t>
            </a:r>
          </a:p>
        </p:txBody>
      </p:sp>
      <p:sp>
        <p:nvSpPr>
          <p:cNvPr id="9" name="">
            <a:extLst xmlns:a="http://schemas.openxmlformats.org/drawingml/2006/main">
              <a:ext uri="{FF2B5EF4-FFF2-40B4-BE49-F238E27FC236}">
                <a16:creationId xmlns:a16="http://schemas.microsoft.com/office/drawing/2014/main" id="{F4382EBE-F3B4-42B9-9DD8-B7F3083DF58F}"/>
              </a:ext>
            </a:extLst>
          </p:cNvPr>
          <p:cNvSpPr>
            <a:spLocks xmlns:a="http://schemas.openxmlformats.org/drawingml/2006/main" noGrp="1"/>
          </p:cNvSpPr>
          <p:nvPr/>
        </p:nvSpPr>
        <p:spPr>
          <a:xfrm xmlns:a="http://schemas.openxmlformats.org/drawingml/2006/main">
            <a:off x="704850" y="3276600"/>
            <a:ext cx="1809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Grafana alert</a:t>
            </a:r>
          </a:p>
        </p:txBody>
      </p:sp>
      <p:sp>
        <p:nvSpPr>
          <p:cNvPr id="10" name="">
            <a:extLst xmlns:a="http://schemas.openxmlformats.org/drawingml/2006/main">
              <a:ext uri="{FF2B5EF4-FFF2-40B4-BE49-F238E27FC236}">
                <a16:creationId xmlns:a16="http://schemas.microsoft.com/office/drawing/2014/main" id="{480EE6BA-74F1-4F74-B9DE-052F50C0FDAB}"/>
              </a:ext>
            </a:extLst>
          </p:cNvPr>
          <p:cNvSpPr>
            <a:spLocks xmlns:a="http://schemas.openxmlformats.org/drawingml/2006/main" noGrp="1"/>
          </p:cNvSpPr>
          <p:nvPr/>
        </p:nvSpPr>
        <p:spPr>
          <a:xfrm xmlns:a="http://schemas.openxmlformats.org/drawingml/2006/main">
            <a:off x="2095500" y="2276475"/>
            <a:ext cx="876300" cy="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11" name="">
            <a:extLst xmlns:a="http://schemas.openxmlformats.org/drawingml/2006/main">
              <a:ext uri="{FF2B5EF4-FFF2-40B4-BE49-F238E27FC236}">
                <a16:creationId xmlns:a16="http://schemas.microsoft.com/office/drawing/2014/main" id="{0A8B32BE-6FFD-4E20-A920-272CF8157723}"/>
              </a:ext>
            </a:extLst>
          </p:cNvPr>
          <p:cNvSpPr>
            <a:spLocks xmlns:a="http://schemas.openxmlformats.org/drawingml/2006/main" noGrp="1"/>
          </p:cNvSpPr>
          <p:nvPr/>
        </p:nvSpPr>
        <p:spPr>
          <a:xfrm xmlns:a="http://schemas.openxmlformats.org/drawingml/2006/main">
            <a:off x="3524250" y="1924050"/>
            <a:ext cx="704850" cy="704850"/>
          </a:xfrm>
          <a:prstGeom xmlns:a="http://schemas.openxmlformats.org/drawingml/2006/main" prst="ellipse">
            <a:avLst/>
          </a:prstGeom>
          <a:solidFill xmlns:a="http://schemas.openxmlformats.org/drawingml/2006/main">
            <a:srgbClr val="9A7B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28383EB-C06F-423D-AF97-7DB607B4AA8A}"/>
              </a:ext>
            </a:extLst>
          </p:cNvPr>
          <p:cNvSpPr>
            <a:spLocks xmlns:a="http://schemas.openxmlformats.org/drawingml/2006/main" noGrp="1"/>
          </p:cNvSpPr>
          <p:nvPr/>
        </p:nvSpPr>
        <p:spPr>
          <a:xfrm xmlns:a="http://schemas.openxmlformats.org/drawingml/2006/main">
            <a:off x="3524250" y="1924050"/>
            <a:ext cx="7048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100" b="1">
                <a:solidFill>
                  <a:srgbClr val="07111C"/>
                </a:solidFill>
                <a:latin typeface="Liberation Sans"/>
                <a:ea typeface="Liberation Sans"/>
                <a:cs typeface="Liberation Sans"/>
              </a:defRPr>
            </a:pPr>
            <a:r>
              <a:rPr sz="2100" b="1">
                <a:solidFill>
                  <a:srgbClr val="07111C"/>
                </a:solidFill>
                <a:latin typeface="Liberation Sans"/>
                <a:ea typeface="Liberation Sans"/>
                <a:cs typeface="Liberation Sans"/>
              </a:rPr>
              <a:t>2</a:t>
            </a:r>
          </a:p>
        </p:txBody>
      </p:sp>
      <p:sp>
        <p:nvSpPr>
          <p:cNvPr id="13" name="">
            <a:extLst xmlns:a="http://schemas.openxmlformats.org/drawingml/2006/main">
              <a:ext uri="{FF2B5EF4-FFF2-40B4-BE49-F238E27FC236}">
                <a16:creationId xmlns:a16="http://schemas.microsoft.com/office/drawing/2014/main" id="{523727E7-91DE-4B4C-A88F-62838972D4E1}"/>
              </a:ext>
            </a:extLst>
          </p:cNvPr>
          <p:cNvSpPr>
            <a:spLocks xmlns:a="http://schemas.openxmlformats.org/drawingml/2006/main" noGrp="1"/>
          </p:cNvSpPr>
          <p:nvPr/>
        </p:nvSpPr>
        <p:spPr>
          <a:xfrm xmlns:a="http://schemas.openxmlformats.org/drawingml/2006/main">
            <a:off x="2971800" y="287655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406"/>
          </a:bodyPr>
          <a:lstStyle xmlns:a="http://schemas.openxmlformats.org/drawingml/2006/main"/>
          <a:p xmlns:a="http://schemas.openxmlformats.org/drawingml/2006/main">
            <a:pPr>
              <a:defRPr sz="1725" b="1">
                <a:solidFill>
                  <a:srgbClr val="F4F8FC"/>
                </a:solidFill>
                <a:latin typeface="Liberation Sans"/>
                <a:ea typeface="Liberation Sans"/>
                <a:cs typeface="Liberation Sans"/>
              </a:defRPr>
            </a:pPr>
            <a:r>
              <a:rPr sz="1725" b="1">
                <a:solidFill>
                  <a:srgbClr val="F4F8FC"/>
                </a:solidFill>
                <a:latin typeface="Liberation Sans"/>
                <a:ea typeface="Liberation Sans"/>
                <a:cs typeface="Liberation Sans"/>
              </a:rPr>
              <a:t>Investigate</a:t>
            </a:r>
          </a:p>
        </p:txBody>
      </p:sp>
      <p:sp>
        <p:nvSpPr>
          <p:cNvPr id="14" name="">
            <a:extLst xmlns:a="http://schemas.openxmlformats.org/drawingml/2006/main">
              <a:ext uri="{FF2B5EF4-FFF2-40B4-BE49-F238E27FC236}">
                <a16:creationId xmlns:a16="http://schemas.microsoft.com/office/drawing/2014/main" id="{A5BCBBA4-AF0D-4CD0-A7B5-910688F9EB3C}"/>
              </a:ext>
            </a:extLst>
          </p:cNvPr>
          <p:cNvSpPr>
            <a:spLocks xmlns:a="http://schemas.openxmlformats.org/drawingml/2006/main" noGrp="1"/>
          </p:cNvSpPr>
          <p:nvPr/>
        </p:nvSpPr>
        <p:spPr>
          <a:xfrm xmlns:a="http://schemas.openxmlformats.org/drawingml/2006/main">
            <a:off x="2971800" y="3276600"/>
            <a:ext cx="1809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Kubernetes evidence</a:t>
            </a:r>
          </a:p>
        </p:txBody>
      </p:sp>
      <p:sp>
        <p:nvSpPr>
          <p:cNvPr id="15" name="">
            <a:extLst xmlns:a="http://schemas.openxmlformats.org/drawingml/2006/main">
              <a:ext uri="{FF2B5EF4-FFF2-40B4-BE49-F238E27FC236}">
                <a16:creationId xmlns:a16="http://schemas.microsoft.com/office/drawing/2014/main" id="{281C5579-D708-4B3F-A051-F6C486664B65}"/>
              </a:ext>
            </a:extLst>
          </p:cNvPr>
          <p:cNvSpPr>
            <a:spLocks xmlns:a="http://schemas.openxmlformats.org/drawingml/2006/main" noGrp="1"/>
          </p:cNvSpPr>
          <p:nvPr/>
        </p:nvSpPr>
        <p:spPr>
          <a:xfrm xmlns:a="http://schemas.openxmlformats.org/drawingml/2006/main">
            <a:off x="4362450" y="2276475"/>
            <a:ext cx="876300" cy="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16" name="">
            <a:extLst xmlns:a="http://schemas.openxmlformats.org/drawingml/2006/main">
              <a:ext uri="{FF2B5EF4-FFF2-40B4-BE49-F238E27FC236}">
                <a16:creationId xmlns:a16="http://schemas.microsoft.com/office/drawing/2014/main" id="{DD518311-903B-45AB-86E1-4EA66E2089B8}"/>
              </a:ext>
            </a:extLst>
          </p:cNvPr>
          <p:cNvSpPr>
            <a:spLocks xmlns:a="http://schemas.openxmlformats.org/drawingml/2006/main" noGrp="1"/>
          </p:cNvSpPr>
          <p:nvPr/>
        </p:nvSpPr>
        <p:spPr>
          <a:xfrm xmlns:a="http://schemas.openxmlformats.org/drawingml/2006/main">
            <a:off x="5791200" y="1924050"/>
            <a:ext cx="704850" cy="704850"/>
          </a:xfrm>
          <a:prstGeom xmlns:a="http://schemas.openxmlformats.org/drawingml/2006/main" prst="ellipse">
            <a:avLst/>
          </a:prstGeom>
          <a:solidFill xmlns:a="http://schemas.openxmlformats.org/drawingml/2006/main">
            <a:srgbClr val="68E1C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AB2D596-FB18-4E63-A0E7-13D4AF40D46F}"/>
              </a:ext>
            </a:extLst>
          </p:cNvPr>
          <p:cNvSpPr>
            <a:spLocks xmlns:a="http://schemas.openxmlformats.org/drawingml/2006/main" noGrp="1"/>
          </p:cNvSpPr>
          <p:nvPr/>
        </p:nvSpPr>
        <p:spPr>
          <a:xfrm xmlns:a="http://schemas.openxmlformats.org/drawingml/2006/main">
            <a:off x="5791200" y="1924050"/>
            <a:ext cx="7048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100" b="1">
                <a:solidFill>
                  <a:srgbClr val="07111C"/>
                </a:solidFill>
                <a:latin typeface="Liberation Sans"/>
                <a:ea typeface="Liberation Sans"/>
                <a:cs typeface="Liberation Sans"/>
              </a:defRPr>
            </a:pPr>
            <a:r>
              <a:rPr sz="2100" b="1">
                <a:solidFill>
                  <a:srgbClr val="07111C"/>
                </a:solidFill>
                <a:latin typeface="Liberation Sans"/>
                <a:ea typeface="Liberation Sans"/>
                <a:cs typeface="Liberation Sans"/>
              </a:rPr>
              <a:t>3</a:t>
            </a:r>
          </a:p>
        </p:txBody>
      </p:sp>
      <p:sp>
        <p:nvSpPr>
          <p:cNvPr id="18" name="">
            <a:extLst xmlns:a="http://schemas.openxmlformats.org/drawingml/2006/main">
              <a:ext uri="{FF2B5EF4-FFF2-40B4-BE49-F238E27FC236}">
                <a16:creationId xmlns:a16="http://schemas.microsoft.com/office/drawing/2014/main" id="{5BA79CFD-2BD4-4C41-9A29-703C94E17A1E}"/>
              </a:ext>
            </a:extLst>
          </p:cNvPr>
          <p:cNvSpPr>
            <a:spLocks xmlns:a="http://schemas.openxmlformats.org/drawingml/2006/main" noGrp="1"/>
          </p:cNvSpPr>
          <p:nvPr/>
        </p:nvSpPr>
        <p:spPr>
          <a:xfrm xmlns:a="http://schemas.openxmlformats.org/drawingml/2006/main">
            <a:off x="5238750" y="287655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406"/>
          </a:bodyPr>
          <a:lstStyle xmlns:a="http://schemas.openxmlformats.org/drawingml/2006/main"/>
          <a:p xmlns:a="http://schemas.openxmlformats.org/drawingml/2006/main">
            <a:pPr>
              <a:defRPr sz="1725" b="1">
                <a:solidFill>
                  <a:srgbClr val="F4F8FC"/>
                </a:solidFill>
                <a:latin typeface="Liberation Sans"/>
                <a:ea typeface="Liberation Sans"/>
                <a:cs typeface="Liberation Sans"/>
              </a:defRPr>
            </a:pPr>
            <a:r>
              <a:rPr sz="1725" b="1">
                <a:solidFill>
                  <a:srgbClr val="F4F8FC"/>
                </a:solidFill>
                <a:latin typeface="Liberation Sans"/>
                <a:ea typeface="Liberation Sans"/>
                <a:cs typeface="Liberation Sans"/>
              </a:rPr>
              <a:t>Conclude</a:t>
            </a:r>
          </a:p>
        </p:txBody>
      </p:sp>
      <p:sp>
        <p:nvSpPr>
          <p:cNvPr id="19" name="">
            <a:extLst xmlns:a="http://schemas.openxmlformats.org/drawingml/2006/main">
              <a:ext uri="{FF2B5EF4-FFF2-40B4-BE49-F238E27FC236}">
                <a16:creationId xmlns:a16="http://schemas.microsoft.com/office/drawing/2014/main" id="{FFB72DEF-7DAB-432A-AD91-31D7780BC1D9}"/>
              </a:ext>
            </a:extLst>
          </p:cNvPr>
          <p:cNvSpPr>
            <a:spLocks xmlns:a="http://schemas.openxmlformats.org/drawingml/2006/main" noGrp="1"/>
          </p:cNvSpPr>
          <p:nvPr/>
        </p:nvSpPr>
        <p:spPr>
          <a:xfrm xmlns:a="http://schemas.openxmlformats.org/drawingml/2006/main">
            <a:off x="5238750" y="3276600"/>
            <a:ext cx="1809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Structured RCA</a:t>
            </a:r>
          </a:p>
        </p:txBody>
      </p:sp>
      <p:sp>
        <p:nvSpPr>
          <p:cNvPr id="20" name="">
            <a:extLst xmlns:a="http://schemas.openxmlformats.org/drawingml/2006/main">
              <a:ext uri="{FF2B5EF4-FFF2-40B4-BE49-F238E27FC236}">
                <a16:creationId xmlns:a16="http://schemas.microsoft.com/office/drawing/2014/main" id="{E9A9B767-3094-492E-9C4B-2829A6CDE3C3}"/>
              </a:ext>
            </a:extLst>
          </p:cNvPr>
          <p:cNvSpPr>
            <a:spLocks xmlns:a="http://schemas.openxmlformats.org/drawingml/2006/main" noGrp="1"/>
          </p:cNvSpPr>
          <p:nvPr/>
        </p:nvSpPr>
        <p:spPr>
          <a:xfrm xmlns:a="http://schemas.openxmlformats.org/drawingml/2006/main">
            <a:off x="6629400" y="2276475"/>
            <a:ext cx="876300" cy="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21" name="">
            <a:extLst xmlns:a="http://schemas.openxmlformats.org/drawingml/2006/main">
              <a:ext uri="{FF2B5EF4-FFF2-40B4-BE49-F238E27FC236}">
                <a16:creationId xmlns:a16="http://schemas.microsoft.com/office/drawing/2014/main" id="{2365403C-5429-43FC-A81B-811893B87846}"/>
              </a:ext>
            </a:extLst>
          </p:cNvPr>
          <p:cNvSpPr>
            <a:spLocks xmlns:a="http://schemas.openxmlformats.org/drawingml/2006/main" noGrp="1"/>
          </p:cNvSpPr>
          <p:nvPr/>
        </p:nvSpPr>
        <p:spPr>
          <a:xfrm xmlns:a="http://schemas.openxmlformats.org/drawingml/2006/main">
            <a:off x="8058150" y="1924050"/>
            <a:ext cx="704850" cy="704850"/>
          </a:xfrm>
          <a:prstGeom xmlns:a="http://schemas.openxmlformats.org/drawingml/2006/main" prst="ellipse">
            <a:avLst/>
          </a:prstGeom>
          <a:solidFill xmlns:a="http://schemas.openxmlformats.org/drawingml/2006/main">
            <a:srgbClr val="FFCA6B"/>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21275DF-E051-4048-9AE7-E6F8FAFEB8BF}"/>
              </a:ext>
            </a:extLst>
          </p:cNvPr>
          <p:cNvSpPr>
            <a:spLocks xmlns:a="http://schemas.openxmlformats.org/drawingml/2006/main" noGrp="1"/>
          </p:cNvSpPr>
          <p:nvPr/>
        </p:nvSpPr>
        <p:spPr>
          <a:xfrm xmlns:a="http://schemas.openxmlformats.org/drawingml/2006/main">
            <a:off x="8058150" y="1924050"/>
            <a:ext cx="7048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100" b="1">
                <a:solidFill>
                  <a:srgbClr val="07111C"/>
                </a:solidFill>
                <a:latin typeface="Liberation Sans"/>
                <a:ea typeface="Liberation Sans"/>
                <a:cs typeface="Liberation Sans"/>
              </a:defRPr>
            </a:pPr>
            <a:r>
              <a:rPr sz="2100" b="1">
                <a:solidFill>
                  <a:srgbClr val="07111C"/>
                </a:solidFill>
                <a:latin typeface="Liberation Sans"/>
                <a:ea typeface="Liberation Sans"/>
                <a:cs typeface="Liberation Sans"/>
              </a:rPr>
              <a:t>4</a:t>
            </a:r>
          </a:p>
        </p:txBody>
      </p:sp>
      <p:sp>
        <p:nvSpPr>
          <p:cNvPr id="23" name="">
            <a:extLst xmlns:a="http://schemas.openxmlformats.org/drawingml/2006/main">
              <a:ext uri="{FF2B5EF4-FFF2-40B4-BE49-F238E27FC236}">
                <a16:creationId xmlns:a16="http://schemas.microsoft.com/office/drawing/2014/main" id="{E33B8046-13FB-4965-87C3-CD04CD44A061}"/>
              </a:ext>
            </a:extLst>
          </p:cNvPr>
          <p:cNvSpPr>
            <a:spLocks xmlns:a="http://schemas.openxmlformats.org/drawingml/2006/main" noGrp="1"/>
          </p:cNvSpPr>
          <p:nvPr/>
        </p:nvSpPr>
        <p:spPr>
          <a:xfrm xmlns:a="http://schemas.openxmlformats.org/drawingml/2006/main">
            <a:off x="7505700" y="287655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406"/>
          </a:bodyPr>
          <a:lstStyle xmlns:a="http://schemas.openxmlformats.org/drawingml/2006/main"/>
          <a:p xmlns:a="http://schemas.openxmlformats.org/drawingml/2006/main">
            <a:pPr>
              <a:defRPr sz="1725" b="1">
                <a:solidFill>
                  <a:srgbClr val="F4F8FC"/>
                </a:solidFill>
                <a:latin typeface="Liberation Sans"/>
                <a:ea typeface="Liberation Sans"/>
                <a:cs typeface="Liberation Sans"/>
              </a:defRPr>
            </a:pPr>
            <a:r>
              <a:rPr sz="1725" b="1">
                <a:solidFill>
                  <a:srgbClr val="F4F8FC"/>
                </a:solidFill>
                <a:latin typeface="Liberation Sans"/>
                <a:ea typeface="Liberation Sans"/>
                <a:cs typeface="Liberation Sans"/>
              </a:rPr>
              <a:t>Review</a:t>
            </a:r>
          </a:p>
        </p:txBody>
      </p:sp>
      <p:sp>
        <p:nvSpPr>
          <p:cNvPr id="24" name="">
            <a:extLst xmlns:a="http://schemas.openxmlformats.org/drawingml/2006/main">
              <a:ext uri="{FF2B5EF4-FFF2-40B4-BE49-F238E27FC236}">
                <a16:creationId xmlns:a16="http://schemas.microsoft.com/office/drawing/2014/main" id="{35C368D1-C3B9-4DA1-B4E9-6E6F0E9ABB58}"/>
              </a:ext>
            </a:extLst>
          </p:cNvPr>
          <p:cNvSpPr>
            <a:spLocks xmlns:a="http://schemas.openxmlformats.org/drawingml/2006/main" noGrp="1"/>
          </p:cNvSpPr>
          <p:nvPr/>
        </p:nvSpPr>
        <p:spPr>
          <a:xfrm xmlns:a="http://schemas.openxmlformats.org/drawingml/2006/main">
            <a:off x="7505700" y="3276600"/>
            <a:ext cx="1809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Human decision</a:t>
            </a:r>
          </a:p>
        </p:txBody>
      </p:sp>
      <p:sp>
        <p:nvSpPr>
          <p:cNvPr id="25" name="">
            <a:extLst xmlns:a="http://schemas.openxmlformats.org/drawingml/2006/main">
              <a:ext uri="{FF2B5EF4-FFF2-40B4-BE49-F238E27FC236}">
                <a16:creationId xmlns:a16="http://schemas.microsoft.com/office/drawing/2014/main" id="{FC3C273B-940D-4240-A77B-ABBC796589D7}"/>
              </a:ext>
            </a:extLst>
          </p:cNvPr>
          <p:cNvSpPr>
            <a:spLocks xmlns:a="http://schemas.openxmlformats.org/drawingml/2006/main" noGrp="1"/>
          </p:cNvSpPr>
          <p:nvPr/>
        </p:nvSpPr>
        <p:spPr>
          <a:xfrm xmlns:a="http://schemas.openxmlformats.org/drawingml/2006/main">
            <a:off x="8896350" y="2276475"/>
            <a:ext cx="876300" cy="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26" name="">
            <a:extLst xmlns:a="http://schemas.openxmlformats.org/drawingml/2006/main">
              <a:ext uri="{FF2B5EF4-FFF2-40B4-BE49-F238E27FC236}">
                <a16:creationId xmlns:a16="http://schemas.microsoft.com/office/drawing/2014/main" id="{2F19AD0C-B8B3-418F-A823-4EFCF28FF005}"/>
              </a:ext>
            </a:extLst>
          </p:cNvPr>
          <p:cNvSpPr>
            <a:spLocks xmlns:a="http://schemas.openxmlformats.org/drawingml/2006/main" noGrp="1"/>
          </p:cNvSpPr>
          <p:nvPr/>
        </p:nvSpPr>
        <p:spPr>
          <a:xfrm xmlns:a="http://schemas.openxmlformats.org/drawingml/2006/main">
            <a:off x="10325100" y="1924050"/>
            <a:ext cx="704850" cy="704850"/>
          </a:xfrm>
          <a:prstGeom xmlns:a="http://schemas.openxmlformats.org/drawingml/2006/main" prst="ellipse">
            <a:avLst/>
          </a:prstGeom>
          <a:solidFill xmlns:a="http://schemas.openxmlformats.org/drawingml/2006/main">
            <a:srgbClr val="54D6F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0318CA85-73D5-44F1-BFAB-FC21F1D82944}"/>
              </a:ext>
            </a:extLst>
          </p:cNvPr>
          <p:cNvSpPr>
            <a:spLocks xmlns:a="http://schemas.openxmlformats.org/drawingml/2006/main" noGrp="1"/>
          </p:cNvSpPr>
          <p:nvPr/>
        </p:nvSpPr>
        <p:spPr>
          <a:xfrm xmlns:a="http://schemas.openxmlformats.org/drawingml/2006/main">
            <a:off x="10325100" y="1924050"/>
            <a:ext cx="7048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100" b="1">
                <a:solidFill>
                  <a:srgbClr val="07111C"/>
                </a:solidFill>
                <a:latin typeface="Liberation Sans"/>
                <a:ea typeface="Liberation Sans"/>
                <a:cs typeface="Liberation Sans"/>
              </a:defRPr>
            </a:pPr>
            <a:r>
              <a:rPr sz="2100" b="1">
                <a:solidFill>
                  <a:srgbClr val="07111C"/>
                </a:solidFill>
                <a:latin typeface="Liberation Sans"/>
                <a:ea typeface="Liberation Sans"/>
                <a:cs typeface="Liberation Sans"/>
              </a:rPr>
              <a:t>5</a:t>
            </a:r>
          </a:p>
        </p:txBody>
      </p:sp>
      <p:sp>
        <p:nvSpPr>
          <p:cNvPr id="28" name="">
            <a:extLst xmlns:a="http://schemas.openxmlformats.org/drawingml/2006/main">
              <a:ext uri="{FF2B5EF4-FFF2-40B4-BE49-F238E27FC236}">
                <a16:creationId xmlns:a16="http://schemas.microsoft.com/office/drawing/2014/main" id="{AE30C56C-751E-4A63-97A6-677A5975AF7F}"/>
              </a:ext>
            </a:extLst>
          </p:cNvPr>
          <p:cNvSpPr>
            <a:spLocks xmlns:a="http://schemas.openxmlformats.org/drawingml/2006/main" noGrp="1"/>
          </p:cNvSpPr>
          <p:nvPr/>
        </p:nvSpPr>
        <p:spPr>
          <a:xfrm xmlns:a="http://schemas.openxmlformats.org/drawingml/2006/main">
            <a:off x="9772650" y="287655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406"/>
          </a:bodyPr>
          <a:lstStyle xmlns:a="http://schemas.openxmlformats.org/drawingml/2006/main"/>
          <a:p xmlns:a="http://schemas.openxmlformats.org/drawingml/2006/main">
            <a:pPr>
              <a:defRPr sz="1725" b="1">
                <a:solidFill>
                  <a:srgbClr val="F4F8FC"/>
                </a:solidFill>
                <a:latin typeface="Liberation Sans"/>
                <a:ea typeface="Liberation Sans"/>
                <a:cs typeface="Liberation Sans"/>
              </a:defRPr>
            </a:pPr>
            <a:r>
              <a:rPr sz="1725" b="1">
                <a:solidFill>
                  <a:srgbClr val="F4F8FC"/>
                </a:solidFill>
                <a:latin typeface="Liberation Sans"/>
                <a:ea typeface="Liberation Sans"/>
                <a:cs typeface="Liberation Sans"/>
              </a:rPr>
              <a:t>Record</a:t>
            </a:r>
          </a:p>
        </p:txBody>
      </p:sp>
      <p:sp>
        <p:nvSpPr>
          <p:cNvPr id="29" name="">
            <a:extLst xmlns:a="http://schemas.openxmlformats.org/drawingml/2006/main">
              <a:ext uri="{FF2B5EF4-FFF2-40B4-BE49-F238E27FC236}">
                <a16:creationId xmlns:a16="http://schemas.microsoft.com/office/drawing/2014/main" id="{FD8AE4E0-951E-4F02-8C14-B26D4250B33A}"/>
              </a:ext>
            </a:extLst>
          </p:cNvPr>
          <p:cNvSpPr>
            <a:spLocks xmlns:a="http://schemas.openxmlformats.org/drawingml/2006/main" noGrp="1"/>
          </p:cNvSpPr>
          <p:nvPr/>
        </p:nvSpPr>
        <p:spPr>
          <a:xfrm xmlns:a="http://schemas.openxmlformats.org/drawingml/2006/main">
            <a:off x="9772650" y="3276600"/>
            <a:ext cx="1809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Audit and cost</a:t>
            </a:r>
          </a:p>
        </p:txBody>
      </p:sp>
      <p:sp>
        <p:nvSpPr>
          <p:cNvPr id="30" name="">
            <a:extLst xmlns:a="http://schemas.openxmlformats.org/drawingml/2006/main">
              <a:ext uri="{FF2B5EF4-FFF2-40B4-BE49-F238E27FC236}">
                <a16:creationId xmlns:a16="http://schemas.microsoft.com/office/drawing/2014/main" id="{B76101BD-5F1B-472D-A95C-D41D96D30AC8}"/>
              </a:ext>
            </a:extLst>
          </p:cNvPr>
          <p:cNvSpPr>
            <a:spLocks xmlns:a="http://schemas.openxmlformats.org/drawingml/2006/main" noGrp="1"/>
          </p:cNvSpPr>
          <p:nvPr/>
        </p:nvSpPr>
        <p:spPr>
          <a:xfrm xmlns:a="http://schemas.openxmlformats.org/drawingml/2006/main">
            <a:off x="1752600" y="4400550"/>
            <a:ext cx="8686800" cy="1066800"/>
          </a:xfrm>
          <a:prstGeom xmlns:a="http://schemas.openxmlformats.org/drawingml/2006/main" prst="roundRect">
            <a:avLst>
              <a:gd name="adj" fmla="val 14286"/>
            </a:avLst>
          </a:prstGeom>
          <a:solidFill xmlns:a="http://schemas.openxmlformats.org/drawingml/2006/main">
            <a:srgbClr val="102338"/>
          </a:solidFill>
          <a:ln xmlns:a="http://schemas.openxmlformats.org/drawingml/2006/main" w="14288">
            <a:solidFill>
              <a:srgbClr val="29445D"/>
            </a:solidFill>
            <a:prstDash val="solid"/>
          </a:ln>
        </p:spPr>
      </p:sp>
      <p:sp>
        <p:nvSpPr>
          <p:cNvPr id="31" name="">
            <a:extLst xmlns:a="http://schemas.openxmlformats.org/drawingml/2006/main">
              <a:ext uri="{FF2B5EF4-FFF2-40B4-BE49-F238E27FC236}">
                <a16:creationId xmlns:a16="http://schemas.microsoft.com/office/drawing/2014/main" id="{971BC9FA-E101-4D1C-91E6-963531F9314D}"/>
              </a:ext>
            </a:extLst>
          </p:cNvPr>
          <p:cNvSpPr>
            <a:spLocks xmlns:a="http://schemas.openxmlformats.org/drawingml/2006/main" noGrp="1"/>
          </p:cNvSpPr>
          <p:nvPr/>
        </p:nvSpPr>
        <p:spPr>
          <a:xfrm xmlns:a="http://schemas.openxmlformats.org/drawingml/2006/main">
            <a:off x="2095500" y="4591050"/>
            <a:ext cx="180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350" b="1">
                <a:solidFill>
                  <a:srgbClr val="54D6FF"/>
                </a:solidFill>
                <a:latin typeface="Liberation Sans"/>
                <a:ea typeface="Liberation Sans"/>
                <a:cs typeface="Liberation Sans"/>
              </a:defRPr>
            </a:pPr>
            <a:r>
              <a:rPr sz="1350" b="1">
                <a:solidFill>
                  <a:srgbClr val="54D6FF"/>
                </a:solidFill>
                <a:latin typeface="Liberation Sans"/>
                <a:ea typeface="Liberation Sans"/>
                <a:cs typeface="Liberation Sans"/>
              </a:rPr>
              <a:t>Output contract</a:t>
            </a:r>
          </a:p>
        </p:txBody>
      </p:sp>
      <p:sp>
        <p:nvSpPr>
          <p:cNvPr id="32" name="">
            <a:extLst xmlns:a="http://schemas.openxmlformats.org/drawingml/2006/main">
              <a:ext uri="{FF2B5EF4-FFF2-40B4-BE49-F238E27FC236}">
                <a16:creationId xmlns:a16="http://schemas.microsoft.com/office/drawing/2014/main" id="{5E3079AA-7861-41E3-8917-B154C2C65F28}"/>
              </a:ext>
            </a:extLst>
          </p:cNvPr>
          <p:cNvSpPr>
            <a:spLocks xmlns:a="http://schemas.openxmlformats.org/drawingml/2006/main" noGrp="1"/>
          </p:cNvSpPr>
          <p:nvPr/>
        </p:nvSpPr>
        <p:spPr>
          <a:xfrm xmlns:a="http://schemas.openxmlformats.org/drawingml/2006/main">
            <a:off x="2095500" y="4953000"/>
            <a:ext cx="7905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350" b="0">
                <a:solidFill>
                  <a:srgbClr val="F4F8FC"/>
                </a:solidFill>
                <a:latin typeface="Liberation Sans"/>
                <a:ea typeface="Liberation Sans"/>
                <a:cs typeface="Liberation Sans"/>
              </a:defRPr>
            </a:pPr>
            <a:r>
              <a:rPr sz="1350" b="0">
                <a:solidFill>
                  <a:srgbClr val="F4F8FC"/>
                </a:solidFill>
                <a:latin typeface="Liberation Sans"/>
                <a:ea typeface="Liberation Sans"/>
                <a:cs typeface="Liberation Sans"/>
              </a:rPr>
              <a:t>root cause    /    evidence    /    confidence    /    affected resources    /    suggested fix</a:t>
            </a:r>
          </a:p>
        </p:txBody>
      </p:sp>
    </p:spTree>
    <p:extLst>
      <p:ext uri="{BB962C8B-B14F-4D97-AF65-F5344CB8AC3E}">
        <p14:creationId xmlns:p14="http://schemas.microsoft.com/office/powerpoint/2010/main" val="1911986792"/>
      </p:ext>
    </p:extLst>
  </p:cSld>
</p:sld>
</file>

<file path=ppt/slides/slide6.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4C300EFA-20C5-41F3-B80F-D0489D02544F}"/>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54D6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7288BC-C269-4C97-B68E-D9A92AB6E8AB}"/>
              </a:ext>
            </a:extLst>
          </p:cNvPr>
          <p:cNvSpPr>
            <a:spLocks xmlns:a="http://schemas.openxmlformats.org/drawingml/2006/main" noGrp="1"/>
          </p:cNvSpPr>
          <p:nvPr/>
        </p:nvSpPr>
        <p:spPr>
          <a:xfrm xmlns:a="http://schemas.openxmlformats.org/drawingml/2006/main">
            <a:off x="590550" y="4000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550" b="1">
                <a:solidFill>
                  <a:srgbClr val="F4F8FC"/>
                </a:solidFill>
                <a:latin typeface="Liberation Sans"/>
                <a:ea typeface="Liberation Sans"/>
                <a:cs typeface="Liberation Sans"/>
              </a:defRPr>
            </a:pPr>
            <a:r>
              <a:rPr sz="2550" b="1">
                <a:solidFill>
                  <a:srgbClr val="F4F8FC"/>
                </a:solidFill>
                <a:latin typeface="Liberation Sans"/>
                <a:ea typeface="Liberation Sans"/>
                <a:cs typeface="Liberation Sans"/>
              </a:rPr>
              <a:t>Governance boundaries</a:t>
            </a:r>
          </a:p>
        </p:txBody>
      </p:sp>
      <p:sp>
        <p:nvSpPr>
          <p:cNvPr id="3" name="">
            <a:extLst xmlns:a="http://schemas.openxmlformats.org/drawingml/2006/main">
              <a:ext uri="{FF2B5EF4-FFF2-40B4-BE49-F238E27FC236}">
                <a16:creationId xmlns:a16="http://schemas.microsoft.com/office/drawing/2014/main" id="{066FE5CD-2050-425A-862A-D59F157EECD8}"/>
              </a:ext>
            </a:extLst>
          </p:cNvPr>
          <p:cNvSpPr>
            <a:spLocks xmlns:a="http://schemas.openxmlformats.org/drawingml/2006/main" noGrp="1"/>
          </p:cNvSpPr>
          <p:nvPr/>
        </p:nvSpPr>
        <p:spPr>
          <a:xfrm xmlns:a="http://schemas.openxmlformats.org/drawingml/2006/main">
            <a:off x="609600" y="9334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The demo proves control through enforced permissions, not through instructions alone</a:t>
            </a:r>
          </a:p>
        </p:txBody>
      </p:sp>
      <p:sp>
        <p:nvSpPr>
          <p:cNvPr id="4" name="">
            <a:extLst xmlns:a="http://schemas.openxmlformats.org/drawingml/2006/main">
              <a:ext uri="{FF2B5EF4-FFF2-40B4-BE49-F238E27FC236}">
                <a16:creationId xmlns:a16="http://schemas.microsoft.com/office/drawing/2014/main" id="{4C77F199-54F4-4495-9020-0FA71C645BA3}"/>
              </a:ext>
            </a:extLst>
          </p:cNvPr>
          <p:cNvSpPr>
            <a:spLocks xmlns:a="http://schemas.openxmlformats.org/drawingml/2006/main" noGrp="1"/>
          </p:cNvSpPr>
          <p:nvPr/>
        </p:nvSpPr>
        <p:spPr>
          <a:xfrm xmlns:a="http://schemas.openxmlformats.org/drawingml/2006/main">
            <a:off x="11258550" y="62293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06</a:t>
            </a:r>
          </a:p>
        </p:txBody>
      </p:sp>
      <p:sp>
        <p:nvSpPr>
          <p:cNvPr id="5" name="">
            <a:extLst xmlns:a="http://schemas.openxmlformats.org/drawingml/2006/main">
              <a:ext uri="{FF2B5EF4-FFF2-40B4-BE49-F238E27FC236}">
                <a16:creationId xmlns:a16="http://schemas.microsoft.com/office/drawing/2014/main" id="{CF43164F-D043-40BF-BC70-16123F03A2F5}"/>
              </a:ext>
            </a:extLst>
          </p:cNvPr>
          <p:cNvSpPr>
            <a:spLocks xmlns:a="http://schemas.openxmlformats.org/drawingml/2006/main" noGrp="1"/>
          </p:cNvSpPr>
          <p:nvPr/>
        </p:nvSpPr>
        <p:spPr>
          <a:xfrm xmlns:a="http://schemas.openxmlformats.org/drawingml/2006/main">
            <a:off x="590550" y="62293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KAOP by Nirit Terehovsky</a:t>
            </a:r>
          </a:p>
        </p:txBody>
      </p:sp>
      <p:sp>
        <p:nvSpPr>
          <p:cNvPr id="6" name="">
            <a:extLst xmlns:a="http://schemas.openxmlformats.org/drawingml/2006/main">
              <a:ext uri="{FF2B5EF4-FFF2-40B4-BE49-F238E27FC236}">
                <a16:creationId xmlns:a16="http://schemas.microsoft.com/office/drawing/2014/main" id="{E795BC62-CFDA-4945-A205-6D20F10790C1}"/>
              </a:ext>
            </a:extLst>
          </p:cNvPr>
          <p:cNvSpPr>
            <a:spLocks xmlns:a="http://schemas.openxmlformats.org/drawingml/2006/main" noGrp="1"/>
          </p:cNvSpPr>
          <p:nvPr/>
        </p:nvSpPr>
        <p:spPr>
          <a:xfrm xmlns:a="http://schemas.openxmlformats.org/drawingml/2006/main">
            <a:off x="704850" y="1504950"/>
            <a:ext cx="5143500" cy="4114800"/>
          </a:xfrm>
          <a:prstGeom xmlns:a="http://schemas.openxmlformats.org/drawingml/2006/main" prst="roundRect">
            <a:avLst>
              <a:gd name="adj" fmla="val 4630"/>
            </a:avLst>
          </a:prstGeom>
          <a:solidFill xmlns:a="http://schemas.openxmlformats.org/drawingml/2006/main">
            <a:srgbClr val="102338"/>
          </a:solidFill>
          <a:ln xmlns:a="http://schemas.openxmlformats.org/drawingml/2006/main" w="14288">
            <a:solidFill>
              <a:srgbClr val="29445D"/>
            </a:solidFill>
            <a:prstDash val="solid"/>
          </a:ln>
        </p:spPr>
      </p:sp>
      <p:sp>
        <p:nvSpPr>
          <p:cNvPr id="7" name="">
            <a:extLst xmlns:a="http://schemas.openxmlformats.org/drawingml/2006/main">
              <a:ext uri="{FF2B5EF4-FFF2-40B4-BE49-F238E27FC236}">
                <a16:creationId xmlns:a16="http://schemas.microsoft.com/office/drawing/2014/main" id="{21FBE094-3A9A-4128-B839-D3A91747F825}"/>
              </a:ext>
            </a:extLst>
          </p:cNvPr>
          <p:cNvSpPr>
            <a:spLocks xmlns:a="http://schemas.openxmlformats.org/drawingml/2006/main" noGrp="1"/>
          </p:cNvSpPr>
          <p:nvPr/>
        </p:nvSpPr>
        <p:spPr>
          <a:xfrm xmlns:a="http://schemas.openxmlformats.org/drawingml/2006/main">
            <a:off x="1047750" y="177165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875" b="1">
                <a:solidFill>
                  <a:srgbClr val="54D6FF"/>
                </a:solidFill>
                <a:latin typeface="Liberation Sans"/>
                <a:ea typeface="Liberation Sans"/>
                <a:cs typeface="Liberation Sans"/>
              </a:defRPr>
            </a:pPr>
            <a:r>
              <a:rPr sz="1875" b="1">
                <a:solidFill>
                  <a:srgbClr val="54D6FF"/>
                </a:solidFill>
                <a:latin typeface="Liberation Sans"/>
                <a:ea typeface="Liberation Sans"/>
                <a:cs typeface="Liberation Sans"/>
              </a:rPr>
              <a:t>Kubernetes investigator</a:t>
            </a:r>
          </a:p>
        </p:txBody>
      </p:sp>
      <p:sp>
        <p:nvSpPr>
          <p:cNvPr id="8" name="">
            <a:extLst xmlns:a="http://schemas.openxmlformats.org/drawingml/2006/main">
              <a:ext uri="{FF2B5EF4-FFF2-40B4-BE49-F238E27FC236}">
                <a16:creationId xmlns:a16="http://schemas.microsoft.com/office/drawing/2014/main" id="{48E38B0C-D088-46A0-8D49-4B0E2E0180B0}"/>
              </a:ext>
            </a:extLst>
          </p:cNvPr>
          <p:cNvSpPr>
            <a:spLocks xmlns:a="http://schemas.openxmlformats.org/drawingml/2006/main" noGrp="1"/>
          </p:cNvSpPr>
          <p:nvPr/>
        </p:nvSpPr>
        <p:spPr>
          <a:xfrm xmlns:a="http://schemas.openxmlformats.org/drawingml/2006/main">
            <a:off x="1047750" y="2362200"/>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68E1C4"/>
                </a:solidFill>
                <a:latin typeface="Liberation Sans"/>
                <a:ea typeface="Liberation Sans"/>
                <a:cs typeface="Liberation Sans"/>
              </a:defRPr>
            </a:pPr>
            <a:r>
              <a:rPr sz="900" b="1">
                <a:solidFill>
                  <a:srgbClr val="68E1C4"/>
                </a:solidFill>
                <a:latin typeface="Liberation Sans"/>
                <a:ea typeface="Liberation Sans"/>
                <a:cs typeface="Liberation Sans"/>
              </a:rPr>
              <a:t>ALLOWED</a:t>
            </a:r>
          </a:p>
        </p:txBody>
      </p:sp>
      <p:sp>
        <p:nvSpPr>
          <p:cNvPr id="9" name="">
            <a:extLst xmlns:a="http://schemas.openxmlformats.org/drawingml/2006/main">
              <a:ext uri="{FF2B5EF4-FFF2-40B4-BE49-F238E27FC236}">
                <a16:creationId xmlns:a16="http://schemas.microsoft.com/office/drawing/2014/main" id="{D3E3A7AE-CA08-4140-9562-27E631821918}"/>
              </a:ext>
            </a:extLst>
          </p:cNvPr>
          <p:cNvSpPr>
            <a:spLocks xmlns:a="http://schemas.openxmlformats.org/drawingml/2006/main" noGrp="1"/>
          </p:cNvSpPr>
          <p:nvPr/>
        </p:nvSpPr>
        <p:spPr>
          <a:xfrm xmlns:a="http://schemas.openxmlformats.org/drawingml/2006/main">
            <a:off x="1162050" y="272415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425" b="0">
                <a:solidFill>
                  <a:srgbClr val="F4F8FC"/>
                </a:solidFill>
                <a:latin typeface="Liberation Sans"/>
                <a:ea typeface="Liberation Sans"/>
                <a:cs typeface="Liberation Sans"/>
              </a:defRPr>
            </a:pPr>
            <a:r>
              <a:rPr sz="1425" b="0">
                <a:solidFill>
                  <a:srgbClr val="F4F8FC"/>
                </a:solidFill>
                <a:latin typeface="Liberation Sans"/>
                <a:ea typeface="Liberation Sans"/>
                <a:cs typeface="Liberation Sans"/>
              </a:rPr>
              <a:t>+  Pods and logs</a:t>
            </a:r>
          </a:p>
        </p:txBody>
      </p:sp>
      <p:sp>
        <p:nvSpPr>
          <p:cNvPr id="10" name="">
            <a:extLst xmlns:a="http://schemas.openxmlformats.org/drawingml/2006/main">
              <a:ext uri="{FF2B5EF4-FFF2-40B4-BE49-F238E27FC236}">
                <a16:creationId xmlns:a16="http://schemas.microsoft.com/office/drawing/2014/main" id="{94CC4949-045B-493E-9DEA-13A24EE000B4}"/>
              </a:ext>
            </a:extLst>
          </p:cNvPr>
          <p:cNvSpPr>
            <a:spLocks xmlns:a="http://schemas.openxmlformats.org/drawingml/2006/main" noGrp="1"/>
          </p:cNvSpPr>
          <p:nvPr/>
        </p:nvSpPr>
        <p:spPr>
          <a:xfrm xmlns:a="http://schemas.openxmlformats.org/drawingml/2006/main">
            <a:off x="1162050" y="318135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425" b="0">
                <a:solidFill>
                  <a:srgbClr val="F4F8FC"/>
                </a:solidFill>
                <a:latin typeface="Liberation Sans"/>
                <a:ea typeface="Liberation Sans"/>
                <a:cs typeface="Liberation Sans"/>
              </a:defRPr>
            </a:pPr>
            <a:r>
              <a:rPr sz="1425" b="0">
                <a:solidFill>
                  <a:srgbClr val="F4F8FC"/>
                </a:solidFill>
                <a:latin typeface="Liberation Sans"/>
                <a:ea typeface="Liberation Sans"/>
                <a:cs typeface="Liberation Sans"/>
              </a:rPr>
              <a:t>+  Events and workloads</a:t>
            </a:r>
          </a:p>
        </p:txBody>
      </p:sp>
      <p:sp>
        <p:nvSpPr>
          <p:cNvPr id="11" name="">
            <a:extLst xmlns:a="http://schemas.openxmlformats.org/drawingml/2006/main">
              <a:ext uri="{FF2B5EF4-FFF2-40B4-BE49-F238E27FC236}">
                <a16:creationId xmlns:a16="http://schemas.microsoft.com/office/drawing/2014/main" id="{3FA83F55-2872-4650-AA36-F2092AC7A953}"/>
              </a:ext>
            </a:extLst>
          </p:cNvPr>
          <p:cNvSpPr>
            <a:spLocks xmlns:a="http://schemas.openxmlformats.org/drawingml/2006/main" noGrp="1"/>
          </p:cNvSpPr>
          <p:nvPr/>
        </p:nvSpPr>
        <p:spPr>
          <a:xfrm xmlns:a="http://schemas.openxmlformats.org/drawingml/2006/main">
            <a:off x="1162050" y="363855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425" b="0">
                <a:solidFill>
                  <a:srgbClr val="F4F8FC"/>
                </a:solidFill>
                <a:latin typeface="Liberation Sans"/>
                <a:ea typeface="Liberation Sans"/>
                <a:cs typeface="Liberation Sans"/>
              </a:defRPr>
            </a:pPr>
            <a:r>
              <a:rPr sz="1425" b="0">
                <a:solidFill>
                  <a:srgbClr val="F4F8FC"/>
                </a:solidFill>
                <a:latin typeface="Liberation Sans"/>
                <a:ea typeface="Liberation Sans"/>
                <a:cs typeface="Liberation Sans"/>
              </a:rPr>
              <a:t>+  Services and endpoints</a:t>
            </a:r>
          </a:p>
        </p:txBody>
      </p:sp>
      <p:sp>
        <p:nvSpPr>
          <p:cNvPr id="12" name="">
            <a:extLst xmlns:a="http://schemas.openxmlformats.org/drawingml/2006/main">
              <a:ext uri="{FF2B5EF4-FFF2-40B4-BE49-F238E27FC236}">
                <a16:creationId xmlns:a16="http://schemas.microsoft.com/office/drawing/2014/main" id="{DD7FCA71-66A1-4DDF-91B2-A1409D13FA2B}"/>
              </a:ext>
            </a:extLst>
          </p:cNvPr>
          <p:cNvSpPr>
            <a:spLocks xmlns:a="http://schemas.openxmlformats.org/drawingml/2006/main" noGrp="1"/>
          </p:cNvSpPr>
          <p:nvPr/>
        </p:nvSpPr>
        <p:spPr>
          <a:xfrm xmlns:a="http://schemas.openxmlformats.org/drawingml/2006/main">
            <a:off x="1047750" y="4171950"/>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FF7285"/>
                </a:solidFill>
                <a:latin typeface="Liberation Sans"/>
                <a:ea typeface="Liberation Sans"/>
                <a:cs typeface="Liberation Sans"/>
              </a:defRPr>
            </a:pPr>
            <a:r>
              <a:rPr sz="900" b="1">
                <a:solidFill>
                  <a:srgbClr val="FF7285"/>
                </a:solidFill>
                <a:latin typeface="Liberation Sans"/>
                <a:ea typeface="Liberation Sans"/>
                <a:cs typeface="Liberation Sans"/>
              </a:rPr>
              <a:t>DENIED</a:t>
            </a:r>
          </a:p>
        </p:txBody>
      </p:sp>
      <p:sp>
        <p:nvSpPr>
          <p:cNvPr id="13" name="">
            <a:extLst xmlns:a="http://schemas.openxmlformats.org/drawingml/2006/main">
              <a:ext uri="{FF2B5EF4-FFF2-40B4-BE49-F238E27FC236}">
                <a16:creationId xmlns:a16="http://schemas.microsoft.com/office/drawing/2014/main" id="{834ADF26-29BD-4E4D-B4AE-704996EE93BF}"/>
              </a:ext>
            </a:extLst>
          </p:cNvPr>
          <p:cNvSpPr>
            <a:spLocks xmlns:a="http://schemas.openxmlformats.org/drawingml/2006/main" noGrp="1"/>
          </p:cNvSpPr>
          <p:nvPr/>
        </p:nvSpPr>
        <p:spPr>
          <a:xfrm xmlns:a="http://schemas.openxmlformats.org/drawingml/2006/main">
            <a:off x="1162050" y="4514850"/>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  Secrets</a:t>
            </a:r>
          </a:p>
        </p:txBody>
      </p:sp>
      <p:sp>
        <p:nvSpPr>
          <p:cNvPr id="14" name="">
            <a:extLst xmlns:a="http://schemas.openxmlformats.org/drawingml/2006/main">
              <a:ext uri="{FF2B5EF4-FFF2-40B4-BE49-F238E27FC236}">
                <a16:creationId xmlns:a16="http://schemas.microsoft.com/office/drawing/2014/main" id="{EB112423-CDA2-4FA1-B06D-7FAE9BDA0959}"/>
              </a:ext>
            </a:extLst>
          </p:cNvPr>
          <p:cNvSpPr>
            <a:spLocks xmlns:a="http://schemas.openxmlformats.org/drawingml/2006/main" noGrp="1"/>
          </p:cNvSpPr>
          <p:nvPr/>
        </p:nvSpPr>
        <p:spPr>
          <a:xfrm xmlns:a="http://schemas.openxmlformats.org/drawingml/2006/main">
            <a:off x="1162050" y="4838700"/>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  Cluster scope</a:t>
            </a:r>
          </a:p>
        </p:txBody>
      </p:sp>
      <p:sp>
        <p:nvSpPr>
          <p:cNvPr id="15" name="">
            <a:extLst xmlns:a="http://schemas.openxmlformats.org/drawingml/2006/main">
              <a:ext uri="{FF2B5EF4-FFF2-40B4-BE49-F238E27FC236}">
                <a16:creationId xmlns:a16="http://schemas.microsoft.com/office/drawing/2014/main" id="{B5A36283-7AC6-4FCF-9E40-0DD2802A4EA6}"/>
              </a:ext>
            </a:extLst>
          </p:cNvPr>
          <p:cNvSpPr>
            <a:spLocks xmlns:a="http://schemas.openxmlformats.org/drawingml/2006/main" noGrp="1"/>
          </p:cNvSpPr>
          <p:nvPr/>
        </p:nvSpPr>
        <p:spPr>
          <a:xfrm xmlns:a="http://schemas.openxmlformats.org/drawingml/2006/main">
            <a:off x="1162050" y="5162550"/>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  Any write</a:t>
            </a:r>
          </a:p>
        </p:txBody>
      </p:sp>
      <p:sp>
        <p:nvSpPr>
          <p:cNvPr id="16" name="">
            <a:extLst xmlns:a="http://schemas.openxmlformats.org/drawingml/2006/main">
              <a:ext uri="{FF2B5EF4-FFF2-40B4-BE49-F238E27FC236}">
                <a16:creationId xmlns:a16="http://schemas.microsoft.com/office/drawing/2014/main" id="{A2754403-6599-4E8B-B478-74BEF6D262E2}"/>
              </a:ext>
            </a:extLst>
          </p:cNvPr>
          <p:cNvSpPr>
            <a:spLocks xmlns:a="http://schemas.openxmlformats.org/drawingml/2006/main" noGrp="1"/>
          </p:cNvSpPr>
          <p:nvPr/>
        </p:nvSpPr>
        <p:spPr>
          <a:xfrm xmlns:a="http://schemas.openxmlformats.org/drawingml/2006/main">
            <a:off x="6229350" y="1504950"/>
            <a:ext cx="5143500" cy="4114800"/>
          </a:xfrm>
          <a:prstGeom xmlns:a="http://schemas.openxmlformats.org/drawingml/2006/main" prst="roundRect">
            <a:avLst>
              <a:gd name="adj" fmla="val 4630"/>
            </a:avLst>
          </a:prstGeom>
          <a:solidFill xmlns:a="http://schemas.openxmlformats.org/drawingml/2006/main">
            <a:srgbClr val="102338"/>
          </a:solidFill>
          <a:ln xmlns:a="http://schemas.openxmlformats.org/drawingml/2006/main" w="14288">
            <a:solidFill>
              <a:srgbClr val="29445D"/>
            </a:solidFill>
            <a:prstDash val="solid"/>
          </a:ln>
        </p:spPr>
      </p:sp>
      <p:sp>
        <p:nvSpPr>
          <p:cNvPr id="17" name="">
            <a:extLst xmlns:a="http://schemas.openxmlformats.org/drawingml/2006/main">
              <a:ext uri="{FF2B5EF4-FFF2-40B4-BE49-F238E27FC236}">
                <a16:creationId xmlns:a16="http://schemas.microsoft.com/office/drawing/2014/main" id="{D7E209C8-2FCE-4233-AAE7-F0D8720B350F}"/>
              </a:ext>
            </a:extLst>
          </p:cNvPr>
          <p:cNvSpPr>
            <a:spLocks xmlns:a="http://schemas.openxmlformats.org/drawingml/2006/main" noGrp="1"/>
          </p:cNvSpPr>
          <p:nvPr/>
        </p:nvSpPr>
        <p:spPr>
          <a:xfrm xmlns:a="http://schemas.openxmlformats.org/drawingml/2006/main">
            <a:off x="6572250" y="177165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875" b="1">
                <a:solidFill>
                  <a:srgbClr val="9A7BFF"/>
                </a:solidFill>
                <a:latin typeface="Liberation Sans"/>
                <a:ea typeface="Liberation Sans"/>
                <a:cs typeface="Liberation Sans"/>
              </a:defRPr>
            </a:pPr>
            <a:r>
              <a:rPr sz="1875" b="1">
                <a:solidFill>
                  <a:srgbClr val="9A7BFF"/>
                </a:solidFill>
                <a:latin typeface="Liberation Sans"/>
                <a:ea typeface="Liberation Sans"/>
                <a:cs typeface="Liberation Sans"/>
              </a:rPr>
              <a:t>GitHub reviewer</a:t>
            </a:r>
          </a:p>
        </p:txBody>
      </p:sp>
      <p:sp>
        <p:nvSpPr>
          <p:cNvPr id="18" name="">
            <a:extLst xmlns:a="http://schemas.openxmlformats.org/drawingml/2006/main">
              <a:ext uri="{FF2B5EF4-FFF2-40B4-BE49-F238E27FC236}">
                <a16:creationId xmlns:a16="http://schemas.microsoft.com/office/drawing/2014/main" id="{482E4545-2254-4CE7-95F5-12B4D655B03A}"/>
              </a:ext>
            </a:extLst>
          </p:cNvPr>
          <p:cNvSpPr>
            <a:spLocks xmlns:a="http://schemas.openxmlformats.org/drawingml/2006/main" noGrp="1"/>
          </p:cNvSpPr>
          <p:nvPr/>
        </p:nvSpPr>
        <p:spPr>
          <a:xfrm xmlns:a="http://schemas.openxmlformats.org/drawingml/2006/main">
            <a:off x="6572250" y="2362200"/>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68E1C4"/>
                </a:solidFill>
                <a:latin typeface="Liberation Sans"/>
                <a:ea typeface="Liberation Sans"/>
                <a:cs typeface="Liberation Sans"/>
              </a:defRPr>
            </a:pPr>
            <a:r>
              <a:rPr sz="900" b="1">
                <a:solidFill>
                  <a:srgbClr val="68E1C4"/>
                </a:solidFill>
                <a:latin typeface="Liberation Sans"/>
                <a:ea typeface="Liberation Sans"/>
                <a:cs typeface="Liberation Sans"/>
              </a:rPr>
              <a:t>ALLOWED</a:t>
            </a:r>
          </a:p>
        </p:txBody>
      </p:sp>
      <p:sp>
        <p:nvSpPr>
          <p:cNvPr id="19" name="">
            <a:extLst xmlns:a="http://schemas.openxmlformats.org/drawingml/2006/main">
              <a:ext uri="{FF2B5EF4-FFF2-40B4-BE49-F238E27FC236}">
                <a16:creationId xmlns:a16="http://schemas.microsoft.com/office/drawing/2014/main" id="{901A87A9-6FF8-4622-964A-EA1B57BD8107}"/>
              </a:ext>
            </a:extLst>
          </p:cNvPr>
          <p:cNvSpPr>
            <a:spLocks xmlns:a="http://schemas.openxmlformats.org/drawingml/2006/main" noGrp="1"/>
          </p:cNvSpPr>
          <p:nvPr/>
        </p:nvSpPr>
        <p:spPr>
          <a:xfrm xmlns:a="http://schemas.openxmlformats.org/drawingml/2006/main">
            <a:off x="6686550" y="272415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425" b="0">
                <a:solidFill>
                  <a:srgbClr val="F4F8FC"/>
                </a:solidFill>
                <a:latin typeface="Liberation Sans"/>
                <a:ea typeface="Liberation Sans"/>
                <a:cs typeface="Liberation Sans"/>
              </a:defRPr>
            </a:pPr>
            <a:r>
              <a:rPr sz="1425" b="0">
                <a:solidFill>
                  <a:srgbClr val="F4F8FC"/>
                </a:solidFill>
                <a:latin typeface="Liberation Sans"/>
                <a:ea typeface="Liberation Sans"/>
                <a:cs typeface="Liberation Sans"/>
              </a:rPr>
              <a:t>+  Repository content</a:t>
            </a:r>
          </a:p>
        </p:txBody>
      </p:sp>
      <p:sp>
        <p:nvSpPr>
          <p:cNvPr id="20" name="">
            <a:extLst xmlns:a="http://schemas.openxmlformats.org/drawingml/2006/main">
              <a:ext uri="{FF2B5EF4-FFF2-40B4-BE49-F238E27FC236}">
                <a16:creationId xmlns:a16="http://schemas.microsoft.com/office/drawing/2014/main" id="{78F2157D-C6B8-4CED-916F-E85D6087C18E}"/>
              </a:ext>
            </a:extLst>
          </p:cNvPr>
          <p:cNvSpPr>
            <a:spLocks xmlns:a="http://schemas.openxmlformats.org/drawingml/2006/main" noGrp="1"/>
          </p:cNvSpPr>
          <p:nvPr/>
        </p:nvSpPr>
        <p:spPr>
          <a:xfrm xmlns:a="http://schemas.openxmlformats.org/drawingml/2006/main">
            <a:off x="6686550" y="318135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425" b="0">
                <a:solidFill>
                  <a:srgbClr val="F4F8FC"/>
                </a:solidFill>
                <a:latin typeface="Liberation Sans"/>
                <a:ea typeface="Liberation Sans"/>
                <a:cs typeface="Liberation Sans"/>
              </a:defRPr>
            </a:pPr>
            <a:r>
              <a:rPr sz="1425" b="0">
                <a:solidFill>
                  <a:srgbClr val="F4F8FC"/>
                </a:solidFill>
                <a:latin typeface="Liberation Sans"/>
                <a:ea typeface="Liberation Sans"/>
                <a:cs typeface="Liberation Sans"/>
              </a:rPr>
              <a:t>+  Pull request diff</a:t>
            </a:r>
          </a:p>
        </p:txBody>
      </p:sp>
      <p:sp>
        <p:nvSpPr>
          <p:cNvPr id="21" name="">
            <a:extLst xmlns:a="http://schemas.openxmlformats.org/drawingml/2006/main">
              <a:ext uri="{FF2B5EF4-FFF2-40B4-BE49-F238E27FC236}">
                <a16:creationId xmlns:a16="http://schemas.microsoft.com/office/drawing/2014/main" id="{D6AE9482-0D29-4725-84D0-FE77BC7F3FDE}"/>
              </a:ext>
            </a:extLst>
          </p:cNvPr>
          <p:cNvSpPr>
            <a:spLocks xmlns:a="http://schemas.openxmlformats.org/drawingml/2006/main" noGrp="1"/>
          </p:cNvSpPr>
          <p:nvPr/>
        </p:nvSpPr>
        <p:spPr>
          <a:xfrm xmlns:a="http://schemas.openxmlformats.org/drawingml/2006/main">
            <a:off x="6686550" y="363855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425" b="0">
                <a:solidFill>
                  <a:srgbClr val="F4F8FC"/>
                </a:solidFill>
                <a:latin typeface="Liberation Sans"/>
                <a:ea typeface="Liberation Sans"/>
                <a:cs typeface="Liberation Sans"/>
              </a:defRPr>
            </a:pPr>
            <a:r>
              <a:rPr sz="1425" b="0">
                <a:solidFill>
                  <a:srgbClr val="F4F8FC"/>
                </a:solidFill>
                <a:latin typeface="Liberation Sans"/>
                <a:ea typeface="Liberation Sans"/>
                <a:cs typeface="Liberation Sans"/>
              </a:rPr>
              <a:t>+  Review comments</a:t>
            </a:r>
          </a:p>
        </p:txBody>
      </p:sp>
      <p:sp>
        <p:nvSpPr>
          <p:cNvPr id="22" name="">
            <a:extLst xmlns:a="http://schemas.openxmlformats.org/drawingml/2006/main">
              <a:ext uri="{FF2B5EF4-FFF2-40B4-BE49-F238E27FC236}">
                <a16:creationId xmlns:a16="http://schemas.microsoft.com/office/drawing/2014/main" id="{7A4F9ACE-AB8F-4DCA-A89E-BAA9C20F7669}"/>
              </a:ext>
            </a:extLst>
          </p:cNvPr>
          <p:cNvSpPr>
            <a:spLocks xmlns:a="http://schemas.openxmlformats.org/drawingml/2006/main" noGrp="1"/>
          </p:cNvSpPr>
          <p:nvPr/>
        </p:nvSpPr>
        <p:spPr>
          <a:xfrm xmlns:a="http://schemas.openxmlformats.org/drawingml/2006/main">
            <a:off x="6572250" y="4171950"/>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FF7285"/>
                </a:solidFill>
                <a:latin typeface="Liberation Sans"/>
                <a:ea typeface="Liberation Sans"/>
                <a:cs typeface="Liberation Sans"/>
              </a:defRPr>
            </a:pPr>
            <a:r>
              <a:rPr sz="900" b="1">
                <a:solidFill>
                  <a:srgbClr val="FF7285"/>
                </a:solidFill>
                <a:latin typeface="Liberation Sans"/>
                <a:ea typeface="Liberation Sans"/>
                <a:cs typeface="Liberation Sans"/>
              </a:rPr>
              <a:t>DENIED</a:t>
            </a:r>
          </a:p>
        </p:txBody>
      </p:sp>
      <p:sp>
        <p:nvSpPr>
          <p:cNvPr id="23" name="">
            <a:extLst xmlns:a="http://schemas.openxmlformats.org/drawingml/2006/main">
              <a:ext uri="{FF2B5EF4-FFF2-40B4-BE49-F238E27FC236}">
                <a16:creationId xmlns:a16="http://schemas.microsoft.com/office/drawing/2014/main" id="{BE8B8830-7617-4905-85B9-D0B1EA8D4A26}"/>
              </a:ext>
            </a:extLst>
          </p:cNvPr>
          <p:cNvSpPr>
            <a:spLocks xmlns:a="http://schemas.openxmlformats.org/drawingml/2006/main" noGrp="1"/>
          </p:cNvSpPr>
          <p:nvPr/>
        </p:nvSpPr>
        <p:spPr>
          <a:xfrm xmlns:a="http://schemas.openxmlformats.org/drawingml/2006/main">
            <a:off x="6686550" y="4514850"/>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  Push</a:t>
            </a:r>
          </a:p>
        </p:txBody>
      </p:sp>
      <p:sp>
        <p:nvSpPr>
          <p:cNvPr id="24" name="">
            <a:extLst xmlns:a="http://schemas.openxmlformats.org/drawingml/2006/main">
              <a:ext uri="{FF2B5EF4-FFF2-40B4-BE49-F238E27FC236}">
                <a16:creationId xmlns:a16="http://schemas.microsoft.com/office/drawing/2014/main" id="{FDDA7D16-89EA-4733-9E62-EF6BA1AEFA9B}"/>
              </a:ext>
            </a:extLst>
          </p:cNvPr>
          <p:cNvSpPr>
            <a:spLocks xmlns:a="http://schemas.openxmlformats.org/drawingml/2006/main" noGrp="1"/>
          </p:cNvSpPr>
          <p:nvPr/>
        </p:nvSpPr>
        <p:spPr>
          <a:xfrm xmlns:a="http://schemas.openxmlformats.org/drawingml/2006/main">
            <a:off x="6686550" y="4838700"/>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  Merge</a:t>
            </a:r>
          </a:p>
        </p:txBody>
      </p:sp>
      <p:sp>
        <p:nvSpPr>
          <p:cNvPr id="25" name="">
            <a:extLst xmlns:a="http://schemas.openxmlformats.org/drawingml/2006/main">
              <a:ext uri="{FF2B5EF4-FFF2-40B4-BE49-F238E27FC236}">
                <a16:creationId xmlns:a16="http://schemas.microsoft.com/office/drawing/2014/main" id="{23E22510-E3A5-490D-8397-075C17044E2A}"/>
              </a:ext>
            </a:extLst>
          </p:cNvPr>
          <p:cNvSpPr>
            <a:spLocks xmlns:a="http://schemas.openxmlformats.org/drawingml/2006/main" noGrp="1"/>
          </p:cNvSpPr>
          <p:nvPr/>
        </p:nvSpPr>
        <p:spPr>
          <a:xfrm xmlns:a="http://schemas.openxmlformats.org/drawingml/2006/main">
            <a:off x="6686550" y="5162550"/>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  Code changes</a:t>
            </a:r>
          </a:p>
        </p:txBody>
      </p:sp>
    </p:spTree>
    <p:extLst>
      <p:ext uri="{BB962C8B-B14F-4D97-AF65-F5344CB8AC3E}">
        <p14:creationId xmlns:p14="http://schemas.microsoft.com/office/powerpoint/2010/main" val="186971509"/>
      </p:ext>
    </p:extLst>
  </p:cSld>
</p:sld>
</file>

<file path=ppt/slides/slide7.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26E60E1C-FF74-47FC-90FF-2AAD62041A99}"/>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54D6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BE9495-5BC4-4070-B4D2-3B0F74A74954}"/>
              </a:ext>
            </a:extLst>
          </p:cNvPr>
          <p:cNvSpPr>
            <a:spLocks xmlns:a="http://schemas.openxmlformats.org/drawingml/2006/main" noGrp="1"/>
          </p:cNvSpPr>
          <p:nvPr/>
        </p:nvSpPr>
        <p:spPr>
          <a:xfrm xmlns:a="http://schemas.openxmlformats.org/drawingml/2006/main">
            <a:off x="590550" y="4000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550" b="1">
                <a:solidFill>
                  <a:srgbClr val="F4F8FC"/>
                </a:solidFill>
                <a:latin typeface="Liberation Sans"/>
                <a:ea typeface="Liberation Sans"/>
                <a:cs typeface="Liberation Sans"/>
              </a:defRPr>
            </a:pPr>
            <a:r>
              <a:rPr sz="2550" b="1">
                <a:solidFill>
                  <a:srgbClr val="F4F8FC"/>
                </a:solidFill>
                <a:latin typeface="Liberation Sans"/>
                <a:ea typeface="Liberation Sans"/>
                <a:cs typeface="Liberation Sans"/>
              </a:rPr>
              <a:t>Fleet visibility and auditability</a:t>
            </a:r>
          </a:p>
        </p:txBody>
      </p:sp>
      <p:sp>
        <p:nvSpPr>
          <p:cNvPr id="3" name="">
            <a:extLst xmlns:a="http://schemas.openxmlformats.org/drawingml/2006/main">
              <a:ext uri="{FF2B5EF4-FFF2-40B4-BE49-F238E27FC236}">
                <a16:creationId xmlns:a16="http://schemas.microsoft.com/office/drawing/2014/main" id="{CB7B9EF8-6978-48B5-A655-DB39AEDBB7C6}"/>
              </a:ext>
            </a:extLst>
          </p:cNvPr>
          <p:cNvSpPr>
            <a:spLocks xmlns:a="http://schemas.openxmlformats.org/drawingml/2006/main" noGrp="1"/>
          </p:cNvSpPr>
          <p:nvPr/>
        </p:nvSpPr>
        <p:spPr>
          <a:xfrm xmlns:a="http://schemas.openxmlformats.org/drawingml/2006/main">
            <a:off x="609600" y="9334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Central evidence replaces reconstruction from local terminals and team-specific logs</a:t>
            </a:r>
          </a:p>
        </p:txBody>
      </p:sp>
      <p:sp>
        <p:nvSpPr>
          <p:cNvPr id="4" name="">
            <a:extLst xmlns:a="http://schemas.openxmlformats.org/drawingml/2006/main">
              <a:ext uri="{FF2B5EF4-FFF2-40B4-BE49-F238E27FC236}">
                <a16:creationId xmlns:a16="http://schemas.microsoft.com/office/drawing/2014/main" id="{00A1583F-42B9-49F8-8992-DB589DE5464E}"/>
              </a:ext>
            </a:extLst>
          </p:cNvPr>
          <p:cNvSpPr>
            <a:spLocks xmlns:a="http://schemas.openxmlformats.org/drawingml/2006/main" noGrp="1"/>
          </p:cNvSpPr>
          <p:nvPr/>
        </p:nvSpPr>
        <p:spPr>
          <a:xfrm xmlns:a="http://schemas.openxmlformats.org/drawingml/2006/main">
            <a:off x="11258550" y="62293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07</a:t>
            </a:r>
          </a:p>
        </p:txBody>
      </p:sp>
      <p:sp>
        <p:nvSpPr>
          <p:cNvPr id="5" name="">
            <a:extLst xmlns:a="http://schemas.openxmlformats.org/drawingml/2006/main">
              <a:ext uri="{FF2B5EF4-FFF2-40B4-BE49-F238E27FC236}">
                <a16:creationId xmlns:a16="http://schemas.microsoft.com/office/drawing/2014/main" id="{38093BED-5A69-4148-916F-28A97E319BFA}"/>
              </a:ext>
            </a:extLst>
          </p:cNvPr>
          <p:cNvSpPr>
            <a:spLocks xmlns:a="http://schemas.openxmlformats.org/drawingml/2006/main" noGrp="1"/>
          </p:cNvSpPr>
          <p:nvPr/>
        </p:nvSpPr>
        <p:spPr>
          <a:xfrm xmlns:a="http://schemas.openxmlformats.org/drawingml/2006/main">
            <a:off x="590550" y="62293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KAOP by Nirit Terehovsky</a:t>
            </a:r>
          </a:p>
        </p:txBody>
      </p:sp>
      <p:sp>
        <p:nvSpPr>
          <p:cNvPr id="6" name="">
            <a:extLst xmlns:a="http://schemas.openxmlformats.org/drawingml/2006/main">
              <a:ext uri="{FF2B5EF4-FFF2-40B4-BE49-F238E27FC236}">
                <a16:creationId xmlns:a16="http://schemas.microsoft.com/office/drawing/2014/main" id="{C9C9F787-9C98-421F-B45D-B047E51E797D}"/>
              </a:ext>
            </a:extLst>
          </p:cNvPr>
          <p:cNvSpPr>
            <a:spLocks xmlns:a="http://schemas.openxmlformats.org/drawingml/2006/main" noGrp="1"/>
          </p:cNvSpPr>
          <p:nvPr/>
        </p:nvSpPr>
        <p:spPr>
          <a:xfrm xmlns:a="http://schemas.openxmlformats.org/drawingml/2006/main">
            <a:off x="781050" y="1581150"/>
            <a:ext cx="10572750" cy="1276350"/>
          </a:xfrm>
          <a:prstGeom xmlns:a="http://schemas.openxmlformats.org/drawingml/2006/main" prst="roundRect">
            <a:avLst>
              <a:gd name="adj" fmla="val 13433"/>
            </a:avLst>
          </a:prstGeom>
          <a:solidFill xmlns:a="http://schemas.openxmlformats.org/drawingml/2006/main">
            <a:srgbClr val="102338"/>
          </a:solidFill>
          <a:ln xmlns:a="http://schemas.openxmlformats.org/drawingml/2006/main" w="14288">
            <a:solidFill>
              <a:srgbClr val="29445D"/>
            </a:solidFill>
            <a:prstDash val="solid"/>
          </a:ln>
        </p:spPr>
      </p:sp>
      <p:sp>
        <p:nvSpPr>
          <p:cNvPr id="7" name="">
            <a:extLst xmlns:a="http://schemas.openxmlformats.org/drawingml/2006/main">
              <a:ext uri="{FF2B5EF4-FFF2-40B4-BE49-F238E27FC236}">
                <a16:creationId xmlns:a16="http://schemas.microsoft.com/office/drawing/2014/main" id="{7CCE64C6-0436-436E-8B9D-BC1B4C3C565D}"/>
              </a:ext>
            </a:extLst>
          </p:cNvPr>
          <p:cNvSpPr>
            <a:spLocks xmlns:a="http://schemas.openxmlformats.org/drawingml/2006/main" noGrp="1"/>
          </p:cNvSpPr>
          <p:nvPr/>
        </p:nvSpPr>
        <p:spPr>
          <a:xfrm xmlns:a="http://schemas.openxmlformats.org/drawingml/2006/main">
            <a:off x="1066800" y="1943100"/>
            <a:ext cx="171450" cy="171450"/>
          </a:xfrm>
          <a:prstGeom xmlns:a="http://schemas.openxmlformats.org/drawingml/2006/main" prst="ellipse">
            <a:avLst/>
          </a:prstGeom>
          <a:solidFill xmlns:a="http://schemas.openxmlformats.org/drawingml/2006/main">
            <a:srgbClr val="54D6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03A01CD-6F41-4524-94D7-6E5ABD552E1E}"/>
              </a:ext>
            </a:extLst>
          </p:cNvPr>
          <p:cNvSpPr>
            <a:spLocks xmlns:a="http://schemas.openxmlformats.org/drawingml/2006/main" noGrp="1"/>
          </p:cNvSpPr>
          <p:nvPr/>
        </p:nvSpPr>
        <p:spPr>
          <a:xfrm xmlns:a="http://schemas.openxmlformats.org/drawingml/2006/main">
            <a:off x="1238250" y="2028825"/>
            <a:ext cx="1847850" cy="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9" name="">
            <a:extLst xmlns:a="http://schemas.openxmlformats.org/drawingml/2006/main">
              <a:ext uri="{FF2B5EF4-FFF2-40B4-BE49-F238E27FC236}">
                <a16:creationId xmlns:a16="http://schemas.microsoft.com/office/drawing/2014/main" id="{F7000D9A-984A-4BD2-AF46-4360341FDB8A}"/>
              </a:ext>
            </a:extLst>
          </p:cNvPr>
          <p:cNvSpPr>
            <a:spLocks xmlns:a="http://schemas.openxmlformats.org/drawingml/2006/main" noGrp="1"/>
          </p:cNvSpPr>
          <p:nvPr/>
        </p:nvSpPr>
        <p:spPr>
          <a:xfrm xmlns:a="http://schemas.openxmlformats.org/drawingml/2006/main">
            <a:off x="1066800" y="2209800"/>
            <a:ext cx="800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6111"/>
          </a:bodyPr>
          <a:lstStyle xmlns:a="http://schemas.openxmlformats.org/drawingml/2006/main"/>
          <a:p xmlns:a="http://schemas.openxmlformats.org/drawingml/2006/main">
            <a:pPr>
              <a:defRPr sz="900" b="0">
                <a:solidFill>
                  <a:srgbClr val="54D6FF"/>
                </a:solidFill>
                <a:latin typeface="Liberation Sans"/>
                <a:ea typeface="Liberation Sans"/>
                <a:cs typeface="Liberation Sans"/>
              </a:defRPr>
            </a:pPr>
            <a:r>
              <a:rPr sz="900" b="0">
                <a:solidFill>
                  <a:srgbClr val="54D6FF"/>
                </a:solidFill>
                <a:latin typeface="Liberation Sans"/>
                <a:ea typeface="Liberation Sans"/>
                <a:cs typeface="Liberation Sans"/>
              </a:rPr>
              <a:t>14:03</a:t>
            </a:r>
          </a:p>
        </p:txBody>
      </p:sp>
      <p:sp>
        <p:nvSpPr>
          <p:cNvPr id="10" name="">
            <a:extLst xmlns:a="http://schemas.openxmlformats.org/drawingml/2006/main">
              <a:ext uri="{FF2B5EF4-FFF2-40B4-BE49-F238E27FC236}">
                <a16:creationId xmlns:a16="http://schemas.microsoft.com/office/drawing/2014/main" id="{3F42761E-8DAD-4152-98C2-2191DC252FB6}"/>
              </a:ext>
            </a:extLst>
          </p:cNvPr>
          <p:cNvSpPr>
            <a:spLocks xmlns:a="http://schemas.openxmlformats.org/drawingml/2006/main" noGrp="1"/>
          </p:cNvSpPr>
          <p:nvPr/>
        </p:nvSpPr>
        <p:spPr>
          <a:xfrm xmlns:a="http://schemas.openxmlformats.org/drawingml/2006/main">
            <a:off x="1066800" y="2419350"/>
            <a:ext cx="1676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125" b="1">
                <a:solidFill>
                  <a:srgbClr val="F4F8FC"/>
                </a:solidFill>
                <a:latin typeface="Liberation Sans"/>
                <a:ea typeface="Liberation Sans"/>
                <a:cs typeface="Liberation Sans"/>
              </a:defRPr>
            </a:pPr>
            <a:r>
              <a:rPr sz="1125" b="1">
                <a:solidFill>
                  <a:srgbClr val="F4F8FC"/>
                </a:solidFill>
                <a:latin typeface="Liberation Sans"/>
                <a:ea typeface="Liberation Sans"/>
                <a:cs typeface="Liberation Sans"/>
              </a:rPr>
              <a:t>Alert received</a:t>
            </a:r>
          </a:p>
        </p:txBody>
      </p:sp>
      <p:sp>
        <p:nvSpPr>
          <p:cNvPr id="11" name="">
            <a:extLst xmlns:a="http://schemas.openxmlformats.org/drawingml/2006/main">
              <a:ext uri="{FF2B5EF4-FFF2-40B4-BE49-F238E27FC236}">
                <a16:creationId xmlns:a16="http://schemas.microsoft.com/office/drawing/2014/main" id="{1A1CEF5E-2552-46A3-867F-259BB9D39E16}"/>
              </a:ext>
            </a:extLst>
          </p:cNvPr>
          <p:cNvSpPr>
            <a:spLocks xmlns:a="http://schemas.openxmlformats.org/drawingml/2006/main" noGrp="1"/>
          </p:cNvSpPr>
          <p:nvPr/>
        </p:nvSpPr>
        <p:spPr>
          <a:xfrm xmlns:a="http://schemas.openxmlformats.org/drawingml/2006/main">
            <a:off x="3086100" y="1943100"/>
            <a:ext cx="171450" cy="171450"/>
          </a:xfrm>
          <a:prstGeom xmlns:a="http://schemas.openxmlformats.org/drawingml/2006/main" prst="ellipse">
            <a:avLst/>
          </a:prstGeom>
          <a:solidFill xmlns:a="http://schemas.openxmlformats.org/drawingml/2006/main">
            <a:srgbClr val="9A7B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D86FDAB-9289-4789-BDA1-25D99E56BE89}"/>
              </a:ext>
            </a:extLst>
          </p:cNvPr>
          <p:cNvSpPr>
            <a:spLocks xmlns:a="http://schemas.openxmlformats.org/drawingml/2006/main" noGrp="1"/>
          </p:cNvSpPr>
          <p:nvPr/>
        </p:nvSpPr>
        <p:spPr>
          <a:xfrm xmlns:a="http://schemas.openxmlformats.org/drawingml/2006/main">
            <a:off x="3257550" y="2028825"/>
            <a:ext cx="1847850" cy="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13" name="">
            <a:extLst xmlns:a="http://schemas.openxmlformats.org/drawingml/2006/main">
              <a:ext uri="{FF2B5EF4-FFF2-40B4-BE49-F238E27FC236}">
                <a16:creationId xmlns:a16="http://schemas.microsoft.com/office/drawing/2014/main" id="{43EB015B-19D8-49BD-9CE1-68DD0C6CEAFF}"/>
              </a:ext>
            </a:extLst>
          </p:cNvPr>
          <p:cNvSpPr>
            <a:spLocks xmlns:a="http://schemas.openxmlformats.org/drawingml/2006/main" noGrp="1"/>
          </p:cNvSpPr>
          <p:nvPr/>
        </p:nvSpPr>
        <p:spPr>
          <a:xfrm xmlns:a="http://schemas.openxmlformats.org/drawingml/2006/main">
            <a:off x="3086100" y="2209800"/>
            <a:ext cx="800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6111"/>
          </a:bodyPr>
          <a:lstStyle xmlns:a="http://schemas.openxmlformats.org/drawingml/2006/main"/>
          <a:p xmlns:a="http://schemas.openxmlformats.org/drawingml/2006/main">
            <a:pPr>
              <a:defRPr sz="900" b="0">
                <a:solidFill>
                  <a:srgbClr val="9A7BFF"/>
                </a:solidFill>
                <a:latin typeface="Liberation Sans"/>
                <a:ea typeface="Liberation Sans"/>
                <a:cs typeface="Liberation Sans"/>
              </a:defRPr>
            </a:pPr>
            <a:r>
              <a:rPr sz="900" b="0">
                <a:solidFill>
                  <a:srgbClr val="9A7BFF"/>
                </a:solidFill>
                <a:latin typeface="Liberation Sans"/>
                <a:ea typeface="Liberation Sans"/>
                <a:cs typeface="Liberation Sans"/>
              </a:rPr>
              <a:t>14:04</a:t>
            </a:r>
          </a:p>
        </p:txBody>
      </p:sp>
      <p:sp>
        <p:nvSpPr>
          <p:cNvPr id="14" name="">
            <a:extLst xmlns:a="http://schemas.openxmlformats.org/drawingml/2006/main">
              <a:ext uri="{FF2B5EF4-FFF2-40B4-BE49-F238E27FC236}">
                <a16:creationId xmlns:a16="http://schemas.microsoft.com/office/drawing/2014/main" id="{4A2DC776-B516-41B6-AB56-60ECB7787281}"/>
              </a:ext>
            </a:extLst>
          </p:cNvPr>
          <p:cNvSpPr>
            <a:spLocks xmlns:a="http://schemas.openxmlformats.org/drawingml/2006/main" noGrp="1"/>
          </p:cNvSpPr>
          <p:nvPr/>
        </p:nvSpPr>
        <p:spPr>
          <a:xfrm xmlns:a="http://schemas.openxmlformats.org/drawingml/2006/main">
            <a:off x="3086100" y="2419350"/>
            <a:ext cx="1676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125" b="1">
                <a:solidFill>
                  <a:srgbClr val="F4F8FC"/>
                </a:solidFill>
                <a:latin typeface="Liberation Sans"/>
                <a:ea typeface="Liberation Sans"/>
                <a:cs typeface="Liberation Sans"/>
              </a:defRPr>
            </a:pPr>
            <a:r>
              <a:rPr sz="1125" b="1">
                <a:solidFill>
                  <a:srgbClr val="F4F8FC"/>
                </a:solidFill>
                <a:latin typeface="Liberation Sans"/>
                <a:ea typeface="Liberation Sans"/>
                <a:cs typeface="Liberation Sans"/>
              </a:rPr>
              <a:t>Agent invoked</a:t>
            </a:r>
          </a:p>
        </p:txBody>
      </p:sp>
      <p:sp>
        <p:nvSpPr>
          <p:cNvPr id="15" name="">
            <a:extLst xmlns:a="http://schemas.openxmlformats.org/drawingml/2006/main">
              <a:ext uri="{FF2B5EF4-FFF2-40B4-BE49-F238E27FC236}">
                <a16:creationId xmlns:a16="http://schemas.microsoft.com/office/drawing/2014/main" id="{10B5340E-304B-4AB4-8AD1-DC7148E8F397}"/>
              </a:ext>
            </a:extLst>
          </p:cNvPr>
          <p:cNvSpPr>
            <a:spLocks xmlns:a="http://schemas.openxmlformats.org/drawingml/2006/main" noGrp="1"/>
          </p:cNvSpPr>
          <p:nvPr/>
        </p:nvSpPr>
        <p:spPr>
          <a:xfrm xmlns:a="http://schemas.openxmlformats.org/drawingml/2006/main">
            <a:off x="5105400" y="1943100"/>
            <a:ext cx="171450" cy="171450"/>
          </a:xfrm>
          <a:prstGeom xmlns:a="http://schemas.openxmlformats.org/drawingml/2006/main" prst="ellipse">
            <a:avLst/>
          </a:prstGeom>
          <a:solidFill xmlns:a="http://schemas.openxmlformats.org/drawingml/2006/main">
            <a:srgbClr val="68E1C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8AEA237-6D8C-4D8D-8DB8-A00905EEC1B3}"/>
              </a:ext>
            </a:extLst>
          </p:cNvPr>
          <p:cNvSpPr>
            <a:spLocks xmlns:a="http://schemas.openxmlformats.org/drawingml/2006/main" noGrp="1"/>
          </p:cNvSpPr>
          <p:nvPr/>
        </p:nvSpPr>
        <p:spPr>
          <a:xfrm xmlns:a="http://schemas.openxmlformats.org/drawingml/2006/main">
            <a:off x="5276850" y="2028825"/>
            <a:ext cx="1847850" cy="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17" name="">
            <a:extLst xmlns:a="http://schemas.openxmlformats.org/drawingml/2006/main">
              <a:ext uri="{FF2B5EF4-FFF2-40B4-BE49-F238E27FC236}">
                <a16:creationId xmlns:a16="http://schemas.microsoft.com/office/drawing/2014/main" id="{0EF42D8A-2E79-46B4-86C8-B24207AD4968}"/>
              </a:ext>
            </a:extLst>
          </p:cNvPr>
          <p:cNvSpPr>
            <a:spLocks xmlns:a="http://schemas.openxmlformats.org/drawingml/2006/main" noGrp="1"/>
          </p:cNvSpPr>
          <p:nvPr/>
        </p:nvSpPr>
        <p:spPr>
          <a:xfrm xmlns:a="http://schemas.openxmlformats.org/drawingml/2006/main">
            <a:off x="5105400" y="2209800"/>
            <a:ext cx="800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6111"/>
          </a:bodyPr>
          <a:lstStyle xmlns:a="http://schemas.openxmlformats.org/drawingml/2006/main"/>
          <a:p xmlns:a="http://schemas.openxmlformats.org/drawingml/2006/main">
            <a:pPr>
              <a:defRPr sz="900" b="0">
                <a:solidFill>
                  <a:srgbClr val="68E1C4"/>
                </a:solidFill>
                <a:latin typeface="Liberation Sans"/>
                <a:ea typeface="Liberation Sans"/>
                <a:cs typeface="Liberation Sans"/>
              </a:defRPr>
            </a:pPr>
            <a:r>
              <a:rPr sz="900" b="0">
                <a:solidFill>
                  <a:srgbClr val="68E1C4"/>
                </a:solidFill>
                <a:latin typeface="Liberation Sans"/>
                <a:ea typeface="Liberation Sans"/>
                <a:cs typeface="Liberation Sans"/>
              </a:rPr>
              <a:t>14:05</a:t>
            </a:r>
          </a:p>
        </p:txBody>
      </p:sp>
      <p:sp>
        <p:nvSpPr>
          <p:cNvPr id="18" name="">
            <a:extLst xmlns:a="http://schemas.openxmlformats.org/drawingml/2006/main">
              <a:ext uri="{FF2B5EF4-FFF2-40B4-BE49-F238E27FC236}">
                <a16:creationId xmlns:a16="http://schemas.microsoft.com/office/drawing/2014/main" id="{BF9A5DE0-8CA3-4CFB-915B-7C2B6B6B8011}"/>
              </a:ext>
            </a:extLst>
          </p:cNvPr>
          <p:cNvSpPr>
            <a:spLocks xmlns:a="http://schemas.openxmlformats.org/drawingml/2006/main" noGrp="1"/>
          </p:cNvSpPr>
          <p:nvPr/>
        </p:nvSpPr>
        <p:spPr>
          <a:xfrm xmlns:a="http://schemas.openxmlformats.org/drawingml/2006/main">
            <a:off x="5105400" y="2419350"/>
            <a:ext cx="1676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125" b="1">
                <a:solidFill>
                  <a:srgbClr val="F4F8FC"/>
                </a:solidFill>
                <a:latin typeface="Liberation Sans"/>
                <a:ea typeface="Liberation Sans"/>
                <a:cs typeface="Liberation Sans"/>
              </a:defRPr>
            </a:pPr>
            <a:r>
              <a:rPr sz="1125" b="1">
                <a:solidFill>
                  <a:srgbClr val="F4F8FC"/>
                </a:solidFill>
                <a:latin typeface="Liberation Sans"/>
                <a:ea typeface="Liberation Sans"/>
                <a:cs typeface="Liberation Sans"/>
              </a:rPr>
              <a:t>Evidence collected</a:t>
            </a:r>
          </a:p>
        </p:txBody>
      </p:sp>
      <p:sp>
        <p:nvSpPr>
          <p:cNvPr id="19" name="">
            <a:extLst xmlns:a="http://schemas.openxmlformats.org/drawingml/2006/main">
              <a:ext uri="{FF2B5EF4-FFF2-40B4-BE49-F238E27FC236}">
                <a16:creationId xmlns:a16="http://schemas.microsoft.com/office/drawing/2014/main" id="{9ACA38E3-F3CC-495C-8FE5-6E9A98C34298}"/>
              </a:ext>
            </a:extLst>
          </p:cNvPr>
          <p:cNvSpPr>
            <a:spLocks xmlns:a="http://schemas.openxmlformats.org/drawingml/2006/main" noGrp="1"/>
          </p:cNvSpPr>
          <p:nvPr/>
        </p:nvSpPr>
        <p:spPr>
          <a:xfrm xmlns:a="http://schemas.openxmlformats.org/drawingml/2006/main">
            <a:off x="7124700" y="1943100"/>
            <a:ext cx="171450" cy="171450"/>
          </a:xfrm>
          <a:prstGeom xmlns:a="http://schemas.openxmlformats.org/drawingml/2006/main" prst="ellipse">
            <a:avLst/>
          </a:prstGeom>
          <a:solidFill xmlns:a="http://schemas.openxmlformats.org/drawingml/2006/main">
            <a:srgbClr val="FFCA6B"/>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FF0F02D-279E-4C2A-B23A-506A8AC4F117}"/>
              </a:ext>
            </a:extLst>
          </p:cNvPr>
          <p:cNvSpPr>
            <a:spLocks xmlns:a="http://schemas.openxmlformats.org/drawingml/2006/main" noGrp="1"/>
          </p:cNvSpPr>
          <p:nvPr/>
        </p:nvSpPr>
        <p:spPr>
          <a:xfrm xmlns:a="http://schemas.openxmlformats.org/drawingml/2006/main">
            <a:off x="7296150" y="2028825"/>
            <a:ext cx="1847850" cy="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21" name="">
            <a:extLst xmlns:a="http://schemas.openxmlformats.org/drawingml/2006/main">
              <a:ext uri="{FF2B5EF4-FFF2-40B4-BE49-F238E27FC236}">
                <a16:creationId xmlns:a16="http://schemas.microsoft.com/office/drawing/2014/main" id="{D8B8D7E4-D880-4E3F-AB9E-6BB7B5ECAA70}"/>
              </a:ext>
            </a:extLst>
          </p:cNvPr>
          <p:cNvSpPr>
            <a:spLocks xmlns:a="http://schemas.openxmlformats.org/drawingml/2006/main" noGrp="1"/>
          </p:cNvSpPr>
          <p:nvPr/>
        </p:nvSpPr>
        <p:spPr>
          <a:xfrm xmlns:a="http://schemas.openxmlformats.org/drawingml/2006/main">
            <a:off x="7124700" y="2209800"/>
            <a:ext cx="800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6111"/>
          </a:bodyPr>
          <a:lstStyle xmlns:a="http://schemas.openxmlformats.org/drawingml/2006/main"/>
          <a:p xmlns:a="http://schemas.openxmlformats.org/drawingml/2006/main">
            <a:pPr>
              <a:defRPr sz="900" b="0">
                <a:solidFill>
                  <a:srgbClr val="FFCA6B"/>
                </a:solidFill>
                <a:latin typeface="Liberation Sans"/>
                <a:ea typeface="Liberation Sans"/>
                <a:cs typeface="Liberation Sans"/>
              </a:defRPr>
            </a:pPr>
            <a:r>
              <a:rPr sz="900" b="0">
                <a:solidFill>
                  <a:srgbClr val="FFCA6B"/>
                </a:solidFill>
                <a:latin typeface="Liberation Sans"/>
                <a:ea typeface="Liberation Sans"/>
                <a:cs typeface="Liberation Sans"/>
              </a:rPr>
              <a:t>14:06</a:t>
            </a:r>
          </a:p>
        </p:txBody>
      </p:sp>
      <p:sp>
        <p:nvSpPr>
          <p:cNvPr id="22" name="">
            <a:extLst xmlns:a="http://schemas.openxmlformats.org/drawingml/2006/main">
              <a:ext uri="{FF2B5EF4-FFF2-40B4-BE49-F238E27FC236}">
                <a16:creationId xmlns:a16="http://schemas.microsoft.com/office/drawing/2014/main" id="{89DA82C1-42AF-45C9-B724-DD4B7929F3B4}"/>
              </a:ext>
            </a:extLst>
          </p:cNvPr>
          <p:cNvSpPr>
            <a:spLocks xmlns:a="http://schemas.openxmlformats.org/drawingml/2006/main" noGrp="1"/>
          </p:cNvSpPr>
          <p:nvPr/>
        </p:nvSpPr>
        <p:spPr>
          <a:xfrm xmlns:a="http://schemas.openxmlformats.org/drawingml/2006/main">
            <a:off x="7124700" y="2419350"/>
            <a:ext cx="1676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125" b="1">
                <a:solidFill>
                  <a:srgbClr val="F4F8FC"/>
                </a:solidFill>
                <a:latin typeface="Liberation Sans"/>
                <a:ea typeface="Liberation Sans"/>
                <a:cs typeface="Liberation Sans"/>
              </a:defRPr>
            </a:pPr>
            <a:r>
              <a:rPr sz="1125" b="1">
                <a:solidFill>
                  <a:srgbClr val="F4F8FC"/>
                </a:solidFill>
                <a:latin typeface="Liberation Sans"/>
                <a:ea typeface="Liberation Sans"/>
                <a:cs typeface="Liberation Sans"/>
              </a:rPr>
              <a:t>Finding produced</a:t>
            </a:r>
          </a:p>
        </p:txBody>
      </p:sp>
      <p:sp>
        <p:nvSpPr>
          <p:cNvPr id="23" name="">
            <a:extLst xmlns:a="http://schemas.openxmlformats.org/drawingml/2006/main">
              <a:ext uri="{FF2B5EF4-FFF2-40B4-BE49-F238E27FC236}">
                <a16:creationId xmlns:a16="http://schemas.microsoft.com/office/drawing/2014/main" id="{5224A0B9-ED58-457C-AE84-C2CFF8A5B3AC}"/>
              </a:ext>
            </a:extLst>
          </p:cNvPr>
          <p:cNvSpPr>
            <a:spLocks xmlns:a="http://schemas.openxmlformats.org/drawingml/2006/main" noGrp="1"/>
          </p:cNvSpPr>
          <p:nvPr/>
        </p:nvSpPr>
        <p:spPr>
          <a:xfrm xmlns:a="http://schemas.openxmlformats.org/drawingml/2006/main">
            <a:off x="9144000" y="1943100"/>
            <a:ext cx="171450" cy="171450"/>
          </a:xfrm>
          <a:prstGeom xmlns:a="http://schemas.openxmlformats.org/drawingml/2006/main" prst="ellipse">
            <a:avLst/>
          </a:prstGeom>
          <a:solidFill xmlns:a="http://schemas.openxmlformats.org/drawingml/2006/main">
            <a:srgbClr val="54D6F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A8CFBEF8-E074-4BC7-8270-8BFB2A39E9C2}"/>
              </a:ext>
            </a:extLst>
          </p:cNvPr>
          <p:cNvSpPr>
            <a:spLocks xmlns:a="http://schemas.openxmlformats.org/drawingml/2006/main" noGrp="1"/>
          </p:cNvSpPr>
          <p:nvPr/>
        </p:nvSpPr>
        <p:spPr>
          <a:xfrm xmlns:a="http://schemas.openxmlformats.org/drawingml/2006/main">
            <a:off x="9144000" y="2209800"/>
            <a:ext cx="800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6111"/>
          </a:bodyPr>
          <a:lstStyle xmlns:a="http://schemas.openxmlformats.org/drawingml/2006/main"/>
          <a:p xmlns:a="http://schemas.openxmlformats.org/drawingml/2006/main">
            <a:pPr>
              <a:defRPr sz="900" b="0">
                <a:solidFill>
                  <a:srgbClr val="54D6FF"/>
                </a:solidFill>
                <a:latin typeface="Liberation Sans"/>
                <a:ea typeface="Liberation Sans"/>
                <a:cs typeface="Liberation Sans"/>
              </a:defRPr>
            </a:pPr>
            <a:r>
              <a:rPr sz="900" b="0">
                <a:solidFill>
                  <a:srgbClr val="54D6FF"/>
                </a:solidFill>
                <a:latin typeface="Liberation Sans"/>
                <a:ea typeface="Liberation Sans"/>
                <a:cs typeface="Liberation Sans"/>
              </a:rPr>
              <a:t>14:07</a:t>
            </a:r>
          </a:p>
        </p:txBody>
      </p:sp>
      <p:sp>
        <p:nvSpPr>
          <p:cNvPr id="25" name="">
            <a:extLst xmlns:a="http://schemas.openxmlformats.org/drawingml/2006/main">
              <a:ext uri="{FF2B5EF4-FFF2-40B4-BE49-F238E27FC236}">
                <a16:creationId xmlns:a16="http://schemas.microsoft.com/office/drawing/2014/main" id="{4169310F-DD86-4E8A-8456-816FA02135B7}"/>
              </a:ext>
            </a:extLst>
          </p:cNvPr>
          <p:cNvSpPr>
            <a:spLocks xmlns:a="http://schemas.openxmlformats.org/drawingml/2006/main" noGrp="1"/>
          </p:cNvSpPr>
          <p:nvPr/>
        </p:nvSpPr>
        <p:spPr>
          <a:xfrm xmlns:a="http://schemas.openxmlformats.org/drawingml/2006/main">
            <a:off x="9144000" y="2419350"/>
            <a:ext cx="1676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125" b="1">
                <a:solidFill>
                  <a:srgbClr val="F4F8FC"/>
                </a:solidFill>
                <a:latin typeface="Liberation Sans"/>
                <a:ea typeface="Liberation Sans"/>
                <a:cs typeface="Liberation Sans"/>
              </a:defRPr>
            </a:pPr>
            <a:r>
              <a:rPr sz="1125" b="1">
                <a:solidFill>
                  <a:srgbClr val="F4F8FC"/>
                </a:solidFill>
                <a:latin typeface="Liberation Sans"/>
                <a:ea typeface="Liberation Sans"/>
                <a:cs typeface="Liberation Sans"/>
              </a:rPr>
              <a:t>Decision recorded</a:t>
            </a:r>
          </a:p>
        </p:txBody>
      </p:sp>
      <p:sp>
        <p:nvSpPr>
          <p:cNvPr id="26" name="">
            <a:extLst xmlns:a="http://schemas.openxmlformats.org/drawingml/2006/main">
              <a:ext uri="{FF2B5EF4-FFF2-40B4-BE49-F238E27FC236}">
                <a16:creationId xmlns:a16="http://schemas.microsoft.com/office/drawing/2014/main" id="{DE4B2811-A09F-498D-ADFC-B52E692A9FFB}"/>
              </a:ext>
            </a:extLst>
          </p:cNvPr>
          <p:cNvSpPr>
            <a:spLocks xmlns:a="http://schemas.openxmlformats.org/drawingml/2006/main" noGrp="1"/>
          </p:cNvSpPr>
          <p:nvPr/>
        </p:nvSpPr>
        <p:spPr>
          <a:xfrm xmlns:a="http://schemas.openxmlformats.org/drawingml/2006/main">
            <a:off x="781050" y="34480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54D6FF"/>
                </a:solidFill>
                <a:latin typeface="Liberation Sans"/>
                <a:ea typeface="Liberation Sans"/>
                <a:cs typeface="Liberation Sans"/>
              </a:defRPr>
            </a:pPr>
            <a:r>
              <a:rPr sz="900" b="1">
                <a:solidFill>
                  <a:srgbClr val="54D6FF"/>
                </a:solidFill>
                <a:latin typeface="Liberation Sans"/>
                <a:ea typeface="Liberation Sans"/>
                <a:cs typeface="Liberation Sans"/>
              </a:rPr>
              <a:t>OWNERSHIP</a:t>
            </a:r>
          </a:p>
        </p:txBody>
      </p:sp>
      <p:sp>
        <p:nvSpPr>
          <p:cNvPr id="27" name="">
            <a:extLst xmlns:a="http://schemas.openxmlformats.org/drawingml/2006/main">
              <a:ext uri="{FF2B5EF4-FFF2-40B4-BE49-F238E27FC236}">
                <a16:creationId xmlns:a16="http://schemas.microsoft.com/office/drawing/2014/main" id="{DCE1F392-8C31-48C5-872F-EECC2ADD93D6}"/>
              </a:ext>
            </a:extLst>
          </p:cNvPr>
          <p:cNvSpPr>
            <a:spLocks xmlns:a="http://schemas.openxmlformats.org/drawingml/2006/main" noGrp="1"/>
          </p:cNvSpPr>
          <p:nvPr/>
        </p:nvSpPr>
        <p:spPr>
          <a:xfrm xmlns:a="http://schemas.openxmlformats.org/drawingml/2006/main">
            <a:off x="781050" y="3829050"/>
            <a:ext cx="2286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500" b="0">
                <a:solidFill>
                  <a:srgbClr val="F4F8FC"/>
                </a:solidFill>
                <a:latin typeface="Liberation Sans"/>
                <a:ea typeface="Liberation Sans"/>
                <a:cs typeface="Liberation Sans"/>
              </a:defRPr>
            </a:pPr>
            <a:r>
              <a:rPr sz="1500" b="0">
                <a:solidFill>
                  <a:srgbClr val="F4F8FC"/>
                </a:solidFill>
                <a:latin typeface="Liberation Sans"/>
                <a:ea typeface="Liberation Sans"/>
                <a:cs typeface="Liberation Sans"/>
              </a:rPr>
              <a:t>Who owns this agent and workflow?</a:t>
            </a:r>
          </a:p>
        </p:txBody>
      </p:sp>
      <p:sp>
        <p:nvSpPr>
          <p:cNvPr id="28" name="">
            <a:extLst xmlns:a="http://schemas.openxmlformats.org/drawingml/2006/main">
              <a:ext uri="{FF2B5EF4-FFF2-40B4-BE49-F238E27FC236}">
                <a16:creationId xmlns:a16="http://schemas.microsoft.com/office/drawing/2014/main" id="{4DAD1549-C514-43B7-9D6A-DAAD1594BAAE}"/>
              </a:ext>
            </a:extLst>
          </p:cNvPr>
          <p:cNvSpPr>
            <a:spLocks xmlns:a="http://schemas.openxmlformats.org/drawingml/2006/main" noGrp="1"/>
          </p:cNvSpPr>
          <p:nvPr/>
        </p:nvSpPr>
        <p:spPr>
          <a:xfrm xmlns:a="http://schemas.openxmlformats.org/drawingml/2006/main">
            <a:off x="3429000" y="34480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9A7BFF"/>
                </a:solidFill>
                <a:latin typeface="Liberation Sans"/>
                <a:ea typeface="Liberation Sans"/>
                <a:cs typeface="Liberation Sans"/>
              </a:defRPr>
            </a:pPr>
            <a:r>
              <a:rPr sz="900" b="1">
                <a:solidFill>
                  <a:srgbClr val="9A7BFF"/>
                </a:solidFill>
                <a:latin typeface="Liberation Sans"/>
                <a:ea typeface="Liberation Sans"/>
                <a:cs typeface="Liberation Sans"/>
              </a:rPr>
              <a:t>ACCESS</a:t>
            </a:r>
          </a:p>
        </p:txBody>
      </p:sp>
      <p:sp>
        <p:nvSpPr>
          <p:cNvPr id="29" name="">
            <a:extLst xmlns:a="http://schemas.openxmlformats.org/drawingml/2006/main">
              <a:ext uri="{FF2B5EF4-FFF2-40B4-BE49-F238E27FC236}">
                <a16:creationId xmlns:a16="http://schemas.microsoft.com/office/drawing/2014/main" id="{73D52A65-F22E-46A9-A74C-D7A730618466}"/>
              </a:ext>
            </a:extLst>
          </p:cNvPr>
          <p:cNvSpPr>
            <a:spLocks xmlns:a="http://schemas.openxmlformats.org/drawingml/2006/main" noGrp="1"/>
          </p:cNvSpPr>
          <p:nvPr/>
        </p:nvSpPr>
        <p:spPr>
          <a:xfrm xmlns:a="http://schemas.openxmlformats.org/drawingml/2006/main">
            <a:off x="3429000" y="3829050"/>
            <a:ext cx="2286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500" b="0">
                <a:solidFill>
                  <a:srgbClr val="F4F8FC"/>
                </a:solidFill>
                <a:latin typeface="Liberation Sans"/>
                <a:ea typeface="Liberation Sans"/>
                <a:cs typeface="Liberation Sans"/>
              </a:defRPr>
            </a:pPr>
            <a:r>
              <a:rPr sz="1500" b="0">
                <a:solidFill>
                  <a:srgbClr val="F4F8FC"/>
                </a:solidFill>
                <a:latin typeface="Liberation Sans"/>
                <a:ea typeface="Liberation Sans"/>
                <a:cs typeface="Liberation Sans"/>
              </a:rPr>
              <a:t>What could the agent read or change?</a:t>
            </a:r>
          </a:p>
        </p:txBody>
      </p:sp>
      <p:sp>
        <p:nvSpPr>
          <p:cNvPr id="30" name="">
            <a:extLst xmlns:a="http://schemas.openxmlformats.org/drawingml/2006/main">
              <a:ext uri="{FF2B5EF4-FFF2-40B4-BE49-F238E27FC236}">
                <a16:creationId xmlns:a16="http://schemas.microsoft.com/office/drawing/2014/main" id="{70AF2367-E9DD-472D-8A85-C5373E4DDB27}"/>
              </a:ext>
            </a:extLst>
          </p:cNvPr>
          <p:cNvSpPr>
            <a:spLocks xmlns:a="http://schemas.openxmlformats.org/drawingml/2006/main" noGrp="1"/>
          </p:cNvSpPr>
          <p:nvPr/>
        </p:nvSpPr>
        <p:spPr>
          <a:xfrm xmlns:a="http://schemas.openxmlformats.org/drawingml/2006/main">
            <a:off x="6076950" y="34480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68E1C4"/>
                </a:solidFill>
                <a:latin typeface="Liberation Sans"/>
                <a:ea typeface="Liberation Sans"/>
                <a:cs typeface="Liberation Sans"/>
              </a:defRPr>
            </a:pPr>
            <a:r>
              <a:rPr sz="900" b="1">
                <a:solidFill>
                  <a:srgbClr val="68E1C4"/>
                </a:solidFill>
                <a:latin typeface="Liberation Sans"/>
                <a:ea typeface="Liberation Sans"/>
                <a:cs typeface="Liberation Sans"/>
              </a:rPr>
              <a:t>EVIDENCE</a:t>
            </a:r>
          </a:p>
        </p:txBody>
      </p:sp>
      <p:sp>
        <p:nvSpPr>
          <p:cNvPr id="31" name="">
            <a:extLst xmlns:a="http://schemas.openxmlformats.org/drawingml/2006/main">
              <a:ext uri="{FF2B5EF4-FFF2-40B4-BE49-F238E27FC236}">
                <a16:creationId xmlns:a16="http://schemas.microsoft.com/office/drawing/2014/main" id="{54B1DB6B-ED57-46F4-BFBB-D02A22908ACC}"/>
              </a:ext>
            </a:extLst>
          </p:cNvPr>
          <p:cNvSpPr>
            <a:spLocks xmlns:a="http://schemas.openxmlformats.org/drawingml/2006/main" noGrp="1"/>
          </p:cNvSpPr>
          <p:nvPr/>
        </p:nvSpPr>
        <p:spPr>
          <a:xfrm xmlns:a="http://schemas.openxmlformats.org/drawingml/2006/main">
            <a:off x="6076950" y="3829050"/>
            <a:ext cx="2286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500" b="0">
                <a:solidFill>
                  <a:srgbClr val="F4F8FC"/>
                </a:solidFill>
                <a:latin typeface="Liberation Sans"/>
                <a:ea typeface="Liberation Sans"/>
                <a:cs typeface="Liberation Sans"/>
              </a:defRPr>
            </a:pPr>
            <a:r>
              <a:rPr sz="1500" b="0">
                <a:solidFill>
                  <a:srgbClr val="F4F8FC"/>
                </a:solidFill>
                <a:latin typeface="Liberation Sans"/>
                <a:ea typeface="Liberation Sans"/>
                <a:cs typeface="Liberation Sans"/>
              </a:rPr>
              <a:t>Which inputs and tool calls support the result?</a:t>
            </a:r>
          </a:p>
        </p:txBody>
      </p:sp>
      <p:sp>
        <p:nvSpPr>
          <p:cNvPr id="32" name="">
            <a:extLst xmlns:a="http://schemas.openxmlformats.org/drawingml/2006/main">
              <a:ext uri="{FF2B5EF4-FFF2-40B4-BE49-F238E27FC236}">
                <a16:creationId xmlns:a16="http://schemas.microsoft.com/office/drawing/2014/main" id="{A4946E40-39ED-4B2E-86DD-194D85310798}"/>
              </a:ext>
            </a:extLst>
          </p:cNvPr>
          <p:cNvSpPr>
            <a:spLocks xmlns:a="http://schemas.openxmlformats.org/drawingml/2006/main" noGrp="1"/>
          </p:cNvSpPr>
          <p:nvPr/>
        </p:nvSpPr>
        <p:spPr>
          <a:xfrm xmlns:a="http://schemas.openxmlformats.org/drawingml/2006/main">
            <a:off x="8724900" y="34480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FFCA6B"/>
                </a:solidFill>
                <a:latin typeface="Liberation Sans"/>
                <a:ea typeface="Liberation Sans"/>
                <a:cs typeface="Liberation Sans"/>
              </a:defRPr>
            </a:pPr>
            <a:r>
              <a:rPr sz="900" b="1">
                <a:solidFill>
                  <a:srgbClr val="FFCA6B"/>
                </a:solidFill>
                <a:latin typeface="Liberation Sans"/>
                <a:ea typeface="Liberation Sans"/>
                <a:cs typeface="Liberation Sans"/>
              </a:rPr>
              <a:t>ECONOMICS</a:t>
            </a:r>
          </a:p>
        </p:txBody>
      </p:sp>
      <p:sp>
        <p:nvSpPr>
          <p:cNvPr id="33" name="">
            <a:extLst xmlns:a="http://schemas.openxmlformats.org/drawingml/2006/main">
              <a:ext uri="{FF2B5EF4-FFF2-40B4-BE49-F238E27FC236}">
                <a16:creationId xmlns:a16="http://schemas.microsoft.com/office/drawing/2014/main" id="{32317D6F-09B6-4CD6-8A81-BEC43D63100F}"/>
              </a:ext>
            </a:extLst>
          </p:cNvPr>
          <p:cNvSpPr>
            <a:spLocks xmlns:a="http://schemas.openxmlformats.org/drawingml/2006/main" noGrp="1"/>
          </p:cNvSpPr>
          <p:nvPr/>
        </p:nvSpPr>
        <p:spPr>
          <a:xfrm xmlns:a="http://schemas.openxmlformats.org/drawingml/2006/main">
            <a:off x="8724900" y="3829050"/>
            <a:ext cx="2286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500" b="0">
                <a:solidFill>
                  <a:srgbClr val="F4F8FC"/>
                </a:solidFill>
                <a:latin typeface="Liberation Sans"/>
                <a:ea typeface="Liberation Sans"/>
                <a:cs typeface="Liberation Sans"/>
              </a:defRPr>
            </a:pPr>
            <a:r>
              <a:rPr sz="1500" b="0">
                <a:solidFill>
                  <a:srgbClr val="F4F8FC"/>
                </a:solidFill>
                <a:latin typeface="Liberation Sans"/>
                <a:ea typeface="Liberation Sans"/>
                <a:cs typeface="Liberation Sans"/>
              </a:rPr>
              <a:t>How much did the run consume?</a:t>
            </a:r>
          </a:p>
        </p:txBody>
      </p:sp>
      <p:sp>
        <p:nvSpPr>
          <p:cNvPr id="34" name="">
            <a:extLst xmlns:a="http://schemas.openxmlformats.org/drawingml/2006/main">
              <a:ext uri="{FF2B5EF4-FFF2-40B4-BE49-F238E27FC236}">
                <a16:creationId xmlns:a16="http://schemas.microsoft.com/office/drawing/2014/main" id="{9625036A-FC14-47DD-94AB-51144A6E73BD}"/>
              </a:ext>
            </a:extLst>
          </p:cNvPr>
          <p:cNvSpPr>
            <a:spLocks xmlns:a="http://schemas.openxmlformats.org/drawingml/2006/main" noGrp="1"/>
          </p:cNvSpPr>
          <p:nvPr/>
        </p:nvSpPr>
        <p:spPr>
          <a:xfrm xmlns:a="http://schemas.openxmlformats.org/drawingml/2006/main">
            <a:off x="1714500" y="5257800"/>
            <a:ext cx="8667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875" b="1">
                <a:solidFill>
                  <a:srgbClr val="F4F8FC"/>
                </a:solidFill>
                <a:latin typeface="Liberation Sans"/>
                <a:ea typeface="Liberation Sans"/>
                <a:cs typeface="Liberation Sans"/>
              </a:defRPr>
            </a:pPr>
            <a:r>
              <a:rPr sz="1875" b="1">
                <a:solidFill>
                  <a:srgbClr val="F4F8FC"/>
                </a:solidFill>
                <a:latin typeface="Liberation Sans"/>
                <a:ea typeface="Liberation Sans"/>
                <a:cs typeface="Liberation Sans"/>
              </a:rPr>
              <a:t>The run record makes every action attributable</a:t>
            </a:r>
          </a:p>
        </p:txBody>
      </p:sp>
    </p:spTree>
    <p:extLst>
      <p:ext uri="{BB962C8B-B14F-4D97-AF65-F5344CB8AC3E}">
        <p14:creationId xmlns:p14="http://schemas.microsoft.com/office/powerpoint/2010/main" val="1419750235"/>
      </p:ext>
    </p:extLst>
  </p:cSld>
</p:sld>
</file>

<file path=ppt/slides/slide8.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612C09F-97C5-47BE-9A7C-C1D0A4262F8D}"/>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54D6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678367-0DA1-44E9-8A1B-27AACC6DCC2A}"/>
              </a:ext>
            </a:extLst>
          </p:cNvPr>
          <p:cNvSpPr>
            <a:spLocks xmlns:a="http://schemas.openxmlformats.org/drawingml/2006/main" noGrp="1"/>
          </p:cNvSpPr>
          <p:nvPr/>
        </p:nvSpPr>
        <p:spPr>
          <a:xfrm xmlns:a="http://schemas.openxmlformats.org/drawingml/2006/main">
            <a:off x="590550" y="4000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550" b="1">
                <a:solidFill>
                  <a:srgbClr val="F4F8FC"/>
                </a:solidFill>
                <a:latin typeface="Liberation Sans"/>
                <a:ea typeface="Liberation Sans"/>
                <a:cs typeface="Liberation Sans"/>
              </a:defRPr>
            </a:pPr>
            <a:r>
              <a:rPr sz="2550" b="1">
                <a:solidFill>
                  <a:srgbClr val="F4F8FC"/>
                </a:solidFill>
                <a:latin typeface="Liberation Sans"/>
                <a:ea typeface="Liberation Sans"/>
                <a:cs typeface="Liberation Sans"/>
              </a:rPr>
              <a:t>Live platform tour</a:t>
            </a:r>
          </a:p>
        </p:txBody>
      </p:sp>
      <p:sp>
        <p:nvSpPr>
          <p:cNvPr id="3" name="">
            <a:extLst xmlns:a="http://schemas.openxmlformats.org/drawingml/2006/main">
              <a:ext uri="{FF2B5EF4-FFF2-40B4-BE49-F238E27FC236}">
                <a16:creationId xmlns:a16="http://schemas.microsoft.com/office/drawing/2014/main" id="{DEA3F93B-B572-4CB8-A5AA-A9FB69BE1246}"/>
              </a:ext>
            </a:extLst>
          </p:cNvPr>
          <p:cNvSpPr>
            <a:spLocks xmlns:a="http://schemas.openxmlformats.org/drawingml/2006/main" noGrp="1"/>
          </p:cNvSpPr>
          <p:nvPr/>
        </p:nvSpPr>
        <p:spPr>
          <a:xfrm xmlns:a="http://schemas.openxmlformats.org/drawingml/2006/main">
            <a:off x="609600" y="9334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The demo starts with controls, then follows live evidence across three systems</a:t>
            </a:r>
          </a:p>
        </p:txBody>
      </p:sp>
      <p:sp>
        <p:nvSpPr>
          <p:cNvPr id="4" name="">
            <a:extLst xmlns:a="http://schemas.openxmlformats.org/drawingml/2006/main">
              <a:ext uri="{FF2B5EF4-FFF2-40B4-BE49-F238E27FC236}">
                <a16:creationId xmlns:a16="http://schemas.microsoft.com/office/drawing/2014/main" id="{C32AD9A3-944A-464D-AF9C-6C432D7814F3}"/>
              </a:ext>
            </a:extLst>
          </p:cNvPr>
          <p:cNvSpPr>
            <a:spLocks xmlns:a="http://schemas.openxmlformats.org/drawingml/2006/main" noGrp="1"/>
          </p:cNvSpPr>
          <p:nvPr/>
        </p:nvSpPr>
        <p:spPr>
          <a:xfrm xmlns:a="http://schemas.openxmlformats.org/drawingml/2006/main">
            <a:off x="11258550" y="62293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08</a:t>
            </a:r>
          </a:p>
        </p:txBody>
      </p:sp>
      <p:sp>
        <p:nvSpPr>
          <p:cNvPr id="5" name="">
            <a:extLst xmlns:a="http://schemas.openxmlformats.org/drawingml/2006/main">
              <a:ext uri="{FF2B5EF4-FFF2-40B4-BE49-F238E27FC236}">
                <a16:creationId xmlns:a16="http://schemas.microsoft.com/office/drawing/2014/main" id="{8ED502A4-DFD1-4907-A38B-F138BE509225}"/>
              </a:ext>
            </a:extLst>
          </p:cNvPr>
          <p:cNvSpPr>
            <a:spLocks xmlns:a="http://schemas.openxmlformats.org/drawingml/2006/main" noGrp="1"/>
          </p:cNvSpPr>
          <p:nvPr/>
        </p:nvSpPr>
        <p:spPr>
          <a:xfrm xmlns:a="http://schemas.openxmlformats.org/drawingml/2006/main">
            <a:off x="590550" y="62293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KAOP by Nirit Terehovsky</a:t>
            </a:r>
          </a:p>
        </p:txBody>
      </p:sp>
      <p:sp>
        <p:nvSpPr>
          <p:cNvPr id="6" name="">
            <a:extLst xmlns:a="http://schemas.openxmlformats.org/drawingml/2006/main">
              <a:ext uri="{FF2B5EF4-FFF2-40B4-BE49-F238E27FC236}">
                <a16:creationId xmlns:a16="http://schemas.microsoft.com/office/drawing/2014/main" id="{07860E40-48FC-494D-BB05-67D073D28481}"/>
              </a:ext>
            </a:extLst>
          </p:cNvPr>
          <p:cNvSpPr>
            <a:spLocks xmlns:a="http://schemas.openxmlformats.org/drawingml/2006/main" noGrp="1"/>
          </p:cNvSpPr>
          <p:nvPr/>
        </p:nvSpPr>
        <p:spPr>
          <a:xfrm xmlns:a="http://schemas.openxmlformats.org/drawingml/2006/main">
            <a:off x="723900" y="1581150"/>
            <a:ext cx="3333750" cy="2686050"/>
          </a:xfrm>
          <a:prstGeom xmlns:a="http://schemas.openxmlformats.org/drawingml/2006/main" prst="roundRect">
            <a:avLst>
              <a:gd name="adj" fmla="val 7092"/>
            </a:avLst>
          </a:prstGeom>
          <a:solidFill xmlns:a="http://schemas.openxmlformats.org/drawingml/2006/main">
            <a:srgbClr val="102338"/>
          </a:solidFill>
          <a:ln xmlns:a="http://schemas.openxmlformats.org/drawingml/2006/main" w="14288">
            <a:solidFill>
              <a:srgbClr val="9A7BFF"/>
            </a:solidFill>
            <a:prstDash val="solid"/>
          </a:ln>
        </p:spPr>
      </p:sp>
      <p:sp>
        <p:nvSpPr>
          <p:cNvPr id="7" name="">
            <a:extLst xmlns:a="http://schemas.openxmlformats.org/drawingml/2006/main">
              <a:ext uri="{FF2B5EF4-FFF2-40B4-BE49-F238E27FC236}">
                <a16:creationId xmlns:a16="http://schemas.microsoft.com/office/drawing/2014/main" id="{6766E17C-2870-4842-A2CB-F6D82C885E59}"/>
              </a:ext>
            </a:extLst>
          </p:cNvPr>
          <p:cNvSpPr>
            <a:spLocks xmlns:a="http://schemas.openxmlformats.org/drawingml/2006/main" noGrp="1"/>
          </p:cNvSpPr>
          <p:nvPr/>
        </p:nvSpPr>
        <p:spPr>
          <a:xfrm xmlns:a="http://schemas.openxmlformats.org/drawingml/2006/main">
            <a:off x="990600" y="18478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9A7BFF"/>
                </a:solidFill>
                <a:latin typeface="Liberation Sans"/>
                <a:ea typeface="Liberation Sans"/>
                <a:cs typeface="Liberation Sans"/>
              </a:defRPr>
            </a:pPr>
            <a:r>
              <a:rPr sz="900" b="1">
                <a:solidFill>
                  <a:srgbClr val="9A7BFF"/>
                </a:solidFill>
                <a:latin typeface="Liberation Sans"/>
                <a:ea typeface="Liberation Sans"/>
                <a:cs typeface="Liberation Sans"/>
              </a:rPr>
              <a:t>KAOP</a:t>
            </a:r>
          </a:p>
        </p:txBody>
      </p:sp>
      <p:sp>
        <p:nvSpPr>
          <p:cNvPr id="8" name="">
            <a:extLst xmlns:a="http://schemas.openxmlformats.org/drawingml/2006/main">
              <a:ext uri="{FF2B5EF4-FFF2-40B4-BE49-F238E27FC236}">
                <a16:creationId xmlns:a16="http://schemas.microsoft.com/office/drawing/2014/main" id="{AC78F111-D43E-4C9D-97BF-C4BA16FA2388}"/>
              </a:ext>
            </a:extLst>
          </p:cNvPr>
          <p:cNvSpPr>
            <a:spLocks xmlns:a="http://schemas.openxmlformats.org/drawingml/2006/main" noGrp="1"/>
          </p:cNvSpPr>
          <p:nvPr/>
        </p:nvSpPr>
        <p:spPr>
          <a:xfrm xmlns:a="http://schemas.openxmlformats.org/drawingml/2006/main">
            <a:off x="990600" y="2343150"/>
            <a:ext cx="27813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575" b="0">
                <a:solidFill>
                  <a:srgbClr val="F4F8FC"/>
                </a:solidFill>
                <a:latin typeface="Liberation Sans"/>
                <a:ea typeface="Liberation Sans"/>
                <a:cs typeface="Liberation Sans"/>
              </a:defRPr>
            </a:pPr>
            <a:r>
              <a:rPr sz="1575" b="0">
                <a:solidFill>
                  <a:srgbClr val="F4F8FC"/>
                </a:solidFill>
                <a:latin typeface="Liberation Sans"/>
                <a:ea typeface="Liberation Sans"/>
                <a:cs typeface="Liberation Sans"/>
              </a:rPr>
              <a:t>Verified RCA run</a:t>
            </a:r>
          </a:p>
          <a:p xmlns:a="http://schemas.openxmlformats.org/drawingml/2006/main">
            <a:pPr>
              <a:defRPr sz="1575" b="0">
                <a:solidFill>
                  <a:srgbClr val="F4F8FC"/>
                </a:solidFill>
                <a:latin typeface="Liberation Sans"/>
                <a:ea typeface="Liberation Sans"/>
                <a:cs typeface="Liberation Sans"/>
              </a:defRPr>
            </a:pPr>
            <a:r>
              <a:rPr sz="1575" b="0">
                <a:solidFill>
                  <a:srgbClr val="F4F8FC"/>
                </a:solidFill>
                <a:latin typeface="Liberation Sans"/>
                <a:ea typeface="Liberation Sans"/>
                <a:cs typeface="Liberation Sans"/>
              </a:rPr>
              <a:t>High confidence finding</a:t>
            </a:r>
          </a:p>
        </p:txBody>
      </p:sp>
      <p:sp>
        <p:nvSpPr>
          <p:cNvPr id="9" name="">
            <a:extLst xmlns:a="http://schemas.openxmlformats.org/drawingml/2006/main">
              <a:ext uri="{FF2B5EF4-FFF2-40B4-BE49-F238E27FC236}">
                <a16:creationId xmlns:a16="http://schemas.microsoft.com/office/drawing/2014/main" id="{B96B0C99-8653-4F33-AE61-1A736026DD10}"/>
              </a:ext>
            </a:extLst>
          </p:cNvPr>
          <p:cNvSpPr>
            <a:spLocks xmlns:a="http://schemas.openxmlformats.org/drawingml/2006/main" noGrp="1"/>
          </p:cNvSpPr>
          <p:nvPr/>
        </p:nvSpPr>
        <p:spPr>
          <a:xfrm xmlns:a="http://schemas.openxmlformats.org/drawingml/2006/main">
            <a:off x="990600" y="3409950"/>
            <a:ext cx="2800350" cy="19050"/>
          </a:xfrm>
          <a:prstGeom xmlns:a="http://schemas.openxmlformats.org/drawingml/2006/main" prst="rect">
            <a:avLst/>
          </a:prstGeom>
          <a:solidFill xmlns:a="http://schemas.openxmlformats.org/drawingml/2006/main">
            <a:srgbClr val="29445D"/>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C16493F-9B56-4EA0-A054-1D4D7F74DF1F}"/>
              </a:ext>
            </a:extLst>
          </p:cNvPr>
          <p:cNvSpPr>
            <a:spLocks xmlns:a="http://schemas.openxmlformats.org/drawingml/2006/main" noGrp="1"/>
          </p:cNvSpPr>
          <p:nvPr/>
        </p:nvSpPr>
        <p:spPr>
          <a:xfrm xmlns:a="http://schemas.openxmlformats.org/drawingml/2006/main">
            <a:off x="990600" y="3600450"/>
            <a:ext cx="27813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125" b="0">
                <a:solidFill>
                  <a:srgbClr val="A6B7C8"/>
                </a:solidFill>
                <a:latin typeface="Liberation Sans"/>
                <a:ea typeface="Liberation Sans"/>
                <a:cs typeface="Liberation Sans"/>
              </a:defRPr>
            </a:pPr>
            <a:r>
              <a:rPr sz="1125" b="0">
                <a:solidFill>
                  <a:srgbClr val="A6B7C8"/>
                </a:solidFill>
                <a:latin typeface="Liberation Sans"/>
                <a:ea typeface="Liberation Sans"/>
                <a:cs typeface="Liberation Sans"/>
              </a:rPr>
              <a:t>Show the boundary before the run</a:t>
            </a:r>
          </a:p>
        </p:txBody>
      </p:sp>
      <p:sp>
        <p:nvSpPr>
          <p:cNvPr id="11" name="">
            <a:extLst xmlns:a="http://schemas.openxmlformats.org/drawingml/2006/main">
              <a:ext uri="{FF2B5EF4-FFF2-40B4-BE49-F238E27FC236}">
                <a16:creationId xmlns:a16="http://schemas.microsoft.com/office/drawing/2014/main" id="{C37F785F-387E-4383-AEF5-0D2F85C2AC9B}"/>
              </a:ext>
            </a:extLst>
          </p:cNvPr>
          <p:cNvSpPr>
            <a:spLocks xmlns:a="http://schemas.openxmlformats.org/drawingml/2006/main" noGrp="1"/>
          </p:cNvSpPr>
          <p:nvPr/>
        </p:nvSpPr>
        <p:spPr>
          <a:xfrm xmlns:a="http://schemas.openxmlformats.org/drawingml/2006/main">
            <a:off x="4438650" y="1581150"/>
            <a:ext cx="3333750" cy="2686050"/>
          </a:xfrm>
          <a:prstGeom xmlns:a="http://schemas.openxmlformats.org/drawingml/2006/main" prst="roundRect">
            <a:avLst>
              <a:gd name="adj" fmla="val 7092"/>
            </a:avLst>
          </a:prstGeom>
          <a:solidFill xmlns:a="http://schemas.openxmlformats.org/drawingml/2006/main">
            <a:srgbClr val="102338"/>
          </a:solidFill>
          <a:ln xmlns:a="http://schemas.openxmlformats.org/drawingml/2006/main" w="14288">
            <a:solidFill>
              <a:srgbClr val="FFCA6B"/>
            </a:solidFill>
            <a:prstDash val="solid"/>
          </a:ln>
        </p:spPr>
      </p:sp>
      <p:sp>
        <p:nvSpPr>
          <p:cNvPr id="12" name="">
            <a:extLst xmlns:a="http://schemas.openxmlformats.org/drawingml/2006/main">
              <a:ext uri="{FF2B5EF4-FFF2-40B4-BE49-F238E27FC236}">
                <a16:creationId xmlns:a16="http://schemas.microsoft.com/office/drawing/2014/main" id="{688F7FF2-1FF6-4B24-9E4E-8E981CD2098B}"/>
              </a:ext>
            </a:extLst>
          </p:cNvPr>
          <p:cNvSpPr>
            <a:spLocks xmlns:a="http://schemas.openxmlformats.org/drawingml/2006/main" noGrp="1"/>
          </p:cNvSpPr>
          <p:nvPr/>
        </p:nvSpPr>
        <p:spPr>
          <a:xfrm xmlns:a="http://schemas.openxmlformats.org/drawingml/2006/main">
            <a:off x="4705350" y="18478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FFCA6B"/>
                </a:solidFill>
                <a:latin typeface="Liberation Sans"/>
                <a:ea typeface="Liberation Sans"/>
                <a:cs typeface="Liberation Sans"/>
              </a:defRPr>
            </a:pPr>
            <a:r>
              <a:rPr sz="900" b="1">
                <a:solidFill>
                  <a:srgbClr val="FFCA6B"/>
                </a:solidFill>
                <a:latin typeface="Liberation Sans"/>
                <a:ea typeface="Liberation Sans"/>
                <a:cs typeface="Liberation Sans"/>
              </a:rPr>
              <a:t>GRAFANA</a:t>
            </a:r>
          </a:p>
        </p:txBody>
      </p:sp>
      <p:sp>
        <p:nvSpPr>
          <p:cNvPr id="13" name="">
            <a:extLst xmlns:a="http://schemas.openxmlformats.org/drawingml/2006/main">
              <a:ext uri="{FF2B5EF4-FFF2-40B4-BE49-F238E27FC236}">
                <a16:creationId xmlns:a16="http://schemas.microsoft.com/office/drawing/2014/main" id="{6465A8FD-C4AC-4B57-9C95-56CAEC2C2832}"/>
              </a:ext>
            </a:extLst>
          </p:cNvPr>
          <p:cNvSpPr>
            <a:spLocks xmlns:a="http://schemas.openxmlformats.org/drawingml/2006/main" noGrp="1"/>
          </p:cNvSpPr>
          <p:nvPr/>
        </p:nvSpPr>
        <p:spPr>
          <a:xfrm xmlns:a="http://schemas.openxmlformats.org/drawingml/2006/main">
            <a:off x="4705350" y="2343150"/>
            <a:ext cx="27813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575" b="0">
                <a:solidFill>
                  <a:srgbClr val="F4F8FC"/>
                </a:solidFill>
                <a:latin typeface="Liberation Sans"/>
                <a:ea typeface="Liberation Sans"/>
                <a:cs typeface="Liberation Sans"/>
              </a:defRPr>
            </a:pPr>
            <a:r>
              <a:rPr sz="1575" b="0">
                <a:solidFill>
                  <a:srgbClr val="F4F8FC"/>
                </a:solidFill>
                <a:latin typeface="Liberation Sans"/>
                <a:ea typeface="Liberation Sans"/>
                <a:cs typeface="Liberation Sans"/>
              </a:rPr>
              <a:t>Normal / Pending / Firing / Normal</a:t>
            </a:r>
          </a:p>
        </p:txBody>
      </p:sp>
      <p:sp>
        <p:nvSpPr>
          <p:cNvPr id="14" name="">
            <a:extLst xmlns:a="http://schemas.openxmlformats.org/drawingml/2006/main">
              <a:ext uri="{FF2B5EF4-FFF2-40B4-BE49-F238E27FC236}">
                <a16:creationId xmlns:a16="http://schemas.microsoft.com/office/drawing/2014/main" id="{B9723E2F-3060-48EC-9243-4DB40D0C8F25}"/>
              </a:ext>
            </a:extLst>
          </p:cNvPr>
          <p:cNvSpPr>
            <a:spLocks xmlns:a="http://schemas.openxmlformats.org/drawingml/2006/main" noGrp="1"/>
          </p:cNvSpPr>
          <p:nvPr/>
        </p:nvSpPr>
        <p:spPr>
          <a:xfrm xmlns:a="http://schemas.openxmlformats.org/drawingml/2006/main">
            <a:off x="4705350" y="3409950"/>
            <a:ext cx="2800350" cy="19050"/>
          </a:xfrm>
          <a:prstGeom xmlns:a="http://schemas.openxmlformats.org/drawingml/2006/main" prst="rect">
            <a:avLst/>
          </a:prstGeom>
          <a:solidFill xmlns:a="http://schemas.openxmlformats.org/drawingml/2006/main">
            <a:srgbClr val="29445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5B30A77-3B5E-4965-93ED-7F528BB3FA81}"/>
              </a:ext>
            </a:extLst>
          </p:cNvPr>
          <p:cNvSpPr>
            <a:spLocks xmlns:a="http://schemas.openxmlformats.org/drawingml/2006/main" noGrp="1"/>
          </p:cNvSpPr>
          <p:nvPr/>
        </p:nvSpPr>
        <p:spPr>
          <a:xfrm xmlns:a="http://schemas.openxmlformats.org/drawingml/2006/main">
            <a:off x="4705350" y="3600450"/>
            <a:ext cx="27813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125" b="0">
                <a:solidFill>
                  <a:srgbClr val="A6B7C8"/>
                </a:solidFill>
                <a:latin typeface="Liberation Sans"/>
                <a:ea typeface="Liberation Sans"/>
                <a:cs typeface="Liberation Sans"/>
              </a:defRPr>
            </a:pPr>
            <a:r>
              <a:rPr sz="1125" b="0">
                <a:solidFill>
                  <a:srgbClr val="A6B7C8"/>
                </a:solidFill>
                <a:latin typeface="Liberation Sans"/>
                <a:ea typeface="Liberation Sans"/>
                <a:cs typeface="Liberation Sans"/>
              </a:rPr>
              <a:t>Prove the trigger was automatic</a:t>
            </a:r>
          </a:p>
        </p:txBody>
      </p:sp>
      <p:sp>
        <p:nvSpPr>
          <p:cNvPr id="16" name="">
            <a:extLst xmlns:a="http://schemas.openxmlformats.org/drawingml/2006/main">
              <a:ext uri="{FF2B5EF4-FFF2-40B4-BE49-F238E27FC236}">
                <a16:creationId xmlns:a16="http://schemas.microsoft.com/office/drawing/2014/main" id="{DE51F4B2-C18B-4DEF-B329-5B5E1E005A57}"/>
              </a:ext>
            </a:extLst>
          </p:cNvPr>
          <p:cNvSpPr>
            <a:spLocks xmlns:a="http://schemas.openxmlformats.org/drawingml/2006/main" noGrp="1"/>
          </p:cNvSpPr>
          <p:nvPr/>
        </p:nvSpPr>
        <p:spPr>
          <a:xfrm xmlns:a="http://schemas.openxmlformats.org/drawingml/2006/main">
            <a:off x="8153400" y="1581150"/>
            <a:ext cx="3333750" cy="2686050"/>
          </a:xfrm>
          <a:prstGeom xmlns:a="http://schemas.openxmlformats.org/drawingml/2006/main" prst="roundRect">
            <a:avLst>
              <a:gd name="adj" fmla="val 7092"/>
            </a:avLst>
          </a:prstGeom>
          <a:solidFill xmlns:a="http://schemas.openxmlformats.org/drawingml/2006/main">
            <a:srgbClr val="102338"/>
          </a:solidFill>
          <a:ln xmlns:a="http://schemas.openxmlformats.org/drawingml/2006/main" w="14288">
            <a:solidFill>
              <a:srgbClr val="54D6FF"/>
            </a:solidFill>
            <a:prstDash val="solid"/>
          </a:ln>
        </p:spPr>
      </p:sp>
      <p:sp>
        <p:nvSpPr>
          <p:cNvPr id="17" name="">
            <a:extLst xmlns:a="http://schemas.openxmlformats.org/drawingml/2006/main">
              <a:ext uri="{FF2B5EF4-FFF2-40B4-BE49-F238E27FC236}">
                <a16:creationId xmlns:a16="http://schemas.microsoft.com/office/drawing/2014/main" id="{11F734EF-8226-4B1D-A6AF-76D66EFD763A}"/>
              </a:ext>
            </a:extLst>
          </p:cNvPr>
          <p:cNvSpPr>
            <a:spLocks xmlns:a="http://schemas.openxmlformats.org/drawingml/2006/main" noGrp="1"/>
          </p:cNvSpPr>
          <p:nvPr/>
        </p:nvSpPr>
        <p:spPr>
          <a:xfrm xmlns:a="http://schemas.openxmlformats.org/drawingml/2006/main">
            <a:off x="8420100" y="18478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54D6FF"/>
                </a:solidFill>
                <a:latin typeface="Liberation Sans"/>
                <a:ea typeface="Liberation Sans"/>
                <a:cs typeface="Liberation Sans"/>
              </a:defRPr>
            </a:pPr>
            <a:r>
              <a:rPr sz="900" b="1">
                <a:solidFill>
                  <a:srgbClr val="54D6FF"/>
                </a:solidFill>
                <a:latin typeface="Liberation Sans"/>
                <a:ea typeface="Liberation Sans"/>
                <a:cs typeface="Liberation Sans"/>
              </a:rPr>
              <a:t>GITHUB</a:t>
            </a:r>
          </a:p>
        </p:txBody>
      </p:sp>
      <p:sp>
        <p:nvSpPr>
          <p:cNvPr id="18" name="">
            <a:extLst xmlns:a="http://schemas.openxmlformats.org/drawingml/2006/main">
              <a:ext uri="{FF2B5EF4-FFF2-40B4-BE49-F238E27FC236}">
                <a16:creationId xmlns:a16="http://schemas.microsoft.com/office/drawing/2014/main" id="{E98B9D2E-3D3C-46C3-97A5-09AD3C32929E}"/>
              </a:ext>
            </a:extLst>
          </p:cNvPr>
          <p:cNvSpPr>
            <a:spLocks xmlns:a="http://schemas.openxmlformats.org/drawingml/2006/main" noGrp="1"/>
          </p:cNvSpPr>
          <p:nvPr/>
        </p:nvSpPr>
        <p:spPr>
          <a:xfrm xmlns:a="http://schemas.openxmlformats.org/drawingml/2006/main">
            <a:off x="8420100" y="2343150"/>
            <a:ext cx="27813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575" b="0">
                <a:solidFill>
                  <a:srgbClr val="F4F8FC"/>
                </a:solidFill>
                <a:latin typeface="Liberation Sans"/>
                <a:ea typeface="Liberation Sans"/>
                <a:cs typeface="Liberation Sans"/>
              </a:defRPr>
            </a:pPr>
            <a:r>
              <a:rPr sz="1575" b="0">
                <a:solidFill>
                  <a:srgbClr val="F4F8FC"/>
                </a:solidFill>
                <a:latin typeface="Liberation Sans"/>
                <a:ea typeface="Liberation Sans"/>
                <a:cs typeface="Liberation Sans"/>
              </a:rPr>
              <a:t>Open PR #1 with AgentOps review</a:t>
            </a:r>
          </a:p>
        </p:txBody>
      </p:sp>
      <p:sp>
        <p:nvSpPr>
          <p:cNvPr id="19" name="">
            <a:extLst xmlns:a="http://schemas.openxmlformats.org/drawingml/2006/main">
              <a:ext uri="{FF2B5EF4-FFF2-40B4-BE49-F238E27FC236}">
                <a16:creationId xmlns:a16="http://schemas.microsoft.com/office/drawing/2014/main" id="{D35B6D85-FB00-487D-B761-CEACC93B3BDD}"/>
              </a:ext>
            </a:extLst>
          </p:cNvPr>
          <p:cNvSpPr>
            <a:spLocks xmlns:a="http://schemas.openxmlformats.org/drawingml/2006/main" noGrp="1"/>
          </p:cNvSpPr>
          <p:nvPr/>
        </p:nvSpPr>
        <p:spPr>
          <a:xfrm xmlns:a="http://schemas.openxmlformats.org/drawingml/2006/main">
            <a:off x="8420100" y="3409950"/>
            <a:ext cx="2800350" cy="19050"/>
          </a:xfrm>
          <a:prstGeom xmlns:a="http://schemas.openxmlformats.org/drawingml/2006/main" prst="rect">
            <a:avLst/>
          </a:prstGeom>
          <a:solidFill xmlns:a="http://schemas.openxmlformats.org/drawingml/2006/main">
            <a:srgbClr val="29445D"/>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450B484-C33F-44C6-8337-DA8102692F98}"/>
              </a:ext>
            </a:extLst>
          </p:cNvPr>
          <p:cNvSpPr>
            <a:spLocks xmlns:a="http://schemas.openxmlformats.org/drawingml/2006/main" noGrp="1"/>
          </p:cNvSpPr>
          <p:nvPr/>
        </p:nvSpPr>
        <p:spPr>
          <a:xfrm xmlns:a="http://schemas.openxmlformats.org/drawingml/2006/main">
            <a:off x="8420100" y="3600450"/>
            <a:ext cx="27813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125" b="0">
                <a:solidFill>
                  <a:srgbClr val="A6B7C8"/>
                </a:solidFill>
                <a:latin typeface="Liberation Sans"/>
                <a:ea typeface="Liberation Sans"/>
                <a:cs typeface="Liberation Sans"/>
              </a:defRPr>
            </a:pPr>
            <a:r>
              <a:rPr sz="1125" b="0">
                <a:solidFill>
                  <a:srgbClr val="A6B7C8"/>
                </a:solidFill>
                <a:latin typeface="Liberation Sans"/>
                <a:ea typeface="Liberation Sans"/>
                <a:cs typeface="Liberation Sans"/>
              </a:rPr>
              <a:t>Prove the reviewer stayed comment only</a:t>
            </a:r>
          </a:p>
        </p:txBody>
      </p:sp>
      <p:sp>
        <p:nvSpPr>
          <p:cNvPr id="21" name="">
            <a:extLst xmlns:a="http://schemas.openxmlformats.org/drawingml/2006/main">
              <a:ext uri="{FF2B5EF4-FFF2-40B4-BE49-F238E27FC236}">
                <a16:creationId xmlns:a16="http://schemas.microsoft.com/office/drawing/2014/main" id="{6B0E2320-46F2-44FA-AEE4-947FAFB3E136}"/>
              </a:ext>
            </a:extLst>
          </p:cNvPr>
          <p:cNvSpPr>
            <a:spLocks xmlns:a="http://schemas.openxmlformats.org/drawingml/2006/main" noGrp="1"/>
          </p:cNvSpPr>
          <p:nvPr/>
        </p:nvSpPr>
        <p:spPr>
          <a:xfrm xmlns:a="http://schemas.openxmlformats.org/drawingml/2006/main">
            <a:off x="1905000" y="4686300"/>
            <a:ext cx="8382000" cy="914400"/>
          </a:xfrm>
          <a:prstGeom xmlns:a="http://schemas.openxmlformats.org/drawingml/2006/main" prst="roundRect">
            <a:avLst>
              <a:gd name="adj" fmla="val 16667"/>
            </a:avLst>
          </a:prstGeom>
          <a:solidFill xmlns:a="http://schemas.openxmlformats.org/drawingml/2006/main">
            <a:srgbClr val="142B42"/>
          </a:solidFill>
          <a:ln xmlns:a="http://schemas.openxmlformats.org/drawingml/2006/main" w="14288">
            <a:solidFill>
              <a:srgbClr val="29445D"/>
            </a:solidFill>
            <a:prstDash val="solid"/>
          </a:ln>
        </p:spPr>
      </p:sp>
      <p:sp>
        <p:nvSpPr>
          <p:cNvPr id="22" name="">
            <a:extLst xmlns:a="http://schemas.openxmlformats.org/drawingml/2006/main">
              <a:ext uri="{FF2B5EF4-FFF2-40B4-BE49-F238E27FC236}">
                <a16:creationId xmlns:a16="http://schemas.microsoft.com/office/drawing/2014/main" id="{932CC261-86EF-462B-BE2D-0FDEFFD0810A}"/>
              </a:ext>
            </a:extLst>
          </p:cNvPr>
          <p:cNvSpPr>
            <a:spLocks xmlns:a="http://schemas.openxmlformats.org/drawingml/2006/main" noGrp="1"/>
          </p:cNvSpPr>
          <p:nvPr/>
        </p:nvSpPr>
        <p:spPr>
          <a:xfrm xmlns:a="http://schemas.openxmlformats.org/drawingml/2006/main">
            <a:off x="2228850" y="49149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444"/>
          </a:bodyPr>
          <a:lstStyle xmlns:a="http://schemas.openxmlformats.org/drawingml/2006/main"/>
          <a:p xmlns:a="http://schemas.openxmlformats.org/drawingml/2006/main">
            <a:pPr>
              <a:defRPr sz="1350" b="1">
                <a:solidFill>
                  <a:srgbClr val="FF7285"/>
                </a:solidFill>
                <a:latin typeface="Liberation Sans"/>
                <a:ea typeface="Liberation Sans"/>
                <a:cs typeface="Liberation Sans"/>
              </a:defRPr>
            </a:pPr>
            <a:r>
              <a:rPr sz="1350" b="1">
                <a:solidFill>
                  <a:srgbClr val="FF7285"/>
                </a:solidFill>
                <a:latin typeface="Liberation Sans"/>
                <a:ea typeface="Liberation Sans"/>
                <a:cs typeface="Liberation Sans"/>
              </a:rPr>
              <a:t>Live trigger</a:t>
            </a:r>
          </a:p>
        </p:txBody>
      </p:sp>
      <p:sp>
        <p:nvSpPr>
          <p:cNvPr id="23" name="">
            <a:extLst xmlns:a="http://schemas.openxmlformats.org/drawingml/2006/main">
              <a:ext uri="{FF2B5EF4-FFF2-40B4-BE49-F238E27FC236}">
                <a16:creationId xmlns:a16="http://schemas.microsoft.com/office/drawing/2014/main" id="{1C741247-C28A-4283-A078-7E381B61D2F0}"/>
              </a:ext>
            </a:extLst>
          </p:cNvPr>
          <p:cNvSpPr>
            <a:spLocks xmlns:a="http://schemas.openxmlformats.org/drawingml/2006/main" noGrp="1"/>
          </p:cNvSpPr>
          <p:nvPr/>
        </p:nvSpPr>
        <p:spPr>
          <a:xfrm xmlns:a="http://schemas.openxmlformats.org/drawingml/2006/main">
            <a:off x="4000500" y="485775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800" b="1">
                <a:solidFill>
                  <a:srgbClr val="F4F8FC"/>
                </a:solidFill>
                <a:latin typeface="Liberation Sans"/>
                <a:ea typeface="Liberation Sans"/>
                <a:cs typeface="Liberation Sans"/>
              </a:defRPr>
            </a:pPr>
            <a:r>
              <a:rPr sz="1800" b="1">
                <a:solidFill>
                  <a:srgbClr val="F4F8FC"/>
                </a:solidFill>
                <a:latin typeface="Liberation Sans"/>
                <a:ea typeface="Liberation Sans"/>
                <a:cs typeface="Liberation Sans"/>
              </a:rPr>
              <a:t>make incident</a:t>
            </a:r>
          </a:p>
        </p:txBody>
      </p:sp>
      <p:sp>
        <p:nvSpPr>
          <p:cNvPr id="24" name="">
            <a:extLst xmlns:a="http://schemas.openxmlformats.org/drawingml/2006/main">
              <a:ext uri="{FF2B5EF4-FFF2-40B4-BE49-F238E27FC236}">
                <a16:creationId xmlns:a16="http://schemas.microsoft.com/office/drawing/2014/main" id="{9BABEC41-830A-4C26-9544-2D409D7DCC40}"/>
              </a:ext>
            </a:extLst>
          </p:cNvPr>
          <p:cNvSpPr>
            <a:spLocks xmlns:a="http://schemas.openxmlformats.org/drawingml/2006/main" noGrp="1"/>
          </p:cNvSpPr>
          <p:nvPr/>
        </p:nvSpPr>
        <p:spPr>
          <a:xfrm xmlns:a="http://schemas.openxmlformats.org/drawingml/2006/main">
            <a:off x="6477000" y="4857750"/>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14"/>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Redis endpoints disappear, probes fail, and restarts rise</a:t>
            </a:r>
          </a:p>
        </p:txBody>
      </p:sp>
    </p:spTree>
    <p:extLst>
      <p:ext uri="{BB962C8B-B14F-4D97-AF65-F5344CB8AC3E}">
        <p14:creationId xmlns:p14="http://schemas.microsoft.com/office/powerpoint/2010/main" val="231811748"/>
      </p:ext>
    </p:extLst>
  </p:cSld>
</p:sld>
</file>

<file path=ppt/slides/slide9.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706C555-1064-4ACF-BC27-7D73AC633963}"/>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54D6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6D2529-F75B-4863-851E-A273E5C2FE91}"/>
              </a:ext>
            </a:extLst>
          </p:cNvPr>
          <p:cNvSpPr>
            <a:spLocks xmlns:a="http://schemas.openxmlformats.org/drawingml/2006/main" noGrp="1"/>
          </p:cNvSpPr>
          <p:nvPr/>
        </p:nvSpPr>
        <p:spPr>
          <a:xfrm xmlns:a="http://schemas.openxmlformats.org/drawingml/2006/main">
            <a:off x="590550" y="4000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550" b="1">
                <a:solidFill>
                  <a:srgbClr val="F4F8FC"/>
                </a:solidFill>
                <a:latin typeface="Liberation Sans"/>
                <a:ea typeface="Liberation Sans"/>
                <a:cs typeface="Liberation Sans"/>
              </a:defRPr>
            </a:pPr>
            <a:r>
              <a:rPr sz="2550" b="1">
                <a:solidFill>
                  <a:srgbClr val="F4F8FC"/>
                </a:solidFill>
                <a:latin typeface="Liberation Sans"/>
                <a:ea typeface="Liberation Sans"/>
                <a:cs typeface="Liberation Sans"/>
              </a:rPr>
              <a:t>A governed path to agent adoption</a:t>
            </a:r>
          </a:p>
        </p:txBody>
      </p:sp>
      <p:sp>
        <p:nvSpPr>
          <p:cNvPr id="3" name="">
            <a:extLst xmlns:a="http://schemas.openxmlformats.org/drawingml/2006/main">
              <a:ext uri="{FF2B5EF4-FFF2-40B4-BE49-F238E27FC236}">
                <a16:creationId xmlns:a16="http://schemas.microsoft.com/office/drawing/2014/main" id="{74772F0A-E897-4115-914A-875BAA6B00BE}"/>
              </a:ext>
            </a:extLst>
          </p:cNvPr>
          <p:cNvSpPr>
            <a:spLocks xmlns:a="http://schemas.openxmlformats.org/drawingml/2006/main" noGrp="1"/>
          </p:cNvSpPr>
          <p:nvPr/>
        </p:nvSpPr>
        <p:spPr>
          <a:xfrm xmlns:a="http://schemas.openxmlformats.org/drawingml/2006/main">
            <a:off x="609600" y="9334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Autonomy expands only after the organization has evidence that the workflow is reliable</a:t>
            </a:r>
          </a:p>
        </p:txBody>
      </p:sp>
      <p:sp>
        <p:nvSpPr>
          <p:cNvPr id="4" name="">
            <a:extLst xmlns:a="http://schemas.openxmlformats.org/drawingml/2006/main">
              <a:ext uri="{FF2B5EF4-FFF2-40B4-BE49-F238E27FC236}">
                <a16:creationId xmlns:a16="http://schemas.microsoft.com/office/drawing/2014/main" id="{037F25D8-98BA-4832-A555-0A1C0212A195}"/>
              </a:ext>
            </a:extLst>
          </p:cNvPr>
          <p:cNvSpPr>
            <a:spLocks xmlns:a="http://schemas.openxmlformats.org/drawingml/2006/main" noGrp="1"/>
          </p:cNvSpPr>
          <p:nvPr/>
        </p:nvSpPr>
        <p:spPr>
          <a:xfrm xmlns:a="http://schemas.openxmlformats.org/drawingml/2006/main">
            <a:off x="11258550" y="62293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09</a:t>
            </a:r>
          </a:p>
        </p:txBody>
      </p:sp>
      <p:sp>
        <p:nvSpPr>
          <p:cNvPr id="5" name="">
            <a:extLst xmlns:a="http://schemas.openxmlformats.org/drawingml/2006/main">
              <a:ext uri="{FF2B5EF4-FFF2-40B4-BE49-F238E27FC236}">
                <a16:creationId xmlns:a16="http://schemas.microsoft.com/office/drawing/2014/main" id="{9C48EDB9-3BF8-4CAE-BE78-D24754A749DF}"/>
              </a:ext>
            </a:extLst>
          </p:cNvPr>
          <p:cNvSpPr>
            <a:spLocks xmlns:a="http://schemas.openxmlformats.org/drawingml/2006/main" noGrp="1"/>
          </p:cNvSpPr>
          <p:nvPr/>
        </p:nvSpPr>
        <p:spPr>
          <a:xfrm xmlns:a="http://schemas.openxmlformats.org/drawingml/2006/main">
            <a:off x="590550" y="62293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KAOP by Nirit Terehovsky</a:t>
            </a:r>
          </a:p>
        </p:txBody>
      </p:sp>
      <p:sp>
        <p:nvSpPr>
          <p:cNvPr id="6" name="">
            <a:extLst xmlns:a="http://schemas.openxmlformats.org/drawingml/2006/main">
              <a:ext uri="{FF2B5EF4-FFF2-40B4-BE49-F238E27FC236}">
                <a16:creationId xmlns:a16="http://schemas.microsoft.com/office/drawing/2014/main" id="{4CDFDF8B-0633-4EB4-8BA3-5998865F1042}"/>
              </a:ext>
            </a:extLst>
          </p:cNvPr>
          <p:cNvSpPr>
            <a:spLocks xmlns:a="http://schemas.openxmlformats.org/drawingml/2006/main" noGrp="1"/>
          </p:cNvSpPr>
          <p:nvPr/>
        </p:nvSpPr>
        <p:spPr>
          <a:xfrm xmlns:a="http://schemas.openxmlformats.org/drawingml/2006/main">
            <a:off x="1200150" y="4000500"/>
            <a:ext cx="2133600" cy="1447800"/>
          </a:xfrm>
          <a:prstGeom xmlns:a="http://schemas.openxmlformats.org/drawingml/2006/main" prst="roundRect">
            <a:avLst>
              <a:gd name="adj" fmla="val 11842"/>
            </a:avLst>
          </a:prstGeom>
          <a:solidFill xmlns:a="http://schemas.openxmlformats.org/drawingml/2006/main">
            <a:srgbClr val="102338"/>
          </a:solidFill>
          <a:ln xmlns:a="http://schemas.openxmlformats.org/drawingml/2006/main" w="14288">
            <a:solidFill>
              <a:srgbClr val="54D6FF"/>
            </a:solidFill>
            <a:prstDash val="solid"/>
          </a:ln>
        </p:spPr>
      </p:sp>
      <p:sp>
        <p:nvSpPr>
          <p:cNvPr id="7" name="">
            <a:extLst xmlns:a="http://schemas.openxmlformats.org/drawingml/2006/main">
              <a:ext uri="{FF2B5EF4-FFF2-40B4-BE49-F238E27FC236}">
                <a16:creationId xmlns:a16="http://schemas.microsoft.com/office/drawing/2014/main" id="{094D87E9-D400-4236-8802-89CB7D5B238C}"/>
              </a:ext>
            </a:extLst>
          </p:cNvPr>
          <p:cNvSpPr>
            <a:spLocks xmlns:a="http://schemas.openxmlformats.org/drawingml/2006/main" noGrp="1"/>
          </p:cNvSpPr>
          <p:nvPr/>
        </p:nvSpPr>
        <p:spPr>
          <a:xfrm xmlns:a="http://schemas.openxmlformats.org/drawingml/2006/main">
            <a:off x="1390650" y="4152900"/>
            <a:ext cx="38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667"/>
          </a:bodyPr>
          <a:lstStyle xmlns:a="http://schemas.openxmlformats.org/drawingml/2006/main"/>
          <a:p xmlns:a="http://schemas.openxmlformats.org/drawingml/2006/main">
            <a:pPr>
              <a:defRPr sz="1800" b="1">
                <a:solidFill>
                  <a:srgbClr val="54D6FF"/>
                </a:solidFill>
                <a:latin typeface="Liberation Sans"/>
                <a:ea typeface="Liberation Sans"/>
                <a:cs typeface="Liberation Sans"/>
              </a:defRPr>
            </a:pPr>
            <a:r>
              <a:rPr sz="1800" b="1">
                <a:solidFill>
                  <a:srgbClr val="54D6FF"/>
                </a:solidFill>
                <a:latin typeface="Liberation Sans"/>
                <a:ea typeface="Liberation Sans"/>
                <a:cs typeface="Liberation Sans"/>
              </a:rPr>
              <a:t>1</a:t>
            </a:r>
          </a:p>
        </p:txBody>
      </p:sp>
      <p:sp>
        <p:nvSpPr>
          <p:cNvPr id="8" name="">
            <a:extLst xmlns:a="http://schemas.openxmlformats.org/drawingml/2006/main">
              <a:ext uri="{FF2B5EF4-FFF2-40B4-BE49-F238E27FC236}">
                <a16:creationId xmlns:a16="http://schemas.microsoft.com/office/drawing/2014/main" id="{5DB0AF4C-3D31-42AC-A223-AF31B60550B9}"/>
              </a:ext>
            </a:extLst>
          </p:cNvPr>
          <p:cNvSpPr>
            <a:spLocks xmlns:a="http://schemas.openxmlformats.org/drawingml/2006/main" noGrp="1"/>
          </p:cNvSpPr>
          <p:nvPr/>
        </p:nvSpPr>
        <p:spPr>
          <a:xfrm xmlns:a="http://schemas.openxmlformats.org/drawingml/2006/main">
            <a:off x="1828800" y="4152900"/>
            <a:ext cx="123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650" b="1">
                <a:solidFill>
                  <a:srgbClr val="F4F8FC"/>
                </a:solidFill>
                <a:latin typeface="Liberation Sans"/>
                <a:ea typeface="Liberation Sans"/>
                <a:cs typeface="Liberation Sans"/>
              </a:defRPr>
            </a:pPr>
            <a:r>
              <a:rPr sz="1650" b="1">
                <a:solidFill>
                  <a:srgbClr val="F4F8FC"/>
                </a:solidFill>
                <a:latin typeface="Liberation Sans"/>
                <a:ea typeface="Liberation Sans"/>
                <a:cs typeface="Liberation Sans"/>
              </a:rPr>
              <a:t>Observe</a:t>
            </a:r>
          </a:p>
        </p:txBody>
      </p:sp>
      <p:sp>
        <p:nvSpPr>
          <p:cNvPr id="9" name="">
            <a:extLst xmlns:a="http://schemas.openxmlformats.org/drawingml/2006/main">
              <a:ext uri="{FF2B5EF4-FFF2-40B4-BE49-F238E27FC236}">
                <a16:creationId xmlns:a16="http://schemas.microsoft.com/office/drawing/2014/main" id="{6BB13A17-8F8E-4635-BB17-ED53361D9066}"/>
              </a:ext>
            </a:extLst>
          </p:cNvPr>
          <p:cNvSpPr>
            <a:spLocks xmlns:a="http://schemas.openxmlformats.org/drawingml/2006/main" noGrp="1"/>
          </p:cNvSpPr>
          <p:nvPr/>
        </p:nvSpPr>
        <p:spPr>
          <a:xfrm xmlns:a="http://schemas.openxmlformats.org/drawingml/2006/main">
            <a:off x="1390650" y="4610100"/>
            <a:ext cx="171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Read only access</a:t>
            </a:r>
          </a:p>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Structured findings</a:t>
            </a:r>
          </a:p>
        </p:txBody>
      </p:sp>
      <p:sp>
        <p:nvSpPr>
          <p:cNvPr id="10" name="">
            <a:extLst xmlns:a="http://schemas.openxmlformats.org/drawingml/2006/main">
              <a:ext uri="{FF2B5EF4-FFF2-40B4-BE49-F238E27FC236}">
                <a16:creationId xmlns:a16="http://schemas.microsoft.com/office/drawing/2014/main" id="{A7AD920D-FF68-4505-A26C-2465528C050E}"/>
              </a:ext>
            </a:extLst>
          </p:cNvPr>
          <p:cNvSpPr>
            <a:spLocks xmlns:a="http://schemas.openxmlformats.org/drawingml/2006/main" noGrp="1"/>
          </p:cNvSpPr>
          <p:nvPr/>
        </p:nvSpPr>
        <p:spPr>
          <a:xfrm xmlns:a="http://schemas.openxmlformats.org/drawingml/2006/main">
            <a:off x="3390900" y="3257550"/>
            <a:ext cx="2133600" cy="1447800"/>
          </a:xfrm>
          <a:prstGeom xmlns:a="http://schemas.openxmlformats.org/drawingml/2006/main" prst="roundRect">
            <a:avLst>
              <a:gd name="adj" fmla="val 11842"/>
            </a:avLst>
          </a:prstGeom>
          <a:solidFill xmlns:a="http://schemas.openxmlformats.org/drawingml/2006/main">
            <a:srgbClr val="102338"/>
          </a:solidFill>
          <a:ln xmlns:a="http://schemas.openxmlformats.org/drawingml/2006/main" w="14288">
            <a:solidFill>
              <a:srgbClr val="9A7BFF"/>
            </a:solidFill>
            <a:prstDash val="solid"/>
          </a:ln>
        </p:spPr>
      </p:sp>
      <p:sp>
        <p:nvSpPr>
          <p:cNvPr id="11" name="">
            <a:extLst xmlns:a="http://schemas.openxmlformats.org/drawingml/2006/main">
              <a:ext uri="{FF2B5EF4-FFF2-40B4-BE49-F238E27FC236}">
                <a16:creationId xmlns:a16="http://schemas.microsoft.com/office/drawing/2014/main" id="{31057E62-C75A-4B56-A5CA-18163E304BE3}"/>
              </a:ext>
            </a:extLst>
          </p:cNvPr>
          <p:cNvSpPr>
            <a:spLocks xmlns:a="http://schemas.openxmlformats.org/drawingml/2006/main" noGrp="1"/>
          </p:cNvSpPr>
          <p:nvPr/>
        </p:nvSpPr>
        <p:spPr>
          <a:xfrm xmlns:a="http://schemas.openxmlformats.org/drawingml/2006/main">
            <a:off x="3581400" y="3409950"/>
            <a:ext cx="38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667"/>
          </a:bodyPr>
          <a:lstStyle xmlns:a="http://schemas.openxmlformats.org/drawingml/2006/main"/>
          <a:p xmlns:a="http://schemas.openxmlformats.org/drawingml/2006/main">
            <a:pPr>
              <a:defRPr sz="1800" b="1">
                <a:solidFill>
                  <a:srgbClr val="9A7BFF"/>
                </a:solidFill>
                <a:latin typeface="Liberation Sans"/>
                <a:ea typeface="Liberation Sans"/>
                <a:cs typeface="Liberation Sans"/>
              </a:defRPr>
            </a:pPr>
            <a:r>
              <a:rPr sz="1800" b="1">
                <a:solidFill>
                  <a:srgbClr val="9A7BFF"/>
                </a:solidFill>
                <a:latin typeface="Liberation Sans"/>
                <a:ea typeface="Liberation Sans"/>
                <a:cs typeface="Liberation Sans"/>
              </a:rPr>
              <a:t>2</a:t>
            </a:r>
          </a:p>
        </p:txBody>
      </p:sp>
      <p:sp>
        <p:nvSpPr>
          <p:cNvPr id="12" name="">
            <a:extLst xmlns:a="http://schemas.openxmlformats.org/drawingml/2006/main">
              <a:ext uri="{FF2B5EF4-FFF2-40B4-BE49-F238E27FC236}">
                <a16:creationId xmlns:a16="http://schemas.microsoft.com/office/drawing/2014/main" id="{3B06916C-7E0B-49B0-9DDD-46508D72F3F6}"/>
              </a:ext>
            </a:extLst>
          </p:cNvPr>
          <p:cNvSpPr>
            <a:spLocks xmlns:a="http://schemas.openxmlformats.org/drawingml/2006/main" noGrp="1"/>
          </p:cNvSpPr>
          <p:nvPr/>
        </p:nvSpPr>
        <p:spPr>
          <a:xfrm xmlns:a="http://schemas.openxmlformats.org/drawingml/2006/main">
            <a:off x="4019550" y="3409950"/>
            <a:ext cx="123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650" b="1">
                <a:solidFill>
                  <a:srgbClr val="F4F8FC"/>
                </a:solidFill>
                <a:latin typeface="Liberation Sans"/>
                <a:ea typeface="Liberation Sans"/>
                <a:cs typeface="Liberation Sans"/>
              </a:defRPr>
            </a:pPr>
            <a:r>
              <a:rPr sz="1650" b="1">
                <a:solidFill>
                  <a:srgbClr val="F4F8FC"/>
                </a:solidFill>
                <a:latin typeface="Liberation Sans"/>
                <a:ea typeface="Liberation Sans"/>
                <a:cs typeface="Liberation Sans"/>
              </a:rPr>
              <a:t>Assist</a:t>
            </a:r>
          </a:p>
        </p:txBody>
      </p:sp>
      <p:sp>
        <p:nvSpPr>
          <p:cNvPr id="13" name="">
            <a:extLst xmlns:a="http://schemas.openxmlformats.org/drawingml/2006/main">
              <a:ext uri="{FF2B5EF4-FFF2-40B4-BE49-F238E27FC236}">
                <a16:creationId xmlns:a16="http://schemas.microsoft.com/office/drawing/2014/main" id="{2FA03364-5D7E-4ECF-B23D-04F6012DF3D1}"/>
              </a:ext>
            </a:extLst>
          </p:cNvPr>
          <p:cNvSpPr>
            <a:spLocks xmlns:a="http://schemas.openxmlformats.org/drawingml/2006/main" noGrp="1"/>
          </p:cNvSpPr>
          <p:nvPr/>
        </p:nvSpPr>
        <p:spPr>
          <a:xfrm xmlns:a="http://schemas.openxmlformats.org/drawingml/2006/main">
            <a:off x="3581400" y="3867150"/>
            <a:ext cx="171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Recommendations</a:t>
            </a:r>
          </a:p>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Human execution</a:t>
            </a:r>
          </a:p>
        </p:txBody>
      </p:sp>
      <p:sp>
        <p:nvSpPr>
          <p:cNvPr id="14" name="">
            <a:extLst xmlns:a="http://schemas.openxmlformats.org/drawingml/2006/main">
              <a:ext uri="{FF2B5EF4-FFF2-40B4-BE49-F238E27FC236}">
                <a16:creationId xmlns:a16="http://schemas.microsoft.com/office/drawing/2014/main" id="{863FC079-29C9-47AB-8454-6B5BF52E81C4}"/>
              </a:ext>
            </a:extLst>
          </p:cNvPr>
          <p:cNvSpPr>
            <a:spLocks xmlns:a="http://schemas.openxmlformats.org/drawingml/2006/main" noGrp="1"/>
          </p:cNvSpPr>
          <p:nvPr/>
        </p:nvSpPr>
        <p:spPr>
          <a:xfrm xmlns:a="http://schemas.openxmlformats.org/drawingml/2006/main">
            <a:off x="5581650" y="2514600"/>
            <a:ext cx="2133600" cy="1447800"/>
          </a:xfrm>
          <a:prstGeom xmlns:a="http://schemas.openxmlformats.org/drawingml/2006/main" prst="roundRect">
            <a:avLst>
              <a:gd name="adj" fmla="val 11842"/>
            </a:avLst>
          </a:prstGeom>
          <a:solidFill xmlns:a="http://schemas.openxmlformats.org/drawingml/2006/main">
            <a:srgbClr val="102338"/>
          </a:solidFill>
          <a:ln xmlns:a="http://schemas.openxmlformats.org/drawingml/2006/main" w="14288">
            <a:solidFill>
              <a:srgbClr val="68E1C4"/>
            </a:solidFill>
            <a:prstDash val="solid"/>
          </a:ln>
        </p:spPr>
      </p:sp>
      <p:sp>
        <p:nvSpPr>
          <p:cNvPr id="15" name="">
            <a:extLst xmlns:a="http://schemas.openxmlformats.org/drawingml/2006/main">
              <a:ext uri="{FF2B5EF4-FFF2-40B4-BE49-F238E27FC236}">
                <a16:creationId xmlns:a16="http://schemas.microsoft.com/office/drawing/2014/main" id="{D0F51405-62C7-4D27-838E-961F3AA5CA5F}"/>
              </a:ext>
            </a:extLst>
          </p:cNvPr>
          <p:cNvSpPr>
            <a:spLocks xmlns:a="http://schemas.openxmlformats.org/drawingml/2006/main" noGrp="1"/>
          </p:cNvSpPr>
          <p:nvPr/>
        </p:nvSpPr>
        <p:spPr>
          <a:xfrm xmlns:a="http://schemas.openxmlformats.org/drawingml/2006/main">
            <a:off x="5772150" y="2667000"/>
            <a:ext cx="38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667"/>
          </a:bodyPr>
          <a:lstStyle xmlns:a="http://schemas.openxmlformats.org/drawingml/2006/main"/>
          <a:p xmlns:a="http://schemas.openxmlformats.org/drawingml/2006/main">
            <a:pPr>
              <a:defRPr sz="1800" b="1">
                <a:solidFill>
                  <a:srgbClr val="68E1C4"/>
                </a:solidFill>
                <a:latin typeface="Liberation Sans"/>
                <a:ea typeface="Liberation Sans"/>
                <a:cs typeface="Liberation Sans"/>
              </a:defRPr>
            </a:pPr>
            <a:r>
              <a:rPr sz="1800" b="1">
                <a:solidFill>
                  <a:srgbClr val="68E1C4"/>
                </a:solidFill>
                <a:latin typeface="Liberation Sans"/>
                <a:ea typeface="Liberation Sans"/>
                <a:cs typeface="Liberation Sans"/>
              </a:rPr>
              <a:t>3</a:t>
            </a:r>
          </a:p>
        </p:txBody>
      </p:sp>
      <p:sp>
        <p:nvSpPr>
          <p:cNvPr id="16" name="">
            <a:extLst xmlns:a="http://schemas.openxmlformats.org/drawingml/2006/main">
              <a:ext uri="{FF2B5EF4-FFF2-40B4-BE49-F238E27FC236}">
                <a16:creationId xmlns:a16="http://schemas.microsoft.com/office/drawing/2014/main" id="{5CA244E6-3292-43F2-BD1E-3053713501C2}"/>
              </a:ext>
            </a:extLst>
          </p:cNvPr>
          <p:cNvSpPr>
            <a:spLocks xmlns:a="http://schemas.openxmlformats.org/drawingml/2006/main" noGrp="1"/>
          </p:cNvSpPr>
          <p:nvPr/>
        </p:nvSpPr>
        <p:spPr>
          <a:xfrm xmlns:a="http://schemas.openxmlformats.org/drawingml/2006/main">
            <a:off x="6210300" y="2667000"/>
            <a:ext cx="123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650" b="1">
                <a:solidFill>
                  <a:srgbClr val="F4F8FC"/>
                </a:solidFill>
                <a:latin typeface="Liberation Sans"/>
                <a:ea typeface="Liberation Sans"/>
                <a:cs typeface="Liberation Sans"/>
              </a:defRPr>
            </a:pPr>
            <a:r>
              <a:rPr sz="1650" b="1">
                <a:solidFill>
                  <a:srgbClr val="F4F8FC"/>
                </a:solidFill>
                <a:latin typeface="Liberation Sans"/>
                <a:ea typeface="Liberation Sans"/>
                <a:cs typeface="Liberation Sans"/>
              </a:rPr>
              <a:t>Approve</a:t>
            </a:r>
          </a:p>
        </p:txBody>
      </p:sp>
      <p:sp>
        <p:nvSpPr>
          <p:cNvPr id="17" name="">
            <a:extLst xmlns:a="http://schemas.openxmlformats.org/drawingml/2006/main">
              <a:ext uri="{FF2B5EF4-FFF2-40B4-BE49-F238E27FC236}">
                <a16:creationId xmlns:a16="http://schemas.microsoft.com/office/drawing/2014/main" id="{164953FF-910B-4AF8-A63B-B65EB31A4BF9}"/>
              </a:ext>
            </a:extLst>
          </p:cNvPr>
          <p:cNvSpPr>
            <a:spLocks xmlns:a="http://schemas.openxmlformats.org/drawingml/2006/main" noGrp="1"/>
          </p:cNvSpPr>
          <p:nvPr/>
        </p:nvSpPr>
        <p:spPr>
          <a:xfrm xmlns:a="http://schemas.openxmlformats.org/drawingml/2006/main">
            <a:off x="5772150" y="3124200"/>
            <a:ext cx="171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Proposed writes</a:t>
            </a:r>
          </a:p>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Required approval</a:t>
            </a:r>
          </a:p>
        </p:txBody>
      </p:sp>
      <p:sp>
        <p:nvSpPr>
          <p:cNvPr id="18" name="">
            <a:extLst xmlns:a="http://schemas.openxmlformats.org/drawingml/2006/main">
              <a:ext uri="{FF2B5EF4-FFF2-40B4-BE49-F238E27FC236}">
                <a16:creationId xmlns:a16="http://schemas.microsoft.com/office/drawing/2014/main" id="{106F4840-7848-477B-A434-6703E7A38AB5}"/>
              </a:ext>
            </a:extLst>
          </p:cNvPr>
          <p:cNvSpPr>
            <a:spLocks xmlns:a="http://schemas.openxmlformats.org/drawingml/2006/main" noGrp="1"/>
          </p:cNvSpPr>
          <p:nvPr/>
        </p:nvSpPr>
        <p:spPr>
          <a:xfrm xmlns:a="http://schemas.openxmlformats.org/drawingml/2006/main">
            <a:off x="7772400" y="1771650"/>
            <a:ext cx="2133600" cy="1447800"/>
          </a:xfrm>
          <a:prstGeom xmlns:a="http://schemas.openxmlformats.org/drawingml/2006/main" prst="roundRect">
            <a:avLst>
              <a:gd name="adj" fmla="val 11842"/>
            </a:avLst>
          </a:prstGeom>
          <a:solidFill xmlns:a="http://schemas.openxmlformats.org/drawingml/2006/main">
            <a:srgbClr val="102338"/>
          </a:solidFill>
          <a:ln xmlns:a="http://schemas.openxmlformats.org/drawingml/2006/main" w="14288">
            <a:solidFill>
              <a:srgbClr val="FFCA6B"/>
            </a:solidFill>
            <a:prstDash val="solid"/>
          </a:ln>
        </p:spPr>
      </p:sp>
      <p:sp>
        <p:nvSpPr>
          <p:cNvPr id="19" name="">
            <a:extLst xmlns:a="http://schemas.openxmlformats.org/drawingml/2006/main">
              <a:ext uri="{FF2B5EF4-FFF2-40B4-BE49-F238E27FC236}">
                <a16:creationId xmlns:a16="http://schemas.microsoft.com/office/drawing/2014/main" id="{E7D2A55A-DA0C-4F41-B877-257486D87762}"/>
              </a:ext>
            </a:extLst>
          </p:cNvPr>
          <p:cNvSpPr>
            <a:spLocks xmlns:a="http://schemas.openxmlformats.org/drawingml/2006/main" noGrp="1"/>
          </p:cNvSpPr>
          <p:nvPr/>
        </p:nvSpPr>
        <p:spPr>
          <a:xfrm xmlns:a="http://schemas.openxmlformats.org/drawingml/2006/main">
            <a:off x="7962900" y="1924050"/>
            <a:ext cx="38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667"/>
          </a:bodyPr>
          <a:lstStyle xmlns:a="http://schemas.openxmlformats.org/drawingml/2006/main"/>
          <a:p xmlns:a="http://schemas.openxmlformats.org/drawingml/2006/main">
            <a:pPr>
              <a:defRPr sz="1800" b="1">
                <a:solidFill>
                  <a:srgbClr val="FFCA6B"/>
                </a:solidFill>
                <a:latin typeface="Liberation Sans"/>
                <a:ea typeface="Liberation Sans"/>
                <a:cs typeface="Liberation Sans"/>
              </a:defRPr>
            </a:pPr>
            <a:r>
              <a:rPr sz="1800" b="1">
                <a:solidFill>
                  <a:srgbClr val="FFCA6B"/>
                </a:solidFill>
                <a:latin typeface="Liberation Sans"/>
                <a:ea typeface="Liberation Sans"/>
                <a:cs typeface="Liberation Sans"/>
              </a:rPr>
              <a:t>4</a:t>
            </a:r>
          </a:p>
        </p:txBody>
      </p:sp>
      <p:sp>
        <p:nvSpPr>
          <p:cNvPr id="20" name="">
            <a:extLst xmlns:a="http://schemas.openxmlformats.org/drawingml/2006/main">
              <a:ext uri="{FF2B5EF4-FFF2-40B4-BE49-F238E27FC236}">
                <a16:creationId xmlns:a16="http://schemas.microsoft.com/office/drawing/2014/main" id="{1CAB835C-E7DD-4D26-AFD5-18BAD81D004B}"/>
              </a:ext>
            </a:extLst>
          </p:cNvPr>
          <p:cNvSpPr>
            <a:spLocks xmlns:a="http://schemas.openxmlformats.org/drawingml/2006/main" noGrp="1"/>
          </p:cNvSpPr>
          <p:nvPr/>
        </p:nvSpPr>
        <p:spPr>
          <a:xfrm xmlns:a="http://schemas.openxmlformats.org/drawingml/2006/main">
            <a:off x="8401050" y="1924050"/>
            <a:ext cx="123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650" b="1">
                <a:solidFill>
                  <a:srgbClr val="F4F8FC"/>
                </a:solidFill>
                <a:latin typeface="Liberation Sans"/>
                <a:ea typeface="Liberation Sans"/>
                <a:cs typeface="Liberation Sans"/>
              </a:defRPr>
            </a:pPr>
            <a:r>
              <a:rPr sz="1650" b="1">
                <a:solidFill>
                  <a:srgbClr val="F4F8FC"/>
                </a:solidFill>
                <a:latin typeface="Liberation Sans"/>
                <a:ea typeface="Liberation Sans"/>
                <a:cs typeface="Liberation Sans"/>
              </a:rPr>
              <a:t>Automate</a:t>
            </a:r>
          </a:p>
        </p:txBody>
      </p:sp>
      <p:sp>
        <p:nvSpPr>
          <p:cNvPr id="21" name="">
            <a:extLst xmlns:a="http://schemas.openxmlformats.org/drawingml/2006/main">
              <a:ext uri="{FF2B5EF4-FFF2-40B4-BE49-F238E27FC236}">
                <a16:creationId xmlns:a16="http://schemas.microsoft.com/office/drawing/2014/main" id="{E28F046E-B257-4568-8B9A-800CDCDFA149}"/>
              </a:ext>
            </a:extLst>
          </p:cNvPr>
          <p:cNvSpPr>
            <a:spLocks xmlns:a="http://schemas.openxmlformats.org/drawingml/2006/main" noGrp="1"/>
          </p:cNvSpPr>
          <p:nvPr/>
        </p:nvSpPr>
        <p:spPr>
          <a:xfrm xmlns:a="http://schemas.openxmlformats.org/drawingml/2006/main">
            <a:off x="7962900" y="2381250"/>
            <a:ext cx="171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Narrow writes</a:t>
            </a:r>
          </a:p>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Measured outcomes</a:t>
            </a:r>
          </a:p>
        </p:txBody>
      </p:sp>
      <p:sp>
        <p:nvSpPr>
          <p:cNvPr id="22" name="">
            <a:extLst xmlns:a="http://schemas.openxmlformats.org/drawingml/2006/main">
              <a:ext uri="{FF2B5EF4-FFF2-40B4-BE49-F238E27FC236}">
                <a16:creationId xmlns:a16="http://schemas.microsoft.com/office/drawing/2014/main" id="{115AD7F6-3A67-4298-A81F-C2461583EB53}"/>
              </a:ext>
            </a:extLst>
          </p:cNvPr>
          <p:cNvSpPr>
            <a:spLocks xmlns:a="http://schemas.openxmlformats.org/drawingml/2006/main" noGrp="1"/>
          </p:cNvSpPr>
          <p:nvPr/>
        </p:nvSpPr>
        <p:spPr>
          <a:xfrm xmlns:a="http://schemas.openxmlformats.org/drawingml/2006/main">
            <a:off x="1524000" y="5695950"/>
            <a:ext cx="904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406"/>
          </a:bodyPr>
          <a:lstStyle xmlns:a="http://schemas.openxmlformats.org/drawingml/2006/main"/>
          <a:p xmlns:a="http://schemas.openxmlformats.org/drawingml/2006/main">
            <a:pPr>
              <a:defRPr sz="1725" b="1">
                <a:solidFill>
                  <a:srgbClr val="F4F8FC"/>
                </a:solidFill>
                <a:latin typeface="Liberation Sans"/>
                <a:ea typeface="Liberation Sans"/>
                <a:cs typeface="Liberation Sans"/>
              </a:defRPr>
            </a:pPr>
            <a:r>
              <a:rPr sz="1725" b="1">
                <a:solidFill>
                  <a:srgbClr val="F4F8FC"/>
                </a:solidFill>
                <a:latin typeface="Liberation Sans"/>
                <a:ea typeface="Liberation Sans"/>
                <a:cs typeface="Liberation Sans"/>
              </a:rPr>
              <a:t>Start where the blast radius is clear and the outcome is measurable</a:t>
            </a:r>
          </a:p>
        </p:txBody>
      </p:sp>
    </p:spTree>
    <p:extLst>
      <p:ext uri="{BB962C8B-B14F-4D97-AF65-F5344CB8AC3E}">
        <p14:creationId xmlns:p14="http://schemas.microsoft.com/office/powerpoint/2010/main" val="1737088380"/>
      </p:ext>
    </p:extLst>
  </p:cSld>
</p:sld>
</file>

<file path=ppt/slides/slide10.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707DC2F-E4DD-4ED4-A9D9-790A1376C622}"/>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54D6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5A6528-5236-476D-8D0E-4A905675C44A}"/>
              </a:ext>
            </a:extLst>
          </p:cNvPr>
          <p:cNvSpPr>
            <a:spLocks xmlns:a="http://schemas.openxmlformats.org/drawingml/2006/main" noGrp="1"/>
          </p:cNvSpPr>
          <p:nvPr/>
        </p:nvSpPr>
        <p:spPr>
          <a:xfrm xmlns:a="http://schemas.openxmlformats.org/drawingml/2006/main">
            <a:off x="590550" y="4000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550" b="1">
                <a:solidFill>
                  <a:srgbClr val="F4F8FC"/>
                </a:solidFill>
                <a:latin typeface="Liberation Sans"/>
                <a:ea typeface="Liberation Sans"/>
                <a:cs typeface="Liberation Sans"/>
              </a:defRPr>
            </a:pPr>
            <a:r>
              <a:rPr sz="2550" b="1">
                <a:solidFill>
                  <a:srgbClr val="F4F8FC"/>
                </a:solidFill>
                <a:latin typeface="Liberation Sans"/>
                <a:ea typeface="Liberation Sans"/>
                <a:cs typeface="Liberation Sans"/>
              </a:rPr>
              <a:t>Demo architecture</a:t>
            </a:r>
          </a:p>
        </p:txBody>
      </p:sp>
      <p:sp>
        <p:nvSpPr>
          <p:cNvPr id="3" name="">
            <a:extLst xmlns:a="http://schemas.openxmlformats.org/drawingml/2006/main">
              <a:ext uri="{FF2B5EF4-FFF2-40B4-BE49-F238E27FC236}">
                <a16:creationId xmlns:a16="http://schemas.microsoft.com/office/drawing/2014/main" id="{E33D5C12-D18B-4241-A3D0-A3FF6B7792F1}"/>
              </a:ext>
            </a:extLst>
          </p:cNvPr>
          <p:cNvSpPr>
            <a:spLocks xmlns:a="http://schemas.openxmlformats.org/drawingml/2006/main" noGrp="1"/>
          </p:cNvSpPr>
          <p:nvPr/>
        </p:nvSpPr>
        <p:spPr>
          <a:xfrm xmlns:a="http://schemas.openxmlformats.org/drawingml/2006/main">
            <a:off x="609600" y="9334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One application and one fault connect the incident and code review workflows</a:t>
            </a:r>
          </a:p>
        </p:txBody>
      </p:sp>
      <p:sp>
        <p:nvSpPr>
          <p:cNvPr id="4" name="">
            <a:extLst xmlns:a="http://schemas.openxmlformats.org/drawingml/2006/main">
              <a:ext uri="{FF2B5EF4-FFF2-40B4-BE49-F238E27FC236}">
                <a16:creationId xmlns:a16="http://schemas.microsoft.com/office/drawing/2014/main" id="{32884F2B-0CFE-4714-9E5E-DF88A88F3252}"/>
              </a:ext>
            </a:extLst>
          </p:cNvPr>
          <p:cNvSpPr>
            <a:spLocks xmlns:a="http://schemas.openxmlformats.org/drawingml/2006/main" noGrp="1"/>
          </p:cNvSpPr>
          <p:nvPr/>
        </p:nvSpPr>
        <p:spPr>
          <a:xfrm xmlns:a="http://schemas.openxmlformats.org/drawingml/2006/main">
            <a:off x="11258550" y="62293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10</a:t>
            </a:r>
          </a:p>
        </p:txBody>
      </p:sp>
      <p:sp>
        <p:nvSpPr>
          <p:cNvPr id="5" name="">
            <a:extLst xmlns:a="http://schemas.openxmlformats.org/drawingml/2006/main">
              <a:ext uri="{FF2B5EF4-FFF2-40B4-BE49-F238E27FC236}">
                <a16:creationId xmlns:a16="http://schemas.microsoft.com/office/drawing/2014/main" id="{B6E7A233-3125-41C3-A240-965497E4E9D3}"/>
              </a:ext>
            </a:extLst>
          </p:cNvPr>
          <p:cNvSpPr>
            <a:spLocks xmlns:a="http://schemas.openxmlformats.org/drawingml/2006/main" noGrp="1"/>
          </p:cNvSpPr>
          <p:nvPr/>
        </p:nvSpPr>
        <p:spPr>
          <a:xfrm xmlns:a="http://schemas.openxmlformats.org/drawingml/2006/main">
            <a:off x="590550" y="62293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KAOP by Nirit Terehovsky</a:t>
            </a:r>
          </a:p>
        </p:txBody>
      </p:sp>
      <p:sp>
        <p:nvSpPr>
          <p:cNvPr id="6" name="">
            <a:extLst xmlns:a="http://schemas.openxmlformats.org/drawingml/2006/main">
              <a:ext uri="{FF2B5EF4-FFF2-40B4-BE49-F238E27FC236}">
                <a16:creationId xmlns:a16="http://schemas.microsoft.com/office/drawing/2014/main" id="{4651DE89-0FE1-461F-8E99-C62A8ACA355A}"/>
              </a:ext>
            </a:extLst>
          </p:cNvPr>
          <p:cNvSpPr>
            <a:spLocks xmlns:a="http://schemas.openxmlformats.org/drawingml/2006/main" noGrp="1"/>
          </p:cNvSpPr>
          <p:nvPr/>
        </p:nvSpPr>
        <p:spPr>
          <a:xfrm xmlns:a="http://schemas.openxmlformats.org/drawingml/2006/main">
            <a:off x="762000" y="1619250"/>
            <a:ext cx="2857500" cy="1200150"/>
          </a:xfrm>
          <a:prstGeom xmlns:a="http://schemas.openxmlformats.org/drawingml/2006/main" prst="roundRect">
            <a:avLst>
              <a:gd name="adj" fmla="val 15873"/>
            </a:avLst>
          </a:prstGeom>
          <a:solidFill xmlns:a="http://schemas.openxmlformats.org/drawingml/2006/main">
            <a:srgbClr val="102338"/>
          </a:solidFill>
          <a:ln xmlns:a="http://schemas.openxmlformats.org/drawingml/2006/main" w="14288">
            <a:solidFill>
              <a:srgbClr val="FFCA6B"/>
            </a:solidFill>
            <a:prstDash val="solid"/>
          </a:ln>
        </p:spPr>
      </p:sp>
      <p:sp>
        <p:nvSpPr>
          <p:cNvPr id="7" name="">
            <a:extLst xmlns:a="http://schemas.openxmlformats.org/drawingml/2006/main">
              <a:ext uri="{FF2B5EF4-FFF2-40B4-BE49-F238E27FC236}">
                <a16:creationId xmlns:a16="http://schemas.microsoft.com/office/drawing/2014/main" id="{4CC43C8E-3870-45CC-9BA2-0338018DDC18}"/>
              </a:ext>
            </a:extLst>
          </p:cNvPr>
          <p:cNvSpPr>
            <a:spLocks xmlns:a="http://schemas.openxmlformats.org/drawingml/2006/main" noGrp="1"/>
          </p:cNvSpPr>
          <p:nvPr/>
        </p:nvSpPr>
        <p:spPr>
          <a:xfrm xmlns:a="http://schemas.openxmlformats.org/drawingml/2006/main">
            <a:off x="1028700" y="1809750"/>
            <a:ext cx="2324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722"/>
          </a:bodyPr>
          <a:lstStyle xmlns:a="http://schemas.openxmlformats.org/drawingml/2006/main"/>
          <a:p xmlns:a="http://schemas.openxmlformats.org/drawingml/2006/main">
            <a:pPr>
              <a:defRPr sz="1800" b="1">
                <a:solidFill>
                  <a:srgbClr val="FFCA6B"/>
                </a:solidFill>
                <a:latin typeface="Liberation Sans"/>
                <a:ea typeface="Liberation Sans"/>
                <a:cs typeface="Liberation Sans"/>
              </a:defRPr>
            </a:pPr>
            <a:r>
              <a:rPr sz="1800" b="1">
                <a:solidFill>
                  <a:srgbClr val="FFCA6B"/>
                </a:solidFill>
                <a:latin typeface="Liberation Sans"/>
                <a:ea typeface="Liberation Sans"/>
                <a:cs typeface="Liberation Sans"/>
              </a:rPr>
              <a:t>Grafana Cloud</a:t>
            </a:r>
          </a:p>
        </p:txBody>
      </p:sp>
      <p:sp>
        <p:nvSpPr>
          <p:cNvPr id="8" name="">
            <a:extLst xmlns:a="http://schemas.openxmlformats.org/drawingml/2006/main">
              <a:ext uri="{FF2B5EF4-FFF2-40B4-BE49-F238E27FC236}">
                <a16:creationId xmlns:a16="http://schemas.microsoft.com/office/drawing/2014/main" id="{D8407915-2A03-42AD-A049-781F36D4B7EB}"/>
              </a:ext>
            </a:extLst>
          </p:cNvPr>
          <p:cNvSpPr>
            <a:spLocks xmlns:a="http://schemas.openxmlformats.org/drawingml/2006/main" noGrp="1"/>
          </p:cNvSpPr>
          <p:nvPr/>
        </p:nvSpPr>
        <p:spPr>
          <a:xfrm xmlns:a="http://schemas.openxmlformats.org/drawingml/2006/main">
            <a:off x="1028700" y="2228850"/>
            <a:ext cx="2324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Metrics and alert</a:t>
            </a:r>
          </a:p>
        </p:txBody>
      </p:sp>
      <p:sp>
        <p:nvSpPr>
          <p:cNvPr id="9" name="">
            <a:extLst xmlns:a="http://schemas.openxmlformats.org/drawingml/2006/main">
              <a:ext uri="{FF2B5EF4-FFF2-40B4-BE49-F238E27FC236}">
                <a16:creationId xmlns:a16="http://schemas.microsoft.com/office/drawing/2014/main" id="{82993435-B63F-4655-A8EC-B178DF9FE8B7}"/>
              </a:ext>
            </a:extLst>
          </p:cNvPr>
          <p:cNvSpPr>
            <a:spLocks xmlns:a="http://schemas.openxmlformats.org/drawingml/2006/main" noGrp="1"/>
          </p:cNvSpPr>
          <p:nvPr/>
        </p:nvSpPr>
        <p:spPr>
          <a:xfrm xmlns:a="http://schemas.openxmlformats.org/drawingml/2006/main">
            <a:off x="4476750" y="1619250"/>
            <a:ext cx="2857500" cy="1200150"/>
          </a:xfrm>
          <a:prstGeom xmlns:a="http://schemas.openxmlformats.org/drawingml/2006/main" prst="roundRect">
            <a:avLst>
              <a:gd name="adj" fmla="val 15873"/>
            </a:avLst>
          </a:prstGeom>
          <a:solidFill xmlns:a="http://schemas.openxmlformats.org/drawingml/2006/main">
            <a:srgbClr val="102338"/>
          </a:solidFill>
          <a:ln xmlns:a="http://schemas.openxmlformats.org/drawingml/2006/main" w="14288">
            <a:solidFill>
              <a:srgbClr val="9A7BFF"/>
            </a:solidFill>
            <a:prstDash val="solid"/>
          </a:ln>
        </p:spPr>
      </p:sp>
      <p:sp>
        <p:nvSpPr>
          <p:cNvPr id="10" name="">
            <a:extLst xmlns:a="http://schemas.openxmlformats.org/drawingml/2006/main">
              <a:ext uri="{FF2B5EF4-FFF2-40B4-BE49-F238E27FC236}">
                <a16:creationId xmlns:a16="http://schemas.microsoft.com/office/drawing/2014/main" id="{B19B37CB-98BE-4658-83A4-68E83A509C2D}"/>
              </a:ext>
            </a:extLst>
          </p:cNvPr>
          <p:cNvSpPr>
            <a:spLocks xmlns:a="http://schemas.openxmlformats.org/drawingml/2006/main" noGrp="1"/>
          </p:cNvSpPr>
          <p:nvPr/>
        </p:nvSpPr>
        <p:spPr>
          <a:xfrm xmlns:a="http://schemas.openxmlformats.org/drawingml/2006/main">
            <a:off x="4743450" y="1809750"/>
            <a:ext cx="2324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722"/>
          </a:bodyPr>
          <a:lstStyle xmlns:a="http://schemas.openxmlformats.org/drawingml/2006/main"/>
          <a:p xmlns:a="http://schemas.openxmlformats.org/drawingml/2006/main">
            <a:pPr>
              <a:defRPr sz="1800" b="1">
                <a:solidFill>
                  <a:srgbClr val="9A7BFF"/>
                </a:solidFill>
                <a:latin typeface="Liberation Sans"/>
                <a:ea typeface="Liberation Sans"/>
                <a:cs typeface="Liberation Sans"/>
              </a:defRPr>
            </a:pPr>
            <a:r>
              <a:rPr sz="1800" b="1">
                <a:solidFill>
                  <a:srgbClr val="9A7BFF"/>
                </a:solidFill>
                <a:latin typeface="Liberation Sans"/>
                <a:ea typeface="Liberation Sans"/>
                <a:cs typeface="Liberation Sans"/>
              </a:rPr>
              <a:t>KAOP</a:t>
            </a:r>
          </a:p>
        </p:txBody>
      </p:sp>
      <p:sp>
        <p:nvSpPr>
          <p:cNvPr id="11" name="">
            <a:extLst xmlns:a="http://schemas.openxmlformats.org/drawingml/2006/main">
              <a:ext uri="{FF2B5EF4-FFF2-40B4-BE49-F238E27FC236}">
                <a16:creationId xmlns:a16="http://schemas.microsoft.com/office/drawing/2014/main" id="{77011880-0642-40FD-8393-78A2707F922E}"/>
              </a:ext>
            </a:extLst>
          </p:cNvPr>
          <p:cNvSpPr>
            <a:spLocks xmlns:a="http://schemas.openxmlformats.org/drawingml/2006/main" noGrp="1"/>
          </p:cNvSpPr>
          <p:nvPr/>
        </p:nvSpPr>
        <p:spPr>
          <a:xfrm xmlns:a="http://schemas.openxmlformats.org/drawingml/2006/main">
            <a:off x="4743450" y="2228850"/>
            <a:ext cx="2324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Webhook and RCA workflow</a:t>
            </a:r>
          </a:p>
        </p:txBody>
      </p:sp>
      <p:sp>
        <p:nvSpPr>
          <p:cNvPr id="12" name="">
            <a:extLst xmlns:a="http://schemas.openxmlformats.org/drawingml/2006/main">
              <a:ext uri="{FF2B5EF4-FFF2-40B4-BE49-F238E27FC236}">
                <a16:creationId xmlns:a16="http://schemas.microsoft.com/office/drawing/2014/main" id="{4E303653-F27B-4483-9B2F-E3F88F534131}"/>
              </a:ext>
            </a:extLst>
          </p:cNvPr>
          <p:cNvSpPr>
            <a:spLocks xmlns:a="http://schemas.openxmlformats.org/drawingml/2006/main" noGrp="1"/>
          </p:cNvSpPr>
          <p:nvPr/>
        </p:nvSpPr>
        <p:spPr>
          <a:xfrm xmlns:a="http://schemas.openxmlformats.org/drawingml/2006/main">
            <a:off x="8191500" y="1619250"/>
            <a:ext cx="2857500" cy="1200150"/>
          </a:xfrm>
          <a:prstGeom xmlns:a="http://schemas.openxmlformats.org/drawingml/2006/main" prst="roundRect">
            <a:avLst>
              <a:gd name="adj" fmla="val 15873"/>
            </a:avLst>
          </a:prstGeom>
          <a:solidFill xmlns:a="http://schemas.openxmlformats.org/drawingml/2006/main">
            <a:srgbClr val="102338"/>
          </a:solidFill>
          <a:ln xmlns:a="http://schemas.openxmlformats.org/drawingml/2006/main" w="14288">
            <a:solidFill>
              <a:srgbClr val="54D6FF"/>
            </a:solidFill>
            <a:prstDash val="solid"/>
          </a:ln>
        </p:spPr>
      </p:sp>
      <p:sp>
        <p:nvSpPr>
          <p:cNvPr id="13" name="">
            <a:extLst xmlns:a="http://schemas.openxmlformats.org/drawingml/2006/main">
              <a:ext uri="{FF2B5EF4-FFF2-40B4-BE49-F238E27FC236}">
                <a16:creationId xmlns:a16="http://schemas.microsoft.com/office/drawing/2014/main" id="{5CAF8F38-8114-46C1-87CF-4228810C1793}"/>
              </a:ext>
            </a:extLst>
          </p:cNvPr>
          <p:cNvSpPr>
            <a:spLocks xmlns:a="http://schemas.openxmlformats.org/drawingml/2006/main" noGrp="1"/>
          </p:cNvSpPr>
          <p:nvPr/>
        </p:nvSpPr>
        <p:spPr>
          <a:xfrm xmlns:a="http://schemas.openxmlformats.org/drawingml/2006/main">
            <a:off x="8458200" y="1809750"/>
            <a:ext cx="2324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722"/>
          </a:bodyPr>
          <a:lstStyle xmlns:a="http://schemas.openxmlformats.org/drawingml/2006/main"/>
          <a:p xmlns:a="http://schemas.openxmlformats.org/drawingml/2006/main">
            <a:pPr>
              <a:defRPr sz="1800" b="1">
                <a:solidFill>
                  <a:srgbClr val="54D6FF"/>
                </a:solidFill>
                <a:latin typeface="Liberation Sans"/>
                <a:ea typeface="Liberation Sans"/>
                <a:cs typeface="Liberation Sans"/>
              </a:defRPr>
            </a:pPr>
            <a:r>
              <a:rPr sz="1800" b="1">
                <a:solidFill>
                  <a:srgbClr val="54D6FF"/>
                </a:solidFill>
                <a:latin typeface="Liberation Sans"/>
                <a:ea typeface="Liberation Sans"/>
                <a:cs typeface="Liberation Sans"/>
              </a:rPr>
              <a:t>k3d cluster</a:t>
            </a:r>
          </a:p>
        </p:txBody>
      </p:sp>
      <p:sp>
        <p:nvSpPr>
          <p:cNvPr id="14" name="">
            <a:extLst xmlns:a="http://schemas.openxmlformats.org/drawingml/2006/main">
              <a:ext uri="{FF2B5EF4-FFF2-40B4-BE49-F238E27FC236}">
                <a16:creationId xmlns:a16="http://schemas.microsoft.com/office/drawing/2014/main" id="{6609DE83-7573-42DF-8704-E5B3CB0D9960}"/>
              </a:ext>
            </a:extLst>
          </p:cNvPr>
          <p:cNvSpPr>
            <a:spLocks xmlns:a="http://schemas.openxmlformats.org/drawingml/2006/main" noGrp="1"/>
          </p:cNvSpPr>
          <p:nvPr/>
        </p:nvSpPr>
        <p:spPr>
          <a:xfrm xmlns:a="http://schemas.openxmlformats.org/drawingml/2006/main">
            <a:off x="8458200" y="2228850"/>
            <a:ext cx="2324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Go frontend and Redis</a:t>
            </a:r>
          </a:p>
        </p:txBody>
      </p:sp>
      <p:sp>
        <p:nvSpPr>
          <p:cNvPr id="15" name="">
            <a:extLst xmlns:a="http://schemas.openxmlformats.org/drawingml/2006/main">
              <a:ext uri="{FF2B5EF4-FFF2-40B4-BE49-F238E27FC236}">
                <a16:creationId xmlns:a16="http://schemas.microsoft.com/office/drawing/2014/main" id="{244BA36D-F3C2-4978-A4A8-ABDA476FCAEB}"/>
              </a:ext>
            </a:extLst>
          </p:cNvPr>
          <p:cNvSpPr>
            <a:spLocks xmlns:a="http://schemas.openxmlformats.org/drawingml/2006/main" noGrp="1"/>
          </p:cNvSpPr>
          <p:nvPr/>
        </p:nvSpPr>
        <p:spPr>
          <a:xfrm xmlns:a="http://schemas.openxmlformats.org/drawingml/2006/main">
            <a:off x="4476750" y="4095750"/>
            <a:ext cx="2857500" cy="1200150"/>
          </a:xfrm>
          <a:prstGeom xmlns:a="http://schemas.openxmlformats.org/drawingml/2006/main" prst="roundRect">
            <a:avLst>
              <a:gd name="adj" fmla="val 15873"/>
            </a:avLst>
          </a:prstGeom>
          <a:solidFill xmlns:a="http://schemas.openxmlformats.org/drawingml/2006/main">
            <a:srgbClr val="102338"/>
          </a:solidFill>
          <a:ln xmlns:a="http://schemas.openxmlformats.org/drawingml/2006/main" w="14288">
            <a:solidFill>
              <a:srgbClr val="68E1C4"/>
            </a:solidFill>
            <a:prstDash val="solid"/>
          </a:ln>
        </p:spPr>
      </p:sp>
      <p:sp>
        <p:nvSpPr>
          <p:cNvPr id="16" name="">
            <a:extLst xmlns:a="http://schemas.openxmlformats.org/drawingml/2006/main">
              <a:ext uri="{FF2B5EF4-FFF2-40B4-BE49-F238E27FC236}">
                <a16:creationId xmlns:a16="http://schemas.microsoft.com/office/drawing/2014/main" id="{4793F329-7531-4AC6-B2AD-5BE6388B947F}"/>
              </a:ext>
            </a:extLst>
          </p:cNvPr>
          <p:cNvSpPr>
            <a:spLocks xmlns:a="http://schemas.openxmlformats.org/drawingml/2006/main" noGrp="1"/>
          </p:cNvSpPr>
          <p:nvPr/>
        </p:nvSpPr>
        <p:spPr>
          <a:xfrm xmlns:a="http://schemas.openxmlformats.org/drawingml/2006/main">
            <a:off x="4743450" y="4286250"/>
            <a:ext cx="2324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722"/>
          </a:bodyPr>
          <a:lstStyle xmlns:a="http://schemas.openxmlformats.org/drawingml/2006/main"/>
          <a:p xmlns:a="http://schemas.openxmlformats.org/drawingml/2006/main">
            <a:pPr>
              <a:defRPr sz="1800" b="1">
                <a:solidFill>
                  <a:srgbClr val="68E1C4"/>
                </a:solidFill>
                <a:latin typeface="Liberation Sans"/>
                <a:ea typeface="Liberation Sans"/>
                <a:cs typeface="Liberation Sans"/>
              </a:defRPr>
            </a:pPr>
            <a:r>
              <a:rPr sz="1800" b="1">
                <a:solidFill>
                  <a:srgbClr val="68E1C4"/>
                </a:solidFill>
                <a:latin typeface="Liberation Sans"/>
                <a:ea typeface="Liberation Sans"/>
                <a:cs typeface="Liberation Sans"/>
              </a:rPr>
              <a:t>GitHub</a:t>
            </a:r>
          </a:p>
        </p:txBody>
      </p:sp>
      <p:sp>
        <p:nvSpPr>
          <p:cNvPr id="17" name="">
            <a:extLst xmlns:a="http://schemas.openxmlformats.org/drawingml/2006/main">
              <a:ext uri="{FF2B5EF4-FFF2-40B4-BE49-F238E27FC236}">
                <a16:creationId xmlns:a16="http://schemas.microsoft.com/office/drawing/2014/main" id="{80ECE40D-6461-4CA4-B8A9-02160E13A8D7}"/>
              </a:ext>
            </a:extLst>
          </p:cNvPr>
          <p:cNvSpPr>
            <a:spLocks xmlns:a="http://schemas.openxmlformats.org/drawingml/2006/main" noGrp="1"/>
          </p:cNvSpPr>
          <p:nvPr/>
        </p:nvSpPr>
        <p:spPr>
          <a:xfrm xmlns:a="http://schemas.openxmlformats.org/drawingml/2006/main">
            <a:off x="4743450" y="4705350"/>
            <a:ext cx="2324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00" b="0">
                <a:solidFill>
                  <a:srgbClr val="A6B7C8"/>
                </a:solidFill>
                <a:latin typeface="Liberation Sans"/>
                <a:ea typeface="Liberation Sans"/>
                <a:cs typeface="Liberation Sans"/>
              </a:defRPr>
            </a:pPr>
            <a:r>
              <a:rPr sz="1200" b="0">
                <a:solidFill>
                  <a:srgbClr val="A6B7C8"/>
                </a:solidFill>
                <a:latin typeface="Liberation Sans"/>
                <a:ea typeface="Liberation Sans"/>
                <a:cs typeface="Liberation Sans"/>
              </a:rPr>
              <a:t>Open repair PR</a:t>
            </a:r>
          </a:p>
        </p:txBody>
      </p:sp>
      <p:sp>
        <p:nvSpPr>
          <p:cNvPr id="18" name="">
            <a:extLst xmlns:a="http://schemas.openxmlformats.org/drawingml/2006/main">
              <a:ext uri="{FF2B5EF4-FFF2-40B4-BE49-F238E27FC236}">
                <a16:creationId xmlns:a16="http://schemas.microsoft.com/office/drawing/2014/main" id="{C483D0E5-6674-45CA-9BB4-C6BC32D80158}"/>
              </a:ext>
            </a:extLst>
          </p:cNvPr>
          <p:cNvSpPr>
            <a:spLocks xmlns:a="http://schemas.openxmlformats.org/drawingml/2006/main" noGrp="1"/>
          </p:cNvSpPr>
          <p:nvPr/>
        </p:nvSpPr>
        <p:spPr>
          <a:xfrm xmlns:a="http://schemas.openxmlformats.org/drawingml/2006/main">
            <a:off x="3619500" y="2219325"/>
            <a:ext cx="857250" cy="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19" name="">
            <a:extLst xmlns:a="http://schemas.openxmlformats.org/drawingml/2006/main">
              <a:ext uri="{FF2B5EF4-FFF2-40B4-BE49-F238E27FC236}">
                <a16:creationId xmlns:a16="http://schemas.microsoft.com/office/drawing/2014/main" id="{3FB38F26-702F-4E5F-8655-0BA5F929E65E}"/>
              </a:ext>
            </a:extLst>
          </p:cNvPr>
          <p:cNvSpPr>
            <a:spLocks xmlns:a="http://schemas.openxmlformats.org/drawingml/2006/main" noGrp="1"/>
          </p:cNvSpPr>
          <p:nvPr/>
        </p:nvSpPr>
        <p:spPr>
          <a:xfrm xmlns:a="http://schemas.openxmlformats.org/drawingml/2006/main">
            <a:off x="7334250" y="2219325"/>
            <a:ext cx="857250" cy="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20" name="">
            <a:extLst xmlns:a="http://schemas.openxmlformats.org/drawingml/2006/main">
              <a:ext uri="{FF2B5EF4-FFF2-40B4-BE49-F238E27FC236}">
                <a16:creationId xmlns:a16="http://schemas.microsoft.com/office/drawing/2014/main" id="{D5C4F99C-E089-4120-B822-A645ADC1251C}"/>
              </a:ext>
            </a:extLst>
          </p:cNvPr>
          <p:cNvSpPr>
            <a:spLocks xmlns:a="http://schemas.openxmlformats.org/drawingml/2006/main" noGrp="1"/>
          </p:cNvSpPr>
          <p:nvPr/>
        </p:nvSpPr>
        <p:spPr>
          <a:xfrm xmlns:a="http://schemas.openxmlformats.org/drawingml/2006/main">
            <a:off x="5905500" y="2819400"/>
            <a:ext cx="0" cy="1276350"/>
          </a:xfrm>
          <a:prstGeom xmlns:a="http://schemas.openxmlformats.org/drawingml/2006/main" prst="line">
            <a:avLst/>
          </a:prstGeom>
          <a:noFill xmlns:a="http://schemas.openxmlformats.org/drawingml/2006/main"/>
          <a:ln xmlns:a="http://schemas.openxmlformats.org/drawingml/2006/main" w="14288">
            <a:solidFill>
              <a:srgbClr val="29445D"/>
            </a:solidFill>
            <a:prstDash val="solid"/>
          </a:ln>
        </p:spPr>
      </p:sp>
      <p:sp>
        <p:nvSpPr>
          <p:cNvPr id="21" name="">
            <a:extLst xmlns:a="http://schemas.openxmlformats.org/drawingml/2006/main">
              <a:ext uri="{FF2B5EF4-FFF2-40B4-BE49-F238E27FC236}">
                <a16:creationId xmlns:a16="http://schemas.microsoft.com/office/drawing/2014/main" id="{60683AA4-2497-48F6-8C10-B6384FA8B3E2}"/>
              </a:ext>
            </a:extLst>
          </p:cNvPr>
          <p:cNvSpPr>
            <a:spLocks xmlns:a="http://schemas.openxmlformats.org/drawingml/2006/main" noGrp="1"/>
          </p:cNvSpPr>
          <p:nvPr/>
        </p:nvSpPr>
        <p:spPr>
          <a:xfrm xmlns:a="http://schemas.openxmlformats.org/drawingml/2006/main">
            <a:off x="3752850" y="1905000"/>
            <a:ext cx="590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alert</a:t>
            </a:r>
          </a:p>
        </p:txBody>
      </p:sp>
      <p:sp>
        <p:nvSpPr>
          <p:cNvPr id="22" name="">
            <a:extLst xmlns:a="http://schemas.openxmlformats.org/drawingml/2006/main">
              <a:ext uri="{FF2B5EF4-FFF2-40B4-BE49-F238E27FC236}">
                <a16:creationId xmlns:a16="http://schemas.microsoft.com/office/drawing/2014/main" id="{D27C28A2-475A-4A6E-B051-801C5420DE6C}"/>
              </a:ext>
            </a:extLst>
          </p:cNvPr>
          <p:cNvSpPr>
            <a:spLocks xmlns:a="http://schemas.openxmlformats.org/drawingml/2006/main" noGrp="1"/>
          </p:cNvSpPr>
          <p:nvPr/>
        </p:nvSpPr>
        <p:spPr>
          <a:xfrm xmlns:a="http://schemas.openxmlformats.org/drawingml/2006/main">
            <a:off x="7467600" y="1905000"/>
            <a:ext cx="590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6612"/>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read only</a:t>
            </a:r>
          </a:p>
        </p:txBody>
      </p:sp>
      <p:sp>
        <p:nvSpPr>
          <p:cNvPr id="23" name="">
            <a:extLst xmlns:a="http://schemas.openxmlformats.org/drawingml/2006/main">
              <a:ext uri="{FF2B5EF4-FFF2-40B4-BE49-F238E27FC236}">
                <a16:creationId xmlns:a16="http://schemas.microsoft.com/office/drawing/2014/main" id="{CE3C1018-A3F0-4C5E-8601-66791C403BA2}"/>
              </a:ext>
            </a:extLst>
          </p:cNvPr>
          <p:cNvSpPr>
            <a:spLocks xmlns:a="http://schemas.openxmlformats.org/drawingml/2006/main" noGrp="1"/>
          </p:cNvSpPr>
          <p:nvPr/>
        </p:nvSpPr>
        <p:spPr>
          <a:xfrm xmlns:a="http://schemas.openxmlformats.org/drawingml/2006/main">
            <a:off x="6076950" y="3333750"/>
            <a:ext cx="590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review</a:t>
            </a:r>
          </a:p>
        </p:txBody>
      </p:sp>
      <p:sp>
        <p:nvSpPr>
          <p:cNvPr id="24" name="">
            <a:extLst xmlns:a="http://schemas.openxmlformats.org/drawingml/2006/main">
              <a:ext uri="{FF2B5EF4-FFF2-40B4-BE49-F238E27FC236}">
                <a16:creationId xmlns:a16="http://schemas.microsoft.com/office/drawing/2014/main" id="{FC21AAE6-DCEB-4667-BE36-38D2313A61E1}"/>
              </a:ext>
            </a:extLst>
          </p:cNvPr>
          <p:cNvSpPr>
            <a:spLocks xmlns:a="http://schemas.openxmlformats.org/drawingml/2006/main" noGrp="1"/>
          </p:cNvSpPr>
          <p:nvPr/>
        </p:nvSpPr>
        <p:spPr>
          <a:xfrm xmlns:a="http://schemas.openxmlformats.org/drawingml/2006/main">
            <a:off x="2095500" y="5619750"/>
            <a:ext cx="800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424"/>
          </a:bodyPr>
          <a:lstStyle xmlns:a="http://schemas.openxmlformats.org/drawingml/2006/main"/>
          <a:p xmlns:a="http://schemas.openxmlformats.org/drawingml/2006/main">
            <a:pPr>
              <a:defRPr sz="1650" b="1">
                <a:solidFill>
                  <a:srgbClr val="FF7285"/>
                </a:solidFill>
                <a:latin typeface="Liberation Sans"/>
                <a:ea typeface="Liberation Sans"/>
                <a:cs typeface="Liberation Sans"/>
              </a:defRPr>
            </a:pPr>
            <a:r>
              <a:rPr sz="1650" b="1">
                <a:solidFill>
                  <a:srgbClr val="FF7285"/>
                </a:solidFill>
                <a:latin typeface="Liberation Sans"/>
                <a:ea typeface="Liberation Sans"/>
                <a:cs typeface="Liberation Sans"/>
              </a:rPr>
              <a:t>Fault: Redis Service selector matches no Pods</a:t>
            </a:r>
          </a:p>
        </p:txBody>
      </p:sp>
    </p:spTree>
    <p:extLst>
      <p:ext uri="{BB962C8B-B14F-4D97-AF65-F5344CB8AC3E}">
        <p14:creationId xmlns:p14="http://schemas.microsoft.com/office/powerpoint/2010/main" val="1654761745"/>
      </p:ext>
    </p:extLst>
  </p:cSld>
</p:sld>
</file>

<file path=ppt/slides/slide11.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7FEB794-A5FF-490E-90B9-32A7D0602583}"/>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54D6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28BE5E-E32C-4C3E-BE92-9439457BF390}"/>
              </a:ext>
            </a:extLst>
          </p:cNvPr>
          <p:cNvSpPr>
            <a:spLocks xmlns:a="http://schemas.openxmlformats.org/drawingml/2006/main" noGrp="1"/>
          </p:cNvSpPr>
          <p:nvPr/>
        </p:nvSpPr>
        <p:spPr>
          <a:xfrm xmlns:a="http://schemas.openxmlformats.org/drawingml/2006/main">
            <a:off x="590550" y="4000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550" b="1">
                <a:solidFill>
                  <a:srgbClr val="F4F8FC"/>
                </a:solidFill>
                <a:latin typeface="Liberation Sans"/>
                <a:ea typeface="Liberation Sans"/>
                <a:cs typeface="Liberation Sans"/>
              </a:defRPr>
            </a:pPr>
            <a:r>
              <a:rPr sz="2550" b="1">
                <a:solidFill>
                  <a:srgbClr val="F4F8FC"/>
                </a:solidFill>
                <a:latin typeface="Liberation Sans"/>
                <a:ea typeface="Liberation Sans"/>
                <a:cs typeface="Liberation Sans"/>
              </a:rPr>
              <a:t>Permission matrix</a:t>
            </a:r>
          </a:p>
        </p:txBody>
      </p:sp>
      <p:sp>
        <p:nvSpPr>
          <p:cNvPr id="3" name="">
            <a:extLst xmlns:a="http://schemas.openxmlformats.org/drawingml/2006/main">
              <a:ext uri="{FF2B5EF4-FFF2-40B4-BE49-F238E27FC236}">
                <a16:creationId xmlns:a16="http://schemas.microsoft.com/office/drawing/2014/main" id="{81C36CCD-3208-4B68-9860-A6A96D942A06}"/>
              </a:ext>
            </a:extLst>
          </p:cNvPr>
          <p:cNvSpPr>
            <a:spLocks xmlns:a="http://schemas.openxmlformats.org/drawingml/2006/main" noGrp="1"/>
          </p:cNvSpPr>
          <p:nvPr/>
        </p:nvSpPr>
        <p:spPr>
          <a:xfrm xmlns:a="http://schemas.openxmlformats.org/drawingml/2006/main">
            <a:off x="609600" y="9334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The demo uses the minimum access required for investigation and review</a:t>
            </a:r>
          </a:p>
        </p:txBody>
      </p:sp>
      <p:sp>
        <p:nvSpPr>
          <p:cNvPr id="4" name="">
            <a:extLst xmlns:a="http://schemas.openxmlformats.org/drawingml/2006/main">
              <a:ext uri="{FF2B5EF4-FFF2-40B4-BE49-F238E27FC236}">
                <a16:creationId xmlns:a16="http://schemas.microsoft.com/office/drawing/2014/main" id="{717E74EC-9F29-4011-9D16-3EA8183FA61E}"/>
              </a:ext>
            </a:extLst>
          </p:cNvPr>
          <p:cNvSpPr>
            <a:spLocks xmlns:a="http://schemas.openxmlformats.org/drawingml/2006/main" noGrp="1"/>
          </p:cNvSpPr>
          <p:nvPr/>
        </p:nvSpPr>
        <p:spPr>
          <a:xfrm xmlns:a="http://schemas.openxmlformats.org/drawingml/2006/main">
            <a:off x="11258550" y="62293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11</a:t>
            </a:r>
          </a:p>
        </p:txBody>
      </p:sp>
      <p:sp>
        <p:nvSpPr>
          <p:cNvPr id="5" name="">
            <a:extLst xmlns:a="http://schemas.openxmlformats.org/drawingml/2006/main">
              <a:ext uri="{FF2B5EF4-FFF2-40B4-BE49-F238E27FC236}">
                <a16:creationId xmlns:a16="http://schemas.microsoft.com/office/drawing/2014/main" id="{80DB446F-3D02-4483-8A73-09F45DEFD91C}"/>
              </a:ext>
            </a:extLst>
          </p:cNvPr>
          <p:cNvSpPr>
            <a:spLocks xmlns:a="http://schemas.openxmlformats.org/drawingml/2006/main" noGrp="1"/>
          </p:cNvSpPr>
          <p:nvPr/>
        </p:nvSpPr>
        <p:spPr>
          <a:xfrm xmlns:a="http://schemas.openxmlformats.org/drawingml/2006/main">
            <a:off x="590550" y="62293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KAOP by Nirit Terehovsky</a:t>
            </a:r>
          </a:p>
        </p:txBody>
      </p:sp>
      <p:graphicFrame>
        <p:nvGraphicFramePr>
          <p:cNvPr id="13" name=""/>
          <p:cNvGraphicFramePr/>
          <p:nvPr/>
        </p:nvGraphicFramePr>
        <p:xfrm>
          <a:off xmlns:a="http://schemas.openxmlformats.org/drawingml/2006/main" x="685800" y="1524000"/>
          <a:ext xmlns:a="http://schemas.openxmlformats.org/drawingml/2006/main" cx="10820400" cy="3905250"/>
        </p:xfrm>
        <a:graphic xmlns:a="http://schemas.openxmlformats.org/drawingml/2006/main">
          <a:graphicData uri="http://schemas.openxmlformats.org/drawingml/2006/table">
            <a:tbl>
              <a:tblPr firstRow="1" bandRow="0"/>
              <a:tblGrid>
                <a:gridCol w="2705100"/>
                <a:gridCol w="2705100"/>
                <a:gridCol w="2705100"/>
                <a:gridCol w="2705100"/>
              </a:tblGrid>
              <a:tr h="650875">
                <a:tc>
                  <a:txBody>
                    <a:bodyPr/>
                    <a:lstStyle/>
                    <a:p>
                      <a:r>
                        <a:rPr sz="1275" b="1">
                          <a:solidFill>
                            <a:srgbClr val="F4F8FC"/>
                          </a:solidFill>
                          <a:latin typeface="Liberation Sans"/>
                          <a:ea typeface="Liberation Sans"/>
                          <a:cs typeface="Liberation Sans"/>
                        </a:rPr>
                        <a:t>Integration</a:t>
                      </a:r>
                    </a:p>
                  </a:txBody>
                  <a:tcPr marL="133350" marR="133350" marT="76200" marB="76200">
                    <a:solidFill>
                      <a:srgbClr val="142B42"/>
                    </a:solidFill>
                  </a:tcPr>
                </a:tc>
                <a:tc>
                  <a:txBody>
                    <a:bodyPr/>
                    <a:lstStyle/>
                    <a:p>
                      <a:r>
                        <a:rPr sz="1275" b="1">
                          <a:solidFill>
                            <a:srgbClr val="F4F8FC"/>
                          </a:solidFill>
                          <a:latin typeface="Liberation Sans"/>
                          <a:ea typeface="Liberation Sans"/>
                          <a:cs typeface="Liberation Sans"/>
                        </a:rPr>
                        <a:t>Capability</a:t>
                      </a:r>
                    </a:p>
                  </a:txBody>
                  <a:tcPr marL="133350" marR="133350" marT="76200" marB="76200">
                    <a:solidFill>
                      <a:srgbClr val="142B42"/>
                    </a:solidFill>
                  </a:tcPr>
                </a:tc>
                <a:tc>
                  <a:txBody>
                    <a:bodyPr/>
                    <a:lstStyle/>
                    <a:p>
                      <a:r>
                        <a:rPr sz="1275" b="1">
                          <a:solidFill>
                            <a:srgbClr val="F4F8FC"/>
                          </a:solidFill>
                          <a:latin typeface="Liberation Sans"/>
                          <a:ea typeface="Liberation Sans"/>
                          <a:cs typeface="Liberation Sans"/>
                        </a:rPr>
                        <a:t>Allowed</a:t>
                      </a:r>
                    </a:p>
                  </a:txBody>
                  <a:tcPr marL="133350" marR="133350" marT="76200" marB="76200">
                    <a:solidFill>
                      <a:srgbClr val="142B42"/>
                    </a:solidFill>
                  </a:tcPr>
                </a:tc>
                <a:tc>
                  <a:txBody>
                    <a:bodyPr/>
                    <a:lstStyle/>
                    <a:p>
                      <a:r>
                        <a:rPr sz="1275" b="1">
                          <a:solidFill>
                            <a:srgbClr val="F4F8FC"/>
                          </a:solidFill>
                          <a:latin typeface="Liberation Sans"/>
                          <a:ea typeface="Liberation Sans"/>
                          <a:cs typeface="Liberation Sans"/>
                        </a:rPr>
                        <a:t>Enforcement</a:t>
                      </a:r>
                    </a:p>
                  </a:txBody>
                  <a:tcPr marL="133350" marR="133350" marT="76200" marB="76200">
                    <a:solidFill>
                      <a:srgbClr val="142B42"/>
                    </a:solidFill>
                  </a:tcPr>
                </a:tc>
              </a:tr>
              <a:tr h="650875">
                <a:tc>
                  <a:txBody>
                    <a:bodyPr/>
                    <a:lstStyle/>
                    <a:p>
                      <a:r>
                        <a:rPr sz="1200">
                          <a:solidFill>
                            <a:srgbClr val="F4F8FC"/>
                          </a:solidFill>
                          <a:latin typeface="Liberation Sans"/>
                          <a:ea typeface="Liberation Sans"/>
                          <a:cs typeface="Liberation Sans"/>
                        </a:rPr>
                        <a:t>Kubernetes</a:t>
                      </a:r>
                    </a:p>
                  </a:txBody>
                  <a:tcPr marL="133350" marR="133350" marT="76200" marB="76200">
                    <a:solidFill>
                      <a:srgbClr val="102338"/>
                    </a:solidFill>
                  </a:tcPr>
                </a:tc>
                <a:tc>
                  <a:txBody>
                    <a:bodyPr/>
                    <a:lstStyle/>
                    <a:p>
                      <a:r>
                        <a:rPr sz="1200">
                          <a:solidFill>
                            <a:srgbClr val="F4F8FC"/>
                          </a:solidFill>
                          <a:latin typeface="Liberation Sans"/>
                          <a:ea typeface="Liberation Sans"/>
                          <a:cs typeface="Liberation Sans"/>
                        </a:rPr>
                        <a:t>Pods, logs, events</a:t>
                      </a:r>
                    </a:p>
                  </a:txBody>
                  <a:tcPr marL="133350" marR="133350" marT="76200" marB="76200">
                    <a:solidFill>
                      <a:srgbClr val="102338"/>
                    </a:solidFill>
                  </a:tcPr>
                </a:tc>
                <a:tc>
                  <a:txBody>
                    <a:bodyPr/>
                    <a:lstStyle/>
                    <a:p>
                      <a:r>
                        <a:rPr sz="1200">
                          <a:solidFill>
                            <a:srgbClr val="F4F8FC"/>
                          </a:solidFill>
                          <a:latin typeface="Liberation Sans"/>
                          <a:ea typeface="Liberation Sans"/>
                          <a:cs typeface="Liberation Sans"/>
                        </a:rPr>
                        <a:t>Read</a:t>
                      </a:r>
                    </a:p>
                  </a:txBody>
                  <a:tcPr marL="133350" marR="133350" marT="76200" marB="76200">
                    <a:solidFill>
                      <a:srgbClr val="102338"/>
                    </a:solidFill>
                  </a:tcPr>
                </a:tc>
                <a:tc>
                  <a:txBody>
                    <a:bodyPr/>
                    <a:lstStyle/>
                    <a:p>
                      <a:r>
                        <a:rPr sz="1200">
                          <a:solidFill>
                            <a:srgbClr val="F4F8FC"/>
                          </a:solidFill>
                          <a:latin typeface="Liberation Sans"/>
                          <a:ea typeface="Liberation Sans"/>
                          <a:cs typeface="Liberation Sans"/>
                        </a:rPr>
                        <a:t>Namespace Role</a:t>
                      </a:r>
                    </a:p>
                  </a:txBody>
                  <a:tcPr marL="133350" marR="133350" marT="76200" marB="76200">
                    <a:solidFill>
                      <a:srgbClr val="102338"/>
                    </a:solidFill>
                  </a:tcPr>
                </a:tc>
              </a:tr>
              <a:tr h="650875">
                <a:tc>
                  <a:txBody>
                    <a:bodyPr/>
                    <a:lstStyle/>
                    <a:p>
                      <a:r>
                        <a:rPr sz="1200">
                          <a:solidFill>
                            <a:srgbClr val="F4F8FC"/>
                          </a:solidFill>
                          <a:latin typeface="Liberation Sans"/>
                          <a:ea typeface="Liberation Sans"/>
                          <a:cs typeface="Liberation Sans"/>
                        </a:rPr>
                        <a:t>Kubernetes</a:t>
                      </a:r>
                    </a:p>
                  </a:txBody>
                  <a:tcPr marL="133350" marR="133350" marT="76200" marB="76200">
                    <a:solidFill>
                      <a:srgbClr val="102338"/>
                    </a:solidFill>
                  </a:tcPr>
                </a:tc>
                <a:tc>
                  <a:txBody>
                    <a:bodyPr/>
                    <a:lstStyle/>
                    <a:p>
                      <a:r>
                        <a:rPr sz="1200">
                          <a:solidFill>
                            <a:srgbClr val="F4F8FC"/>
                          </a:solidFill>
                          <a:latin typeface="Liberation Sans"/>
                          <a:ea typeface="Liberation Sans"/>
                          <a:cs typeface="Liberation Sans"/>
                        </a:rPr>
                        <a:t>Services, endpoints, workloads</a:t>
                      </a:r>
                    </a:p>
                  </a:txBody>
                  <a:tcPr marL="133350" marR="133350" marT="76200" marB="76200">
                    <a:solidFill>
                      <a:srgbClr val="102338"/>
                    </a:solidFill>
                  </a:tcPr>
                </a:tc>
                <a:tc>
                  <a:txBody>
                    <a:bodyPr/>
                    <a:lstStyle/>
                    <a:p>
                      <a:r>
                        <a:rPr sz="1200">
                          <a:solidFill>
                            <a:srgbClr val="F4F8FC"/>
                          </a:solidFill>
                          <a:latin typeface="Liberation Sans"/>
                          <a:ea typeface="Liberation Sans"/>
                          <a:cs typeface="Liberation Sans"/>
                        </a:rPr>
                        <a:t>Read</a:t>
                      </a:r>
                    </a:p>
                  </a:txBody>
                  <a:tcPr marL="133350" marR="133350" marT="76200" marB="76200">
                    <a:solidFill>
                      <a:srgbClr val="102338"/>
                    </a:solidFill>
                  </a:tcPr>
                </a:tc>
                <a:tc>
                  <a:txBody>
                    <a:bodyPr/>
                    <a:lstStyle/>
                    <a:p>
                      <a:r>
                        <a:rPr sz="1200">
                          <a:solidFill>
                            <a:srgbClr val="F4F8FC"/>
                          </a:solidFill>
                          <a:latin typeface="Liberation Sans"/>
                          <a:ea typeface="Liberation Sans"/>
                          <a:cs typeface="Liberation Sans"/>
                        </a:rPr>
                        <a:t>Namespace Role</a:t>
                      </a:r>
                    </a:p>
                  </a:txBody>
                  <a:tcPr marL="133350" marR="133350" marT="76200" marB="76200">
                    <a:solidFill>
                      <a:srgbClr val="102338"/>
                    </a:solidFill>
                  </a:tcPr>
                </a:tc>
              </a:tr>
              <a:tr h="650875">
                <a:tc>
                  <a:txBody>
                    <a:bodyPr/>
                    <a:lstStyle/>
                    <a:p>
                      <a:r>
                        <a:rPr sz="1200">
                          <a:solidFill>
                            <a:srgbClr val="F4F8FC"/>
                          </a:solidFill>
                          <a:latin typeface="Liberation Sans"/>
                          <a:ea typeface="Liberation Sans"/>
                          <a:cs typeface="Liberation Sans"/>
                        </a:rPr>
                        <a:t>Kubernetes</a:t>
                      </a:r>
                    </a:p>
                  </a:txBody>
                  <a:tcPr marL="133350" marR="133350" marT="76200" marB="76200">
                    <a:solidFill>
                      <a:srgbClr val="102338"/>
                    </a:solidFill>
                  </a:tcPr>
                </a:tc>
                <a:tc>
                  <a:txBody>
                    <a:bodyPr/>
                    <a:lstStyle/>
                    <a:p>
                      <a:r>
                        <a:rPr sz="1200">
                          <a:solidFill>
                            <a:srgbClr val="F4F8FC"/>
                          </a:solidFill>
                          <a:latin typeface="Liberation Sans"/>
                          <a:ea typeface="Liberation Sans"/>
                          <a:cs typeface="Liberation Sans"/>
                        </a:rPr>
                        <a:t>Secrets and writes</a:t>
                      </a:r>
                    </a:p>
                  </a:txBody>
                  <a:tcPr marL="133350" marR="133350" marT="76200" marB="76200">
                    <a:solidFill>
                      <a:srgbClr val="102338"/>
                    </a:solidFill>
                  </a:tcPr>
                </a:tc>
                <a:tc>
                  <a:txBody>
                    <a:bodyPr/>
                    <a:lstStyle/>
                    <a:p>
                      <a:r>
                        <a:rPr sz="1200" b="1">
                          <a:solidFill>
                            <a:srgbClr val="FF7285"/>
                          </a:solidFill>
                          <a:latin typeface="Liberation Sans"/>
                          <a:ea typeface="Liberation Sans"/>
                          <a:cs typeface="Liberation Sans"/>
                        </a:rPr>
                        <a:t>Denied</a:t>
                      </a:r>
                    </a:p>
                  </a:txBody>
                  <a:tcPr marL="133350" marR="133350" marT="76200" marB="76200">
                    <a:solidFill>
                      <a:srgbClr val="3A1B29"/>
                    </a:solidFill>
                  </a:tcPr>
                </a:tc>
                <a:tc>
                  <a:txBody>
                    <a:bodyPr/>
                    <a:lstStyle/>
                    <a:p>
                      <a:r>
                        <a:rPr sz="1200">
                          <a:solidFill>
                            <a:srgbClr val="F4F8FC"/>
                          </a:solidFill>
                          <a:latin typeface="Liberation Sans"/>
                          <a:ea typeface="Liberation Sans"/>
                          <a:cs typeface="Liberation Sans"/>
                        </a:rPr>
                        <a:t>RBAC</a:t>
                      </a:r>
                    </a:p>
                  </a:txBody>
                  <a:tcPr marL="133350" marR="133350" marT="76200" marB="76200">
                    <a:solidFill>
                      <a:srgbClr val="102338"/>
                    </a:solidFill>
                  </a:tcPr>
                </a:tc>
              </a:tr>
              <a:tr h="650875">
                <a:tc>
                  <a:txBody>
                    <a:bodyPr/>
                    <a:lstStyle/>
                    <a:p>
                      <a:r>
                        <a:rPr sz="1200">
                          <a:solidFill>
                            <a:srgbClr val="F4F8FC"/>
                          </a:solidFill>
                          <a:latin typeface="Liberation Sans"/>
                          <a:ea typeface="Liberation Sans"/>
                          <a:cs typeface="Liberation Sans"/>
                        </a:rPr>
                        <a:t>GitHub</a:t>
                      </a:r>
                    </a:p>
                  </a:txBody>
                  <a:tcPr marL="133350" marR="133350" marT="76200" marB="76200">
                    <a:solidFill>
                      <a:srgbClr val="102338"/>
                    </a:solidFill>
                  </a:tcPr>
                </a:tc>
                <a:tc>
                  <a:txBody>
                    <a:bodyPr/>
                    <a:lstStyle/>
                    <a:p>
                      <a:r>
                        <a:rPr sz="1200">
                          <a:solidFill>
                            <a:srgbClr val="F4F8FC"/>
                          </a:solidFill>
                          <a:latin typeface="Liberation Sans"/>
                          <a:ea typeface="Liberation Sans"/>
                          <a:cs typeface="Liberation Sans"/>
                        </a:rPr>
                        <a:t>Repository and PR diff</a:t>
                      </a:r>
                    </a:p>
                  </a:txBody>
                  <a:tcPr marL="133350" marR="133350" marT="76200" marB="76200">
                    <a:solidFill>
                      <a:srgbClr val="102338"/>
                    </a:solidFill>
                  </a:tcPr>
                </a:tc>
                <a:tc>
                  <a:txBody>
                    <a:bodyPr/>
                    <a:lstStyle/>
                    <a:p>
                      <a:r>
                        <a:rPr sz="1200">
                          <a:solidFill>
                            <a:srgbClr val="F4F8FC"/>
                          </a:solidFill>
                          <a:latin typeface="Liberation Sans"/>
                          <a:ea typeface="Liberation Sans"/>
                          <a:cs typeface="Liberation Sans"/>
                        </a:rPr>
                        <a:t>Read</a:t>
                      </a:r>
                    </a:p>
                  </a:txBody>
                  <a:tcPr marL="133350" marR="133350" marT="76200" marB="76200">
                    <a:solidFill>
                      <a:srgbClr val="102338"/>
                    </a:solidFill>
                  </a:tcPr>
                </a:tc>
                <a:tc>
                  <a:txBody>
                    <a:bodyPr/>
                    <a:lstStyle/>
                    <a:p>
                      <a:r>
                        <a:rPr sz="1200">
                          <a:solidFill>
                            <a:srgbClr val="F4F8FC"/>
                          </a:solidFill>
                          <a:latin typeface="Liberation Sans"/>
                          <a:ea typeface="Liberation Sans"/>
                          <a:cs typeface="Liberation Sans"/>
                        </a:rPr>
                        <a:t>App permission</a:t>
                      </a:r>
                    </a:p>
                  </a:txBody>
                  <a:tcPr marL="133350" marR="133350" marT="76200" marB="76200">
                    <a:solidFill>
                      <a:srgbClr val="102338"/>
                    </a:solidFill>
                  </a:tcPr>
                </a:tc>
              </a:tr>
              <a:tr h="650875">
                <a:tc>
                  <a:txBody>
                    <a:bodyPr/>
                    <a:lstStyle/>
                    <a:p>
                      <a:r>
                        <a:rPr sz="1200">
                          <a:solidFill>
                            <a:srgbClr val="F4F8FC"/>
                          </a:solidFill>
                          <a:latin typeface="Liberation Sans"/>
                          <a:ea typeface="Liberation Sans"/>
                          <a:cs typeface="Liberation Sans"/>
                        </a:rPr>
                        <a:t>GitHub</a:t>
                      </a:r>
                    </a:p>
                  </a:txBody>
                  <a:tcPr marL="133350" marR="133350" marT="76200" marB="76200">
                    <a:solidFill>
                      <a:srgbClr val="102338"/>
                    </a:solidFill>
                  </a:tcPr>
                </a:tc>
                <a:tc>
                  <a:txBody>
                    <a:bodyPr/>
                    <a:lstStyle/>
                    <a:p>
                      <a:r>
                        <a:rPr sz="1200">
                          <a:solidFill>
                            <a:srgbClr val="F4F8FC"/>
                          </a:solidFill>
                          <a:latin typeface="Liberation Sans"/>
                          <a:ea typeface="Liberation Sans"/>
                          <a:cs typeface="Liberation Sans"/>
                        </a:rPr>
                        <a:t>Review comments only</a:t>
                      </a:r>
                    </a:p>
                  </a:txBody>
                  <a:tcPr marL="133350" marR="133350" marT="76200" marB="76200">
                    <a:solidFill>
                      <a:srgbClr val="102338"/>
                    </a:solidFill>
                  </a:tcPr>
                </a:tc>
                <a:tc>
                  <a:txBody>
                    <a:bodyPr/>
                    <a:lstStyle/>
                    <a:p>
                      <a:r>
                        <a:rPr sz="1200">
                          <a:solidFill>
                            <a:srgbClr val="F4F8FC"/>
                          </a:solidFill>
                          <a:latin typeface="Liberation Sans"/>
                          <a:ea typeface="Liberation Sans"/>
                          <a:cs typeface="Liberation Sans"/>
                        </a:rPr>
                        <a:t>Write comment</a:t>
                      </a:r>
                    </a:p>
                  </a:txBody>
                  <a:tcPr marL="133350" marR="133350" marT="76200" marB="76200">
                    <a:solidFill>
                      <a:srgbClr val="102338"/>
                    </a:solidFill>
                  </a:tcPr>
                </a:tc>
                <a:tc>
                  <a:txBody>
                    <a:bodyPr/>
                    <a:lstStyle/>
                    <a:p>
                      <a:r>
                        <a:rPr sz="1200">
                          <a:solidFill>
                            <a:srgbClr val="F4F8FC"/>
                          </a:solidFill>
                          <a:latin typeface="Liberation Sans"/>
                          <a:ea typeface="Liberation Sans"/>
                          <a:cs typeface="Liberation Sans"/>
                        </a:rPr>
                        <a:t>App permission</a:t>
                      </a:r>
                    </a:p>
                  </a:txBody>
                  <a:tcPr marL="133350" marR="133350" marT="76200" marB="76200">
                    <a:solidFill>
                      <a:srgbClr val="102338"/>
                    </a:solidFill>
                  </a:tcPr>
                </a:tc>
              </a:tr>
            </a:tbl>
          </a:graphicData>
        </a:graphic>
      </p:graphicFrame>
      <p:sp>
        <p:nvSpPr>
          <p:cNvPr id="7" name="">
            <a:extLst xmlns:a="http://schemas.openxmlformats.org/drawingml/2006/main">
              <a:ext uri="{FF2B5EF4-FFF2-40B4-BE49-F238E27FC236}">
                <a16:creationId xmlns:a16="http://schemas.microsoft.com/office/drawing/2014/main" id="{6E3CC33C-C2A3-4240-8688-800C31B10452}"/>
              </a:ext>
            </a:extLst>
          </p:cNvPr>
          <p:cNvSpPr>
            <a:spLocks xmlns:a="http://schemas.openxmlformats.org/drawingml/2006/main" noGrp="1"/>
          </p:cNvSpPr>
          <p:nvPr/>
        </p:nvSpPr>
        <p:spPr>
          <a:xfrm xmlns:a="http://schemas.openxmlformats.org/drawingml/2006/main">
            <a:off x="2095500" y="5695950"/>
            <a:ext cx="800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825"/>
          </a:bodyPr>
          <a:lstStyle xmlns:a="http://schemas.openxmlformats.org/drawingml/2006/main"/>
          <a:p xmlns:a="http://schemas.openxmlformats.org/drawingml/2006/main">
            <a:pPr>
              <a:defRPr sz="1575" b="1">
                <a:solidFill>
                  <a:srgbClr val="68E1C4"/>
                </a:solidFill>
                <a:latin typeface="Liberation Sans"/>
                <a:ea typeface="Liberation Sans"/>
                <a:cs typeface="Liberation Sans"/>
              </a:defRPr>
            </a:pPr>
            <a:r>
              <a:rPr sz="1575" b="1">
                <a:solidFill>
                  <a:srgbClr val="68E1C4"/>
                </a:solidFill>
                <a:latin typeface="Liberation Sans"/>
                <a:ea typeface="Liberation Sans"/>
                <a:cs typeface="Liberation Sans"/>
              </a:rPr>
              <a:t>No credentials or Secret values are stored in Git</a:t>
            </a:r>
          </a:p>
        </p:txBody>
      </p:sp>
    </p:spTree>
    <p:extLst>
      <p:ext uri="{BB962C8B-B14F-4D97-AF65-F5344CB8AC3E}">
        <p14:creationId xmlns:p14="http://schemas.microsoft.com/office/powerpoint/2010/main" val="398524453"/>
      </p:ext>
    </p:extLst>
  </p:cSld>
</p:sld>
</file>

<file path=ppt/slides/slide12.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8192438D-78CC-4EC0-8EF8-07360B147078}"/>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54D6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315AA4-32AE-4D26-B15E-6895DEE4E945}"/>
              </a:ext>
            </a:extLst>
          </p:cNvPr>
          <p:cNvSpPr>
            <a:spLocks xmlns:a="http://schemas.openxmlformats.org/drawingml/2006/main" noGrp="1"/>
          </p:cNvSpPr>
          <p:nvPr/>
        </p:nvSpPr>
        <p:spPr>
          <a:xfrm xmlns:a="http://schemas.openxmlformats.org/drawingml/2006/main">
            <a:off x="590550" y="4000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550" b="1">
                <a:solidFill>
                  <a:srgbClr val="F4F8FC"/>
                </a:solidFill>
                <a:latin typeface="Liberation Sans"/>
                <a:ea typeface="Liberation Sans"/>
                <a:cs typeface="Liberation Sans"/>
              </a:defRPr>
            </a:pPr>
            <a:r>
              <a:rPr sz="2550" b="1">
                <a:solidFill>
                  <a:srgbClr val="F4F8FC"/>
                </a:solidFill>
                <a:latin typeface="Liberation Sans"/>
                <a:ea typeface="Liberation Sans"/>
                <a:cs typeface="Liberation Sans"/>
              </a:rPr>
              <a:t>Incident evidence and recovery</a:t>
            </a:r>
          </a:p>
        </p:txBody>
      </p:sp>
      <p:sp>
        <p:nvSpPr>
          <p:cNvPr id="3" name="">
            <a:extLst xmlns:a="http://schemas.openxmlformats.org/drawingml/2006/main">
              <a:ext uri="{FF2B5EF4-FFF2-40B4-BE49-F238E27FC236}">
                <a16:creationId xmlns:a16="http://schemas.microsoft.com/office/drawing/2014/main" id="{B1AD0EB3-D6C5-4368-91E1-1A29B1CE316F}"/>
              </a:ext>
            </a:extLst>
          </p:cNvPr>
          <p:cNvSpPr>
            <a:spLocks xmlns:a="http://schemas.openxmlformats.org/drawingml/2006/main" noGrp="1"/>
          </p:cNvSpPr>
          <p:nvPr/>
        </p:nvSpPr>
        <p:spPr>
          <a:xfrm xmlns:a="http://schemas.openxmlformats.org/drawingml/2006/main">
            <a:off x="609600" y="9334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Kubernetes, Grafana, and KAOP expose the fault and the recovery</a:t>
            </a:r>
          </a:p>
        </p:txBody>
      </p:sp>
      <p:sp>
        <p:nvSpPr>
          <p:cNvPr id="4" name="">
            <a:extLst xmlns:a="http://schemas.openxmlformats.org/drawingml/2006/main">
              <a:ext uri="{FF2B5EF4-FFF2-40B4-BE49-F238E27FC236}">
                <a16:creationId xmlns:a16="http://schemas.microsoft.com/office/drawing/2014/main" id="{C99B7695-738A-4C3C-9D27-70709238788C}"/>
              </a:ext>
            </a:extLst>
          </p:cNvPr>
          <p:cNvSpPr>
            <a:spLocks xmlns:a="http://schemas.openxmlformats.org/drawingml/2006/main" noGrp="1"/>
          </p:cNvSpPr>
          <p:nvPr/>
        </p:nvSpPr>
        <p:spPr>
          <a:xfrm xmlns:a="http://schemas.openxmlformats.org/drawingml/2006/main">
            <a:off x="11258550" y="62293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12</a:t>
            </a:r>
          </a:p>
        </p:txBody>
      </p:sp>
      <p:sp>
        <p:nvSpPr>
          <p:cNvPr id="5" name="">
            <a:extLst xmlns:a="http://schemas.openxmlformats.org/drawingml/2006/main">
              <a:ext uri="{FF2B5EF4-FFF2-40B4-BE49-F238E27FC236}">
                <a16:creationId xmlns:a16="http://schemas.microsoft.com/office/drawing/2014/main" id="{918B425E-A97B-4403-BDD4-67F323852F6C}"/>
              </a:ext>
            </a:extLst>
          </p:cNvPr>
          <p:cNvSpPr>
            <a:spLocks xmlns:a="http://schemas.openxmlformats.org/drawingml/2006/main" noGrp="1"/>
          </p:cNvSpPr>
          <p:nvPr/>
        </p:nvSpPr>
        <p:spPr>
          <a:xfrm xmlns:a="http://schemas.openxmlformats.org/drawingml/2006/main">
            <a:off x="590550" y="62293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0">
                <a:solidFill>
                  <a:srgbClr val="A6B7C8"/>
                </a:solidFill>
                <a:latin typeface="Liberation Sans"/>
                <a:ea typeface="Liberation Sans"/>
                <a:cs typeface="Liberation Sans"/>
              </a:defRPr>
            </a:pPr>
            <a:r>
              <a:rPr sz="900" b="0">
                <a:solidFill>
                  <a:srgbClr val="A6B7C8"/>
                </a:solidFill>
                <a:latin typeface="Liberation Sans"/>
                <a:ea typeface="Liberation Sans"/>
                <a:cs typeface="Liberation Sans"/>
              </a:rPr>
              <a:t>KAOP by Nirit Terehovsky</a:t>
            </a:r>
          </a:p>
        </p:txBody>
      </p:sp>
      <p:sp>
        <p:nvSpPr>
          <p:cNvPr id="6" name="">
            <a:extLst xmlns:a="http://schemas.openxmlformats.org/drawingml/2006/main">
              <a:ext uri="{FF2B5EF4-FFF2-40B4-BE49-F238E27FC236}">
                <a16:creationId xmlns:a16="http://schemas.microsoft.com/office/drawing/2014/main" id="{03D70010-4254-4864-85F1-21A15E54192C}"/>
              </a:ext>
            </a:extLst>
          </p:cNvPr>
          <p:cNvSpPr>
            <a:spLocks xmlns:a="http://schemas.openxmlformats.org/drawingml/2006/main" noGrp="1"/>
          </p:cNvSpPr>
          <p:nvPr/>
        </p:nvSpPr>
        <p:spPr>
          <a:xfrm xmlns:a="http://schemas.openxmlformats.org/drawingml/2006/main">
            <a:off x="723900" y="1600200"/>
            <a:ext cx="3333750" cy="3124200"/>
          </a:xfrm>
          <a:prstGeom xmlns:a="http://schemas.openxmlformats.org/drawingml/2006/main" prst="roundRect">
            <a:avLst>
              <a:gd name="adj" fmla="val 6098"/>
            </a:avLst>
          </a:prstGeom>
          <a:solidFill xmlns:a="http://schemas.openxmlformats.org/drawingml/2006/main">
            <a:srgbClr val="102338"/>
          </a:solidFill>
          <a:ln xmlns:a="http://schemas.openxmlformats.org/drawingml/2006/main" w="14288">
            <a:solidFill>
              <a:srgbClr val="68E1C4"/>
            </a:solidFill>
            <a:prstDash val="solid"/>
          </a:ln>
        </p:spPr>
      </p:sp>
      <p:sp>
        <p:nvSpPr>
          <p:cNvPr id="7" name="">
            <a:extLst xmlns:a="http://schemas.openxmlformats.org/drawingml/2006/main">
              <a:ext uri="{FF2B5EF4-FFF2-40B4-BE49-F238E27FC236}">
                <a16:creationId xmlns:a16="http://schemas.microsoft.com/office/drawing/2014/main" id="{CC510263-3CBD-4E3C-BA43-FE878E4BD6E1}"/>
              </a:ext>
            </a:extLst>
          </p:cNvPr>
          <p:cNvSpPr>
            <a:spLocks xmlns:a="http://schemas.openxmlformats.org/drawingml/2006/main" noGrp="1"/>
          </p:cNvSpPr>
          <p:nvPr/>
        </p:nvSpPr>
        <p:spPr>
          <a:xfrm xmlns:a="http://schemas.openxmlformats.org/drawingml/2006/main">
            <a:off x="990600" y="1847850"/>
            <a:ext cx="2800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1">
                <a:solidFill>
                  <a:srgbClr val="68E1C4"/>
                </a:solidFill>
                <a:latin typeface="Liberation Sans"/>
                <a:ea typeface="Liberation Sans"/>
                <a:cs typeface="Liberation Sans"/>
              </a:defRPr>
            </a:pPr>
            <a:r>
              <a:rPr sz="2025" b="1">
                <a:solidFill>
                  <a:srgbClr val="68E1C4"/>
                </a:solidFill>
                <a:latin typeface="Liberation Sans"/>
                <a:ea typeface="Liberation Sans"/>
                <a:cs typeface="Liberation Sans"/>
              </a:rPr>
              <a:t>Healthy</a:t>
            </a:r>
          </a:p>
        </p:txBody>
      </p:sp>
      <p:sp>
        <p:nvSpPr>
          <p:cNvPr id="8" name="">
            <a:extLst xmlns:a="http://schemas.openxmlformats.org/drawingml/2006/main">
              <a:ext uri="{FF2B5EF4-FFF2-40B4-BE49-F238E27FC236}">
                <a16:creationId xmlns:a16="http://schemas.microsoft.com/office/drawing/2014/main" id="{771A747A-A7DE-4372-A310-F4C3ADD3F326}"/>
              </a:ext>
            </a:extLst>
          </p:cNvPr>
          <p:cNvSpPr>
            <a:spLocks xmlns:a="http://schemas.openxmlformats.org/drawingml/2006/main" noGrp="1"/>
          </p:cNvSpPr>
          <p:nvPr/>
        </p:nvSpPr>
        <p:spPr>
          <a:xfrm xmlns:a="http://schemas.openxmlformats.org/drawingml/2006/main">
            <a:off x="1009650" y="2476500"/>
            <a:ext cx="1619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700" b="1">
                <a:solidFill>
                  <a:srgbClr val="68E1C4"/>
                </a:solidFill>
                <a:latin typeface="Liberation Sans"/>
                <a:ea typeface="Liberation Sans"/>
                <a:cs typeface="Liberation Sans"/>
              </a:defRPr>
            </a:pPr>
            <a:r>
              <a:rPr sz="2700" b="1">
                <a:solidFill>
                  <a:srgbClr val="68E1C4"/>
                </a:solidFill>
                <a:latin typeface="Liberation Sans"/>
                <a:ea typeface="Liberation Sans"/>
                <a:cs typeface="Liberation Sans"/>
              </a:rPr>
              <a:t>1</a:t>
            </a:r>
          </a:p>
        </p:txBody>
      </p:sp>
      <p:sp>
        <p:nvSpPr>
          <p:cNvPr id="9" name="">
            <a:extLst xmlns:a="http://schemas.openxmlformats.org/drawingml/2006/main">
              <a:ext uri="{FF2B5EF4-FFF2-40B4-BE49-F238E27FC236}">
                <a16:creationId xmlns:a16="http://schemas.microsoft.com/office/drawing/2014/main" id="{6ACF0769-EA93-4748-BC24-B3193E4917A3}"/>
              </a:ext>
            </a:extLst>
          </p:cNvPr>
          <p:cNvSpPr>
            <a:spLocks xmlns:a="http://schemas.openxmlformats.org/drawingml/2006/main" noGrp="1"/>
          </p:cNvSpPr>
          <p:nvPr/>
        </p:nvSpPr>
        <p:spPr>
          <a:xfrm xmlns:a="http://schemas.openxmlformats.org/drawingml/2006/main">
            <a:off x="1009650" y="2990850"/>
            <a:ext cx="180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125" b="0">
                <a:solidFill>
                  <a:srgbClr val="A6B7C8"/>
                </a:solidFill>
                <a:latin typeface="Liberation Sans"/>
                <a:ea typeface="Liberation Sans"/>
                <a:cs typeface="Liberation Sans"/>
              </a:defRPr>
            </a:pPr>
            <a:r>
              <a:rPr sz="1125" b="0">
                <a:solidFill>
                  <a:srgbClr val="A6B7C8"/>
                </a:solidFill>
                <a:latin typeface="Liberation Sans"/>
                <a:ea typeface="Liberation Sans"/>
                <a:cs typeface="Liberation Sans"/>
              </a:rPr>
              <a:t>Redis endpoint</a:t>
            </a:r>
          </a:p>
        </p:txBody>
      </p:sp>
      <p:sp>
        <p:nvSpPr>
          <p:cNvPr id="10" name="">
            <a:extLst xmlns:a="http://schemas.openxmlformats.org/drawingml/2006/main">
              <a:ext uri="{FF2B5EF4-FFF2-40B4-BE49-F238E27FC236}">
                <a16:creationId xmlns:a16="http://schemas.microsoft.com/office/drawing/2014/main" id="{1A8DC4C0-5106-4F68-8DE4-82E647F7B38C}"/>
              </a:ext>
            </a:extLst>
          </p:cNvPr>
          <p:cNvSpPr>
            <a:spLocks xmlns:a="http://schemas.openxmlformats.org/drawingml/2006/main" noGrp="1"/>
          </p:cNvSpPr>
          <p:nvPr/>
        </p:nvSpPr>
        <p:spPr>
          <a:xfrm xmlns:a="http://schemas.openxmlformats.org/drawingml/2006/main">
            <a:off x="990600" y="3486150"/>
            <a:ext cx="2800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425" b="1">
                <a:solidFill>
                  <a:srgbClr val="F4F8FC"/>
                </a:solidFill>
                <a:latin typeface="Liberation Sans"/>
                <a:ea typeface="Liberation Sans"/>
                <a:cs typeface="Liberation Sans"/>
              </a:defRPr>
            </a:pPr>
            <a:r>
              <a:rPr sz="1425" b="1">
                <a:solidFill>
                  <a:srgbClr val="F4F8FC"/>
                </a:solidFill>
                <a:latin typeface="Liberation Sans"/>
                <a:ea typeface="Liberation Sans"/>
                <a:cs typeface="Liberation Sans"/>
              </a:rPr>
              <a:t>2/2 Ready</a:t>
            </a:r>
          </a:p>
        </p:txBody>
      </p:sp>
      <p:sp>
        <p:nvSpPr>
          <p:cNvPr id="11" name="">
            <a:extLst xmlns:a="http://schemas.openxmlformats.org/drawingml/2006/main">
              <a:ext uri="{FF2B5EF4-FFF2-40B4-BE49-F238E27FC236}">
                <a16:creationId xmlns:a16="http://schemas.microsoft.com/office/drawing/2014/main" id="{F4A8B0D1-24E2-4103-8E1E-36C199BB6C68}"/>
              </a:ext>
            </a:extLst>
          </p:cNvPr>
          <p:cNvSpPr>
            <a:spLocks xmlns:a="http://schemas.openxmlformats.org/drawingml/2006/main" noGrp="1"/>
          </p:cNvSpPr>
          <p:nvPr/>
        </p:nvSpPr>
        <p:spPr>
          <a:xfrm xmlns:a="http://schemas.openxmlformats.org/drawingml/2006/main">
            <a:off x="990600" y="3943350"/>
            <a:ext cx="2800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0 restarts</a:t>
            </a:r>
          </a:p>
        </p:txBody>
      </p:sp>
      <p:sp>
        <p:nvSpPr>
          <p:cNvPr id="12" name="">
            <a:extLst xmlns:a="http://schemas.openxmlformats.org/drawingml/2006/main">
              <a:ext uri="{FF2B5EF4-FFF2-40B4-BE49-F238E27FC236}">
                <a16:creationId xmlns:a16="http://schemas.microsoft.com/office/drawing/2014/main" id="{C52D80E0-0190-4FB2-B05E-32BC92B8BCFD}"/>
              </a:ext>
            </a:extLst>
          </p:cNvPr>
          <p:cNvSpPr>
            <a:spLocks xmlns:a="http://schemas.openxmlformats.org/drawingml/2006/main" noGrp="1"/>
          </p:cNvSpPr>
          <p:nvPr/>
        </p:nvSpPr>
        <p:spPr>
          <a:xfrm xmlns:a="http://schemas.openxmlformats.org/drawingml/2006/main">
            <a:off x="4438650" y="1600200"/>
            <a:ext cx="3333750" cy="3124200"/>
          </a:xfrm>
          <a:prstGeom xmlns:a="http://schemas.openxmlformats.org/drawingml/2006/main" prst="roundRect">
            <a:avLst>
              <a:gd name="adj" fmla="val 6098"/>
            </a:avLst>
          </a:prstGeom>
          <a:solidFill xmlns:a="http://schemas.openxmlformats.org/drawingml/2006/main">
            <a:srgbClr val="102338"/>
          </a:solidFill>
          <a:ln xmlns:a="http://schemas.openxmlformats.org/drawingml/2006/main" w="14288">
            <a:solidFill>
              <a:srgbClr val="FF7285"/>
            </a:solidFill>
            <a:prstDash val="solid"/>
          </a:ln>
        </p:spPr>
      </p:sp>
      <p:sp>
        <p:nvSpPr>
          <p:cNvPr id="13" name="">
            <a:extLst xmlns:a="http://schemas.openxmlformats.org/drawingml/2006/main">
              <a:ext uri="{FF2B5EF4-FFF2-40B4-BE49-F238E27FC236}">
                <a16:creationId xmlns:a16="http://schemas.microsoft.com/office/drawing/2014/main" id="{F60E2E1F-7220-4BD3-A8F6-8F24893F45F9}"/>
              </a:ext>
            </a:extLst>
          </p:cNvPr>
          <p:cNvSpPr>
            <a:spLocks xmlns:a="http://schemas.openxmlformats.org/drawingml/2006/main" noGrp="1"/>
          </p:cNvSpPr>
          <p:nvPr/>
        </p:nvSpPr>
        <p:spPr>
          <a:xfrm xmlns:a="http://schemas.openxmlformats.org/drawingml/2006/main">
            <a:off x="4705350" y="1847850"/>
            <a:ext cx="2800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1">
                <a:solidFill>
                  <a:srgbClr val="FF7285"/>
                </a:solidFill>
                <a:latin typeface="Liberation Sans"/>
                <a:ea typeface="Liberation Sans"/>
                <a:cs typeface="Liberation Sans"/>
              </a:defRPr>
            </a:pPr>
            <a:r>
              <a:rPr sz="2025" b="1">
                <a:solidFill>
                  <a:srgbClr val="FF7285"/>
                </a:solidFill>
                <a:latin typeface="Liberation Sans"/>
                <a:ea typeface="Liberation Sans"/>
                <a:cs typeface="Liberation Sans"/>
              </a:rPr>
              <a:t>Incident</a:t>
            </a:r>
          </a:p>
        </p:txBody>
      </p:sp>
      <p:sp>
        <p:nvSpPr>
          <p:cNvPr id="14" name="">
            <a:extLst xmlns:a="http://schemas.openxmlformats.org/drawingml/2006/main">
              <a:ext uri="{FF2B5EF4-FFF2-40B4-BE49-F238E27FC236}">
                <a16:creationId xmlns:a16="http://schemas.microsoft.com/office/drawing/2014/main" id="{05B64D5D-C281-43F2-9EBC-6C948B838052}"/>
              </a:ext>
            </a:extLst>
          </p:cNvPr>
          <p:cNvSpPr>
            <a:spLocks xmlns:a="http://schemas.openxmlformats.org/drawingml/2006/main" noGrp="1"/>
          </p:cNvSpPr>
          <p:nvPr/>
        </p:nvSpPr>
        <p:spPr>
          <a:xfrm xmlns:a="http://schemas.openxmlformats.org/drawingml/2006/main">
            <a:off x="4724400" y="2476500"/>
            <a:ext cx="1619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700" b="1">
                <a:solidFill>
                  <a:srgbClr val="FF7285"/>
                </a:solidFill>
                <a:latin typeface="Liberation Sans"/>
                <a:ea typeface="Liberation Sans"/>
                <a:cs typeface="Liberation Sans"/>
              </a:defRPr>
            </a:pPr>
            <a:r>
              <a:rPr sz="2700" b="1">
                <a:solidFill>
                  <a:srgbClr val="FF7285"/>
                </a:solidFill>
                <a:latin typeface="Liberation Sans"/>
                <a:ea typeface="Liberation Sans"/>
                <a:cs typeface="Liberation Sans"/>
              </a:rPr>
              <a:t>0</a:t>
            </a:r>
          </a:p>
        </p:txBody>
      </p:sp>
      <p:sp>
        <p:nvSpPr>
          <p:cNvPr id="15" name="">
            <a:extLst xmlns:a="http://schemas.openxmlformats.org/drawingml/2006/main">
              <a:ext uri="{FF2B5EF4-FFF2-40B4-BE49-F238E27FC236}">
                <a16:creationId xmlns:a16="http://schemas.microsoft.com/office/drawing/2014/main" id="{F7DAE058-389D-4855-BCA0-10390DD07FB3}"/>
              </a:ext>
            </a:extLst>
          </p:cNvPr>
          <p:cNvSpPr>
            <a:spLocks xmlns:a="http://schemas.openxmlformats.org/drawingml/2006/main" noGrp="1"/>
          </p:cNvSpPr>
          <p:nvPr/>
        </p:nvSpPr>
        <p:spPr>
          <a:xfrm xmlns:a="http://schemas.openxmlformats.org/drawingml/2006/main">
            <a:off x="4724400" y="2990850"/>
            <a:ext cx="180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125" b="0">
                <a:solidFill>
                  <a:srgbClr val="A6B7C8"/>
                </a:solidFill>
                <a:latin typeface="Liberation Sans"/>
                <a:ea typeface="Liberation Sans"/>
                <a:cs typeface="Liberation Sans"/>
              </a:defRPr>
            </a:pPr>
            <a:r>
              <a:rPr sz="1125" b="0">
                <a:solidFill>
                  <a:srgbClr val="A6B7C8"/>
                </a:solidFill>
                <a:latin typeface="Liberation Sans"/>
                <a:ea typeface="Liberation Sans"/>
                <a:cs typeface="Liberation Sans"/>
              </a:rPr>
              <a:t>Redis endpoints</a:t>
            </a:r>
          </a:p>
        </p:txBody>
      </p:sp>
      <p:sp>
        <p:nvSpPr>
          <p:cNvPr id="16" name="">
            <a:extLst xmlns:a="http://schemas.openxmlformats.org/drawingml/2006/main">
              <a:ext uri="{FF2B5EF4-FFF2-40B4-BE49-F238E27FC236}">
                <a16:creationId xmlns:a16="http://schemas.microsoft.com/office/drawing/2014/main" id="{CE43C376-676A-4FE1-8235-1259305C45F9}"/>
              </a:ext>
            </a:extLst>
          </p:cNvPr>
          <p:cNvSpPr>
            <a:spLocks xmlns:a="http://schemas.openxmlformats.org/drawingml/2006/main" noGrp="1"/>
          </p:cNvSpPr>
          <p:nvPr/>
        </p:nvSpPr>
        <p:spPr>
          <a:xfrm xmlns:a="http://schemas.openxmlformats.org/drawingml/2006/main">
            <a:off x="4705350" y="3486150"/>
            <a:ext cx="2800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425" b="1">
                <a:solidFill>
                  <a:srgbClr val="F4F8FC"/>
                </a:solidFill>
                <a:latin typeface="Liberation Sans"/>
                <a:ea typeface="Liberation Sans"/>
                <a:cs typeface="Liberation Sans"/>
              </a:defRPr>
            </a:pPr>
            <a:r>
              <a:rPr sz="1425" b="1">
                <a:solidFill>
                  <a:srgbClr val="F4F8FC"/>
                </a:solidFill>
                <a:latin typeface="Liberation Sans"/>
                <a:ea typeface="Liberation Sans"/>
                <a:cs typeface="Liberation Sans"/>
              </a:rPr>
              <a:t>new Pod not Ready</a:t>
            </a:r>
          </a:p>
        </p:txBody>
      </p:sp>
      <p:sp>
        <p:nvSpPr>
          <p:cNvPr id="17" name="">
            <a:extLst xmlns:a="http://schemas.openxmlformats.org/drawingml/2006/main">
              <a:ext uri="{FF2B5EF4-FFF2-40B4-BE49-F238E27FC236}">
                <a16:creationId xmlns:a16="http://schemas.microsoft.com/office/drawing/2014/main" id="{763D0C7F-8746-4AEB-AD9B-BB29CB7C9BEC}"/>
              </a:ext>
            </a:extLst>
          </p:cNvPr>
          <p:cNvSpPr>
            <a:spLocks xmlns:a="http://schemas.openxmlformats.org/drawingml/2006/main" noGrp="1"/>
          </p:cNvSpPr>
          <p:nvPr/>
        </p:nvSpPr>
        <p:spPr>
          <a:xfrm xmlns:a="http://schemas.openxmlformats.org/drawingml/2006/main">
            <a:off x="4705350" y="3943350"/>
            <a:ext cx="2800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7 restarts observed</a:t>
            </a:r>
          </a:p>
        </p:txBody>
      </p:sp>
      <p:sp>
        <p:nvSpPr>
          <p:cNvPr id="18" name="">
            <a:extLst xmlns:a="http://schemas.openxmlformats.org/drawingml/2006/main">
              <a:ext uri="{FF2B5EF4-FFF2-40B4-BE49-F238E27FC236}">
                <a16:creationId xmlns:a16="http://schemas.microsoft.com/office/drawing/2014/main" id="{9A0DB1C0-05F1-4AD5-A077-389CA3DEFB21}"/>
              </a:ext>
            </a:extLst>
          </p:cNvPr>
          <p:cNvSpPr>
            <a:spLocks xmlns:a="http://schemas.openxmlformats.org/drawingml/2006/main" noGrp="1"/>
          </p:cNvSpPr>
          <p:nvPr/>
        </p:nvSpPr>
        <p:spPr>
          <a:xfrm xmlns:a="http://schemas.openxmlformats.org/drawingml/2006/main">
            <a:off x="8153400" y="1600200"/>
            <a:ext cx="3333750" cy="3124200"/>
          </a:xfrm>
          <a:prstGeom xmlns:a="http://schemas.openxmlformats.org/drawingml/2006/main" prst="roundRect">
            <a:avLst>
              <a:gd name="adj" fmla="val 6098"/>
            </a:avLst>
          </a:prstGeom>
          <a:solidFill xmlns:a="http://schemas.openxmlformats.org/drawingml/2006/main">
            <a:srgbClr val="102338"/>
          </a:solidFill>
          <a:ln xmlns:a="http://schemas.openxmlformats.org/drawingml/2006/main" w="14288">
            <a:solidFill>
              <a:srgbClr val="54D6FF"/>
            </a:solidFill>
            <a:prstDash val="solid"/>
          </a:ln>
        </p:spPr>
      </p:sp>
      <p:sp>
        <p:nvSpPr>
          <p:cNvPr id="19" name="">
            <a:extLst xmlns:a="http://schemas.openxmlformats.org/drawingml/2006/main">
              <a:ext uri="{FF2B5EF4-FFF2-40B4-BE49-F238E27FC236}">
                <a16:creationId xmlns:a16="http://schemas.microsoft.com/office/drawing/2014/main" id="{BE23BCD8-87CC-4B52-B8B3-1F366868B635}"/>
              </a:ext>
            </a:extLst>
          </p:cNvPr>
          <p:cNvSpPr>
            <a:spLocks xmlns:a="http://schemas.openxmlformats.org/drawingml/2006/main" noGrp="1"/>
          </p:cNvSpPr>
          <p:nvPr/>
        </p:nvSpPr>
        <p:spPr>
          <a:xfrm xmlns:a="http://schemas.openxmlformats.org/drawingml/2006/main">
            <a:off x="8420100" y="1847850"/>
            <a:ext cx="2800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025" b="1">
                <a:solidFill>
                  <a:srgbClr val="54D6FF"/>
                </a:solidFill>
                <a:latin typeface="Liberation Sans"/>
                <a:ea typeface="Liberation Sans"/>
                <a:cs typeface="Liberation Sans"/>
              </a:defRPr>
            </a:pPr>
            <a:r>
              <a:rPr sz="2025" b="1">
                <a:solidFill>
                  <a:srgbClr val="54D6FF"/>
                </a:solidFill>
                <a:latin typeface="Liberation Sans"/>
                <a:ea typeface="Liberation Sans"/>
                <a:cs typeface="Liberation Sans"/>
              </a:rPr>
              <a:t>Recovered</a:t>
            </a:r>
          </a:p>
        </p:txBody>
      </p:sp>
      <p:sp>
        <p:nvSpPr>
          <p:cNvPr id="20" name="">
            <a:extLst xmlns:a="http://schemas.openxmlformats.org/drawingml/2006/main">
              <a:ext uri="{FF2B5EF4-FFF2-40B4-BE49-F238E27FC236}">
                <a16:creationId xmlns:a16="http://schemas.microsoft.com/office/drawing/2014/main" id="{85615958-EDB9-4578-8690-3548C3CC493D}"/>
              </a:ext>
            </a:extLst>
          </p:cNvPr>
          <p:cNvSpPr>
            <a:spLocks xmlns:a="http://schemas.openxmlformats.org/drawingml/2006/main" noGrp="1"/>
          </p:cNvSpPr>
          <p:nvPr/>
        </p:nvSpPr>
        <p:spPr>
          <a:xfrm xmlns:a="http://schemas.openxmlformats.org/drawingml/2006/main">
            <a:off x="8439150" y="2476500"/>
            <a:ext cx="1619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2700" b="1">
                <a:solidFill>
                  <a:srgbClr val="54D6FF"/>
                </a:solidFill>
                <a:latin typeface="Liberation Sans"/>
                <a:ea typeface="Liberation Sans"/>
                <a:cs typeface="Liberation Sans"/>
              </a:defRPr>
            </a:pPr>
            <a:r>
              <a:rPr sz="2700" b="1">
                <a:solidFill>
                  <a:srgbClr val="54D6FF"/>
                </a:solidFill>
                <a:latin typeface="Liberation Sans"/>
                <a:ea typeface="Liberation Sans"/>
                <a:cs typeface="Liberation Sans"/>
              </a:rPr>
              <a:t>1</a:t>
            </a:r>
          </a:p>
        </p:txBody>
      </p:sp>
      <p:sp>
        <p:nvSpPr>
          <p:cNvPr id="21" name="">
            <a:extLst xmlns:a="http://schemas.openxmlformats.org/drawingml/2006/main">
              <a:ext uri="{FF2B5EF4-FFF2-40B4-BE49-F238E27FC236}">
                <a16:creationId xmlns:a16="http://schemas.microsoft.com/office/drawing/2014/main" id="{230C1140-D82F-4E52-A856-CD7E3067EBD7}"/>
              </a:ext>
            </a:extLst>
          </p:cNvPr>
          <p:cNvSpPr>
            <a:spLocks xmlns:a="http://schemas.openxmlformats.org/drawingml/2006/main" noGrp="1"/>
          </p:cNvSpPr>
          <p:nvPr/>
        </p:nvSpPr>
        <p:spPr>
          <a:xfrm xmlns:a="http://schemas.openxmlformats.org/drawingml/2006/main">
            <a:off x="8439150" y="2990850"/>
            <a:ext cx="180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125" b="0">
                <a:solidFill>
                  <a:srgbClr val="A6B7C8"/>
                </a:solidFill>
                <a:latin typeface="Liberation Sans"/>
                <a:ea typeface="Liberation Sans"/>
                <a:cs typeface="Liberation Sans"/>
              </a:defRPr>
            </a:pPr>
            <a:r>
              <a:rPr sz="1125" b="0">
                <a:solidFill>
                  <a:srgbClr val="A6B7C8"/>
                </a:solidFill>
                <a:latin typeface="Liberation Sans"/>
                <a:ea typeface="Liberation Sans"/>
                <a:cs typeface="Liberation Sans"/>
              </a:rPr>
              <a:t>Redis endpoint</a:t>
            </a:r>
          </a:p>
        </p:txBody>
      </p:sp>
      <p:sp>
        <p:nvSpPr>
          <p:cNvPr id="22" name="">
            <a:extLst xmlns:a="http://schemas.openxmlformats.org/drawingml/2006/main">
              <a:ext uri="{FF2B5EF4-FFF2-40B4-BE49-F238E27FC236}">
                <a16:creationId xmlns:a16="http://schemas.microsoft.com/office/drawing/2014/main" id="{B8BD04E6-C55D-428F-AD14-69B08C79427C}"/>
              </a:ext>
            </a:extLst>
          </p:cNvPr>
          <p:cNvSpPr>
            <a:spLocks xmlns:a="http://schemas.openxmlformats.org/drawingml/2006/main" noGrp="1"/>
          </p:cNvSpPr>
          <p:nvPr/>
        </p:nvSpPr>
        <p:spPr>
          <a:xfrm xmlns:a="http://schemas.openxmlformats.org/drawingml/2006/main">
            <a:off x="8420100" y="3486150"/>
            <a:ext cx="2800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425" b="1">
                <a:solidFill>
                  <a:srgbClr val="F4F8FC"/>
                </a:solidFill>
                <a:latin typeface="Liberation Sans"/>
                <a:ea typeface="Liberation Sans"/>
                <a:cs typeface="Liberation Sans"/>
              </a:defRPr>
            </a:pPr>
            <a:r>
              <a:rPr sz="1425" b="1">
                <a:solidFill>
                  <a:srgbClr val="F4F8FC"/>
                </a:solidFill>
                <a:latin typeface="Liberation Sans"/>
                <a:ea typeface="Liberation Sans"/>
                <a:cs typeface="Liberation Sans"/>
              </a:rPr>
              <a:t>2/2 Ready</a:t>
            </a:r>
          </a:p>
        </p:txBody>
      </p:sp>
      <p:sp>
        <p:nvSpPr>
          <p:cNvPr id="23" name="">
            <a:extLst xmlns:a="http://schemas.openxmlformats.org/drawingml/2006/main">
              <a:ext uri="{FF2B5EF4-FFF2-40B4-BE49-F238E27FC236}">
                <a16:creationId xmlns:a16="http://schemas.microsoft.com/office/drawing/2014/main" id="{58C541CA-E0C2-42B2-96C9-D35A8963DD73}"/>
              </a:ext>
            </a:extLst>
          </p:cNvPr>
          <p:cNvSpPr>
            <a:spLocks xmlns:a="http://schemas.openxmlformats.org/drawingml/2006/main" noGrp="1"/>
          </p:cNvSpPr>
          <p:nvPr/>
        </p:nvSpPr>
        <p:spPr>
          <a:xfrm xmlns:a="http://schemas.openxmlformats.org/drawingml/2006/main">
            <a:off x="8420100" y="3943350"/>
            <a:ext cx="2800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0">
                <a:solidFill>
                  <a:srgbClr val="A6B7C8"/>
                </a:solidFill>
                <a:latin typeface="Liberation Sans"/>
                <a:ea typeface="Liberation Sans"/>
                <a:cs typeface="Liberation Sans"/>
              </a:defRPr>
            </a:pPr>
            <a:r>
              <a:rPr sz="1275" b="0">
                <a:solidFill>
                  <a:srgbClr val="A6B7C8"/>
                </a:solidFill>
                <a:latin typeface="Liberation Sans"/>
                <a:ea typeface="Liberation Sans"/>
                <a:cs typeface="Liberation Sans"/>
              </a:rPr>
              <a:t>alert resolved</a:t>
            </a:r>
          </a:p>
        </p:txBody>
      </p:sp>
      <p:sp>
        <p:nvSpPr>
          <p:cNvPr id="24" name="">
            <a:extLst xmlns:a="http://schemas.openxmlformats.org/drawingml/2006/main">
              <a:ext uri="{FF2B5EF4-FFF2-40B4-BE49-F238E27FC236}">
                <a16:creationId xmlns:a16="http://schemas.microsoft.com/office/drawing/2014/main" id="{B917758D-AF6A-4067-B19D-D7E08A9E2E2D}"/>
              </a:ext>
            </a:extLst>
          </p:cNvPr>
          <p:cNvSpPr>
            <a:spLocks xmlns:a="http://schemas.openxmlformats.org/drawingml/2006/main" noGrp="1"/>
          </p:cNvSpPr>
          <p:nvPr/>
        </p:nvSpPr>
        <p:spPr>
          <a:xfrm xmlns:a="http://schemas.openxmlformats.org/drawingml/2006/main">
            <a:off x="2095500" y="5219700"/>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350" b="1">
                <a:solidFill>
                  <a:srgbClr val="54D6FF"/>
                </a:solidFill>
                <a:latin typeface="Liberation Sans"/>
                <a:ea typeface="Liberation Sans"/>
                <a:cs typeface="Liberation Sans"/>
              </a:defRPr>
            </a:pPr>
            <a:r>
              <a:rPr sz="1350" b="1">
                <a:solidFill>
                  <a:srgbClr val="54D6FF"/>
                </a:solidFill>
                <a:latin typeface="Liberation Sans"/>
                <a:ea typeface="Liberation Sans"/>
                <a:cs typeface="Liberation Sans"/>
              </a:rPr>
              <a:t>Recovery command</a:t>
            </a:r>
          </a:p>
        </p:txBody>
      </p:sp>
      <p:sp>
        <p:nvSpPr>
          <p:cNvPr id="25" name="">
            <a:extLst xmlns:a="http://schemas.openxmlformats.org/drawingml/2006/main">
              <a:ext uri="{FF2B5EF4-FFF2-40B4-BE49-F238E27FC236}">
                <a16:creationId xmlns:a16="http://schemas.microsoft.com/office/drawing/2014/main" id="{76D543EF-6276-481B-A7DE-59A557AE84BA}"/>
              </a:ext>
            </a:extLst>
          </p:cNvPr>
          <p:cNvSpPr>
            <a:spLocks xmlns:a="http://schemas.openxmlformats.org/drawingml/2006/main" noGrp="1"/>
          </p:cNvSpPr>
          <p:nvPr/>
        </p:nvSpPr>
        <p:spPr>
          <a:xfrm xmlns:a="http://schemas.openxmlformats.org/drawingml/2006/main">
            <a:off x="4191000" y="5105400"/>
            <a:ext cx="4095750" cy="514350"/>
          </a:xfrm>
          <a:prstGeom xmlns:a="http://schemas.openxmlformats.org/drawingml/2006/main" prst="roundRect">
            <a:avLst>
              <a:gd name="adj" fmla="val 22222"/>
            </a:avLst>
          </a:prstGeom>
          <a:solidFill xmlns:a="http://schemas.openxmlformats.org/drawingml/2006/main">
            <a:srgbClr val="142B42"/>
          </a:solidFill>
          <a:ln xmlns:a="http://schemas.openxmlformats.org/drawingml/2006/main" w="14288">
            <a:solidFill>
              <a:srgbClr val="29445D"/>
            </a:solidFill>
            <a:prstDash val="solid"/>
          </a:ln>
        </p:spPr>
      </p:sp>
      <p:sp>
        <p:nvSpPr>
          <p:cNvPr id="26" name="">
            <a:extLst xmlns:a="http://schemas.openxmlformats.org/drawingml/2006/main">
              <a:ext uri="{FF2B5EF4-FFF2-40B4-BE49-F238E27FC236}">
                <a16:creationId xmlns:a16="http://schemas.microsoft.com/office/drawing/2014/main" id="{1888F822-1E8B-4F51-9143-D450DDA269D3}"/>
              </a:ext>
            </a:extLst>
          </p:cNvPr>
          <p:cNvSpPr>
            <a:spLocks xmlns:a="http://schemas.openxmlformats.org/drawingml/2006/main" noGrp="1"/>
          </p:cNvSpPr>
          <p:nvPr/>
        </p:nvSpPr>
        <p:spPr>
          <a:xfrm xmlns:a="http://schemas.openxmlformats.org/drawingml/2006/main">
            <a:off x="4362450" y="5181600"/>
            <a:ext cx="3752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575" b="1">
                <a:solidFill>
                  <a:srgbClr val="F4F8FC"/>
                </a:solidFill>
                <a:latin typeface="Liberation Sans"/>
                <a:ea typeface="Liberation Sans"/>
                <a:cs typeface="Liberation Sans"/>
              </a:defRPr>
            </a:pPr>
            <a:r>
              <a:rPr sz="1575" b="1">
                <a:solidFill>
                  <a:srgbClr val="F4F8FC"/>
                </a:solidFill>
                <a:latin typeface="Liberation Sans"/>
                <a:ea typeface="Liberation Sans"/>
                <a:cs typeface="Liberation Sans"/>
              </a:rPr>
              <a:t>make recover &amp;&amp; make verify</a:t>
            </a:r>
          </a:p>
        </p:txBody>
      </p:sp>
    </p:spTree>
    <p:extLst>
      <p:ext uri="{BB962C8B-B14F-4D97-AF65-F5344CB8AC3E}">
        <p14:creationId xmlns:p14="http://schemas.microsoft.com/office/powerpoint/2010/main" val="4160918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2026-10-07T19:55:48.2060000Z</dcterms:created>
  <dcterms:modified xsi:type="dcterms:W3CDTF">2026-10-07T19:55:48.2060000Z</dcterms:modified>
</coreProperties>
</file>